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Yu Gothic UI"/>
              </a:rPr>
              <a:t>🏭 センサー営業ロープレ 使い方ガイド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DCF0EC"/>
                </a:solidFill>
                <a:latin typeface="Yu Gothic UI"/>
              </a:rPr>
              <a:t>田中課長攻略・価値提案トレーニング　—　初めての方向け簡易マニュアル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931920"/>
            <a:ext cx="329184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500" b="1">
                <a:solidFill>
                  <a:srgbClr val="095E56"/>
                </a:solidFill>
                <a:latin typeface="Yu Gothic UI"/>
              </a:rPr>
              <a:t>ログイン不要 ・ 無料 ・ 音声で練習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DCF0EC"/>
                </a:solidFill>
                <a:latin typeface="Yu Gothic UI"/>
              </a:rPr>
              <a:t>URL: &lt;ご利用のGitHub Pages URL&gt;/seimitsu-sensor/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8650D"/>
                </a:solidFill>
                <a:latin typeface="Yu Gothic U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3330"/>
                </a:solidFill>
                <a:latin typeface="Yu Gothic UI"/>
              </a:rPr>
              <a:t>このアプリでできること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424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F3330"/>
                </a:solidFill>
                <a:latin typeface="Yu Gothic UI"/>
              </a:rPr>
              <a:t>センサーの営業担当者が、値引きに厳しい製造課長(田中課長)役のAIを相手に商談の練習をするアプリです。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1F3330"/>
                </a:solidFill>
                <a:latin typeface="Yu Gothic UI"/>
              </a:rPr>
              <a:t>音声で話しかけると課長が音声で返事をし、終了後に評価テーマ1つに絞ったフィードバックと100点満点のスコア・称号がもらえます。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566160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74903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0">
                <a:solidFill>
                  <a:srgbClr val="1F3330"/>
                </a:solidFill>
                <a:latin typeface="Yu Gothic UI"/>
              </a:rPr>
              <a:t>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D7A6F"/>
                </a:solidFill>
                <a:latin typeface="Yu Gothic UI"/>
              </a:rPr>
              <a:t>ログイン不要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F7572"/>
                </a:solidFill>
                <a:latin typeface="Yu Gothic UI"/>
              </a:rPr>
              <a:t>インストール不要。URLを開くだけで練習を始められます。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3566160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374903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0">
                <a:solidFill>
                  <a:srgbClr val="1F3330"/>
                </a:solidFill>
                <a:latin typeface="Yu Gothic UI"/>
              </a:rPr>
              <a:t>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43434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D7A6F"/>
                </a:solidFill>
                <a:latin typeface="Yu Gothic UI"/>
              </a:rPr>
              <a:t>スマホでもPCでも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475488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F7572"/>
                </a:solidFill>
                <a:latin typeface="Yu Gothic UI"/>
              </a:rPr>
              <a:t>iPhone SafariでもWindows Chrome/Edgeでも利用可能。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3566160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374903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0">
                <a:solidFill>
                  <a:srgbClr val="1F3330"/>
                </a:solidFill>
                <a:latin typeface="Yu Gothic UI"/>
              </a:rPr>
              <a:t>⌨️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43434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D7A6F"/>
                </a:solidFill>
                <a:latin typeface="Yu Gothic UI"/>
              </a:rPr>
              <a:t>音声が使えなくてもOK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4754880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F7572"/>
                </a:solidFill>
                <a:latin typeface="Yu Gothic UI"/>
              </a:rPr>
              <a:t>マイクが使えない環境では自動でテキスト入力に切り替わります。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8650D"/>
                </a:solidFill>
                <a:latin typeface="Yu Gothic UI"/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3330"/>
                </a:solidFill>
                <a:latin typeface="Yu Gothic UI"/>
              </a:rPr>
              <a:t>練習したいシーンを選ぶ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60360" y="1508760"/>
            <a:ext cx="2598239" cy="5303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7520" y="1645920"/>
            <a:ext cx="2323919" cy="5029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1508760"/>
            <a:ext cx="603504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53949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3330"/>
                </a:solidFill>
                <a:latin typeface="Yu Gothic UI"/>
              </a:rPr>
              <a:t>商談は「オープニング → ヒアリング → 製品説明 → 価格提示 → クロージング」の5シーンに分かれています。</a:t>
            </a:r>
          </a:p>
          <a:p>
            <a:pPr algn="l">
              <a:lnSpc>
                <a:spcPct val="150000"/>
              </a:lnSpc>
            </a:pP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3330"/>
                </a:solidFill>
                <a:latin typeface="Yu Gothic UI"/>
              </a:rPr>
              <a:t>丸ごとの商談ではなく、苦手なシーンだけを5〜20分でピンポイントに練習できます。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8650D"/>
                </a:solidFill>
                <a:latin typeface="Yu Gothic UI"/>
              </a:rP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3330"/>
                </a:solidFill>
                <a:latin typeface="Yu Gothic UI"/>
              </a:rPr>
              <a:t>相手の課長を選ぶ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60360" y="1508760"/>
            <a:ext cx="2598239" cy="5303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-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7520" y="1645920"/>
            <a:ext cx="2323919" cy="5029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1508760"/>
            <a:ext cx="603504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53949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3330"/>
                </a:solidFill>
                <a:latin typeface="Yu Gothic UI"/>
              </a:rPr>
              <a:t>😊やさしい / 😐普通 / 😠忙しくて厳しい　の3段階から選びます。</a:t>
            </a:r>
          </a:p>
          <a:p>
            <a:pPr algn="l">
              <a:lnSpc>
                <a:spcPct val="150000"/>
              </a:lnSpc>
            </a:pP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3330"/>
                </a:solidFill>
                <a:latin typeface="Yu Gothic UI"/>
              </a:rPr>
              <a:t>まずは「やさしい課長」から。厳しい課長は前置きが長いと話を遮り、歯切れの悪い説明が続くと商談を打ち切ります。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8650D"/>
                </a:solidFill>
                <a:latin typeface="Yu Gothic UI"/>
              </a:rP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3330"/>
                </a:solidFill>
                <a:latin typeface="Yu Gothic UI"/>
              </a:rPr>
              <a:t>評価テーマを1つだけ選ぶ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60360" y="1508760"/>
            <a:ext cx="2598239" cy="5303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t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7520" y="1645920"/>
            <a:ext cx="2323919" cy="5029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1508760"/>
            <a:ext cx="603504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53949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3330"/>
                </a:solidFill>
                <a:latin typeface="Yu Gothic UI"/>
              </a:rPr>
              <a:t>1回のロープレで評価されるのは選んだテーマ1つだけです。</a:t>
            </a:r>
          </a:p>
          <a:p>
            <a:pPr algn="l">
              <a:lnSpc>
                <a:spcPct val="150000"/>
              </a:lnSpc>
            </a:pP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3330"/>
                </a:solidFill>
                <a:latin typeface="Yu Gothic UI"/>
              </a:rPr>
              <a:t>🎯「特徴ではなく利点・価値を売れ」</a:t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3330"/>
                </a:solidFill>
                <a:latin typeface="Yu Gothic UI"/>
              </a:rPr>
              <a:t>🎯「潜在ニーズを掘る質問」</a:t>
            </a:r>
          </a:p>
          <a:p>
            <a:pPr algn="l">
              <a:lnSpc>
                <a:spcPct val="150000"/>
              </a:lnSpc>
            </a:pP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3330"/>
                </a:solidFill>
                <a:latin typeface="Yu Gothic UI"/>
              </a:rPr>
              <a:t>の2テーマから選択します。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8650D"/>
                </a:solidFill>
                <a:latin typeface="Yu Gothic UI"/>
              </a:rPr>
              <a:t>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3330"/>
                </a:solidFill>
                <a:latin typeface="Yu Gothic UI"/>
              </a:rPr>
              <a:t>練習時間を選んで開始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60360" y="1508760"/>
            <a:ext cx="2598239" cy="5303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-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7520" y="1645920"/>
            <a:ext cx="2323919" cy="5029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1508760"/>
            <a:ext cx="603504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53949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3330"/>
                </a:solidFill>
                <a:latin typeface="Yu Gothic UI"/>
              </a:rPr>
              <a:t>5 / 10 / 15 / 20分から選択(上限20分)。テーマ攻略のコツも表示されます。</a:t>
            </a:r>
          </a:p>
          <a:p>
            <a:pPr algn="l">
              <a:lnSpc>
                <a:spcPct val="150000"/>
              </a:lnSpc>
            </a:pP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1F3330"/>
                </a:solidFill>
                <a:latin typeface="Yu Gothic UI"/>
              </a:rPr>
              <a:t>「▶ ロープレ開始」を押すと田中課長が話しかけてきます。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8650D"/>
                </a:solidFill>
                <a:latin typeface="Yu Gothic UI"/>
              </a:rPr>
              <a:t>PLAY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3330"/>
                </a:solidFill>
                <a:latin typeface="Yu Gothic UI"/>
              </a:rPr>
              <a:t>🎤 マイクで話す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60360" y="1508760"/>
            <a:ext cx="2598239" cy="5303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-play-vo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7520" y="1645920"/>
            <a:ext cx="2323919" cy="5029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1508760"/>
            <a:ext cx="603504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53949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3330"/>
                </a:solidFill>
                <a:latin typeface="Yu Gothic UI"/>
              </a:rPr>
              <a:t>緑の「タップして話す」ボタンを押してから話します。</a:t>
            </a:r>
          </a:p>
          <a:p>
            <a:pPr algn="l">
              <a:lnSpc>
                <a:spcPct val="150000"/>
              </a:lnSpc>
            </a:pP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3330"/>
                </a:solidFill>
                <a:latin typeface="Yu Gothic UI"/>
              </a:rPr>
              <a:t>話し終わると自動で送信され、課長が音声で返事をします。返事の後はマイクが自動で再開するので、テンポよく会話が続けられます。</a:t>
            </a:r>
          </a:p>
          <a:p>
            <a:pPr algn="l">
              <a:lnSpc>
                <a:spcPct val="150000"/>
              </a:lnSpc>
            </a:pP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3330"/>
                </a:solidFill>
                <a:latin typeface="Yu Gothic UI"/>
              </a:rPr>
              <a:t>💡 初回はブラウザから「マイクの使用を許可しますか？」と聞かれます。「許可」を押してください。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8650D"/>
                </a:solidFill>
                <a:latin typeface="Yu Gothic UI"/>
              </a:rPr>
              <a:t>PLAY 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3330"/>
                </a:solidFill>
                <a:latin typeface="Yu Gothic UI"/>
              </a:rPr>
              <a:t>⌨️ テキストでも話せる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60360" y="1508760"/>
            <a:ext cx="2598239" cy="5303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-play-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7520" y="1645920"/>
            <a:ext cx="2323919" cy="5029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1508760"/>
            <a:ext cx="603504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53949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3330"/>
                </a:solidFill>
                <a:latin typeface="Yu Gothic UI"/>
              </a:rPr>
              <a:t>「テキスト入力に切替」ボタンでキーボード入力に変更できます。マイクが使えないブラウザでは自動的にこちらになります。</a:t>
            </a:r>
          </a:p>
          <a:p>
            <a:pPr algn="l">
              <a:lnSpc>
                <a:spcPct val="150000"/>
              </a:lnSpc>
            </a:pP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3330"/>
                </a:solidFill>
                <a:latin typeface="Yu Gothic UI"/>
              </a:rPr>
              <a:t>電車の中など、声を出せない場所での練習にも使えます。</a:t>
            </a:r>
          </a:p>
          <a:p>
            <a:pPr algn="l">
              <a:lnSpc>
                <a:spcPct val="150000"/>
              </a:lnSpc>
            </a:pP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3330"/>
                </a:solidFill>
                <a:latin typeface="Yu Gothic UI"/>
              </a:rPr>
              <a:t>画面上部には残り時間タイマー(残り1分で警告)。途中でやめたいときは右上の「終了」でいつでも結果画面へ進めます。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8650D"/>
                </a:solidFill>
                <a:latin typeface="Yu Gothic UI"/>
              </a:rPr>
              <a:t>PLAY 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3330"/>
                </a:solidFill>
                <a:latin typeface="Yu Gothic UI"/>
              </a:rPr>
              <a:t>💬 会話の進みかた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60360" y="1508760"/>
            <a:ext cx="2598239" cy="5303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7-play-convers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7520" y="1645920"/>
            <a:ext cx="2323919" cy="5029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1508760"/>
            <a:ext cx="603504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53949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3330"/>
                </a:solidFill>
                <a:latin typeface="Yu Gothic UI"/>
              </a:rPr>
              <a:t>課長は現場の責任者です。スペック自慢には「それってうちに何のメリット？」、専門用語には「それ何？」と返してきます。</a:t>
            </a:r>
          </a:p>
          <a:p>
            <a:pPr algn="l">
              <a:lnSpc>
                <a:spcPct val="150000"/>
              </a:lnSpc>
            </a:pP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3330"/>
                </a:solidFill>
                <a:latin typeface="Yu Gothic UI"/>
              </a:rPr>
              <a:t>K社の相見積もりをちらつかせて値引きも迫ってきますが、値引きは禁止。価値の数字で切り返しましょう。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8650D"/>
                </a:solidFill>
                <a:latin typeface="Yu Gothic UI"/>
              </a:rPr>
              <a:t>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3330"/>
                </a:solidFill>
                <a:latin typeface="Yu Gothic UI"/>
              </a:rPr>
              <a:t>結果画面の見かた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60360" y="1508760"/>
            <a:ext cx="2598239" cy="5303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7520" y="1645920"/>
            <a:ext cx="2323919" cy="5029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1508760"/>
            <a:ext cx="603504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F7572"/>
                </a:solidFill>
                <a:latin typeface="Yu Gothic UI"/>
              </a:rPr>
              <a:t>終了すると、選んだテーマだけについて…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1945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 UI"/>
              </a:rPr>
              <a:t>達成度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221991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F3330"/>
                </a:solidFill>
                <a:latin typeface="Yu Gothic UI"/>
              </a:rPr>
              <a:t>◎(85点〜) / ○(70点〜) / △(50点〜) / 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816352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 UI"/>
              </a:rPr>
              <a:t>スコア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843784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F3330"/>
                </a:solidFill>
                <a:latin typeface="Yu Gothic UI"/>
              </a:rPr>
              <a:t>田中課長攻略度(100点満点)＋称号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438144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 UI"/>
              </a:rPr>
              <a:t>良かった発言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465576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F3330"/>
                </a:solidFill>
                <a:latin typeface="Yu Gothic UI"/>
              </a:rPr>
              <a:t>あなたの実際の発言から1つ引用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059936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 UI"/>
              </a:rPr>
              <a:t>改善点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087368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F3330"/>
                </a:solidFill>
                <a:latin typeface="Yu Gothic UI"/>
              </a:rPr>
              <a:t>1つだけ。具体的な言い換え例つき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92040"/>
            <a:ext cx="5394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5F7572"/>
                </a:solidFill>
                <a:latin typeface="Yu Gothic UI"/>
              </a:rPr>
              <a:t>連続練習日数・通算回数・自己ベストも記録されます。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5F7572"/>
                </a:solidFill>
                <a:latin typeface="Yu Gothic UI"/>
              </a:rPr>
              <a:t>(この端末のブラウザ内にのみ保存されます)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8650D"/>
                </a:solidFill>
                <a:latin typeface="Yu Gothic UI"/>
              </a:rPr>
              <a:t>TIPS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3330"/>
                </a:solidFill>
                <a:latin typeface="Yu Gothic UI"/>
              </a:rPr>
              <a:t>🎯 特徴ではなく利点・価値を売れ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991B1B"/>
                </a:solidFill>
                <a:latin typeface="Yu Gothic UI"/>
              </a:rPr>
              <a:t>✕ 特徴(自社目線)で止まっている例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10424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991B1B"/>
                </a:solidFill>
                <a:latin typeface="Yu Gothic UI"/>
              </a:rPr>
              <a:t>「AI画像解析を搭載し、業界最速の処理性能です」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63240"/>
            <a:ext cx="11064240" cy="173736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66534"/>
                </a:solidFill>
                <a:latin typeface="Yu Gothic UI"/>
              </a:rPr>
              <a:t>◎ 利点→価値(金額換算)まで翻訳できている例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66534"/>
                </a:solidFill>
                <a:latin typeface="Yu Gothic UI"/>
              </a:rPr>
              <a:t>「目視で1個3秒の判定が0.1秒になり、検査待ちの停止が月10時間減らせます。金額にして年100万円の削減です」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83480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FE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16636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854D0E"/>
                </a:solidFill>
                <a:latin typeface="Yu Gothic UI"/>
              </a:rPr>
              <a:t>💡 「◯円」「◯時間」「◯%」の数字が入ると加点されます。値引きを口にすると大きく減点されるので注意。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8650D"/>
                </a:solidFill>
                <a:latin typeface="Yu Gothic UI"/>
              </a:rPr>
              <a:t>TIPS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3330"/>
                </a:solidFill>
                <a:latin typeface="Yu Gothic UI"/>
              </a:rPr>
              <a:t>🎯 潜在ニーズを掘る質問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991B1B"/>
                </a:solidFill>
                <a:latin typeface="Yu Gothic UI"/>
              </a:rPr>
              <a:t>△ 顕在ニーズの確認で止まっている例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10424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991B1B"/>
                </a:solidFill>
                <a:latin typeface="Yu Gothic UI"/>
              </a:rPr>
              <a:t>「今、検査でお困りのことはありますか？」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63240"/>
            <a:ext cx="11064240" cy="173736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66534"/>
                </a:solidFill>
                <a:latin typeface="Yu Gothic UI"/>
              </a:rPr>
              <a:t>◎ 未来・仮定に踏み込む質問ができている例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66534"/>
                </a:solidFill>
                <a:latin typeface="Yu Gothic UI"/>
              </a:rPr>
              <a:t>「もしベテラン検査員の方が退職されたら、判定基準はどうなりますか？」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83480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FE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16636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854D0E"/>
                </a:solidFill>
                <a:latin typeface="Yu Gothic UI"/>
              </a:rPr>
              <a:t>💡 「もし〜」「今後〜」「3年後〜」の質問をすると、課長が自分でも気づいていなかった課題(隠し情報)を話してくれます。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8650D"/>
                </a:solidFill>
                <a:latin typeface="Yu Gothic UI"/>
              </a:rPr>
              <a:t>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3330"/>
                </a:solidFill>
                <a:latin typeface="Yu Gothic UI"/>
              </a:rPr>
              <a:t>うまく動かないとき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09928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0D7A6F"/>
                </a:solidFill>
                <a:latin typeface="Yu Gothic UI"/>
              </a:rPr>
              <a:t>Q. マイクが反応しない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F3330"/>
                </a:solidFill>
                <a:latin typeface="Yu Gothic UI"/>
              </a:rPr>
              <a:t>ブラウザのマイク許可を確認してください。ダメなら「⌨️ テキスト入力に切替」で続けられます。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3464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44368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0D7A6F"/>
                </a:solidFill>
                <a:latin typeface="Yu Gothic UI"/>
              </a:rPr>
              <a:t>Q. 声が読み上げられない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3756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F3330"/>
                </a:solidFill>
                <a:latin typeface="Yu Gothic UI"/>
              </a:rPr>
              <a:t>端末のマナーモード・音量を確認。「🔊 読み上げON」ボタンがOFFになっていないかも確認してください。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6908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178808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0D7A6F"/>
                </a:solidFill>
                <a:latin typeface="Yu Gothic UI"/>
              </a:rPr>
              <a:t>Q. 商談を打ち切られた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57200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F3330"/>
                </a:solidFill>
                <a:latin typeface="Yu Gothic UI"/>
              </a:rPr>
              <a:t>厳しい課長(😠)の仕様です。結論から短く話す・専門用語を使わない・値引きを言わない、で回避できます。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0352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413248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0D7A6F"/>
                </a:solidFill>
                <a:latin typeface="Yu Gothic UI"/>
              </a:rPr>
              <a:t>Q. 記録が消えた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80644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F3330"/>
                </a:solidFill>
                <a:latin typeface="Yu Gothic UI"/>
              </a:rPr>
              <a:t>記録はブラウザ内保存のため、履歴消去やプライベートモードでは残りません。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>
                <a:solidFill>
                  <a:srgbClr val="FFFFFF"/>
                </a:solidFill>
                <a:latin typeface="Yu Gothic UI"/>
              </a:rPr>
              <a:t>さっそく練習をはじめましょう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DCF0EC"/>
                </a:solidFill>
                <a:latin typeface="Yu Gothic UI"/>
              </a:rPr>
              <a:t>明日の商談前に、5分だけ。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DCF0EC"/>
                </a:solidFill>
                <a:latin typeface="Yu Gothic UI"/>
              </a:rPr>
              <a:t>URL: &lt;ご利用のGitHub Pages URL&gt;/seimitsu-sensor/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
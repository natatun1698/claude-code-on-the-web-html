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前提:医用機器(X線装置など)の経験は豊富だが、分析計測機器(LC-MS、分取HPLC、NMR等)は未知の領域。受賞案件の中身を説明できるようになる必要があった。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一問一答アプリで案件の骨子を押さえ、分からない文章だけを画像生成AIに渡して図にする、という2段構え。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動画に映っていたアプリ画面。上部に想定問答30問、成約額109百万円、申請記載の粗利率45%、分析+医用の2領域が表示される。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答えは申請書に基づく記載。粗利率の問いのように「分からないことは分からない」と答える設計も入っている点が実務的。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用語の説明は一般的な内容。案件固有の詳細(使用機種など)は申請書等で確認すること。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動画では、アプリの答え文をコピーし、社内のAIアシスタントに貼り付け、「画像で説明して」を付けて送信している。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Nano Banana Proの出力。見出しの「発発者」は「発見者」の誤記と思われる。AI画像の文字は必ず目視確認する。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GPT-image-2の出力。日本語が正確で、LC-MS、分取HPLC、NMR、MSなど装置名・データ例が具体的に描かれる。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医用機器=体の外から画像をとる。分析計測機器=試料の中身(成分・構造)を調べる、という対比で理解した。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最後に、この取り組みの再現性。他の案件・他の分野にも使える。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73152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539"/>
              </a:spcAft>
            </a:pPr>
            <a:r>
              <a:rPr sz="4400" b="1">
                <a:solidFill>
                  <a:srgbClr val="FFFFFF"/>
                </a:solidFill>
                <a:latin typeface="Meiryo"/>
              </a:rPr>
              <a:t>「わからない」を、</a:t>
            </a:r>
          </a:p>
          <a:p>
            <a:pPr algn="l">
              <a:spcAft>
                <a:spcPts val="1539"/>
              </a:spcAft>
            </a:pPr>
            <a:r>
              <a:rPr sz="4400" b="1">
                <a:solidFill>
                  <a:srgbClr val="FFFFFF"/>
                </a:solidFill>
                <a:latin typeface="Meiryo"/>
              </a:rPr>
              <a:t>「問い」と「絵」で理解する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0">
                <a:solidFill>
                  <a:srgbClr val="CFE3EE"/>
                </a:solidFill>
                <a:latin typeface="Meiryo"/>
              </a:rPr>
              <a:t>医用機器の担当者が、分析計測機器の案件を</a:t>
            </a:r>
          </a:p>
          <a:p>
            <a:pPr algn="l">
              <a:spcAft>
                <a:spcPts val="769"/>
              </a:spcAft>
            </a:pPr>
            <a:r>
              <a:rPr sz="2200" b="0">
                <a:solidFill>
                  <a:srgbClr val="CFE3EE"/>
                </a:solidFill>
                <a:latin typeface="Meiryo"/>
              </a:rPr>
              <a:t>アプリと画像生成AIで学んだ記録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9FB8C8"/>
                </a:solidFill>
                <a:latin typeface="Meiryo"/>
              </a:rPr>
              <a:t>題材:慶應義塾大学医学部 分取案件(受賞案件の一問一答アプリ+Shimadzu AI Assistantの画像生成)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私は医用機器には詳しい。でも分析計測機器は分からない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>
                <a:solidFill>
                  <a:srgbClr val="556070"/>
                </a:solidFill>
                <a:latin typeface="Meiryo"/>
              </a:rPr>
              <a:t>なぜ「理解する工夫」が必要だったのか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84"/>
              </a:spcAft>
            </a:pPr>
            <a:r>
              <a:rPr sz="1100" b="0">
                <a:solidFill>
                  <a:srgbClr val="556070"/>
                </a:solidFill>
                <a:latin typeface="Meiryo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0E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338327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得意なこと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291840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>
                <a:solidFill>
                  <a:srgbClr val="122B4A"/>
                </a:solidFill>
                <a:latin typeface="Meiryo"/>
              </a:rPr>
              <a:t>医用機器
・画像診断装置など
・患者さん・病院の現場
・用途がイメージしやすい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3736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73736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737360"/>
            <a:ext cx="338327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苦手なこと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86000"/>
            <a:ext cx="3291840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>
                <a:solidFill>
                  <a:srgbClr val="122B4A"/>
                </a:solidFill>
                <a:latin typeface="Meiryo"/>
              </a:rPr>
              <a:t>分析計測機器
・試料から成分を分ける・測る
・研究用語が専門的
・「字面」では中身が想像できない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737360"/>
            <a:ext cx="338327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目の前の課題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286000"/>
            <a:ext cx="3291840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>
                <a:solidFill>
                  <a:srgbClr val="122B4A"/>
                </a:solidFill>
                <a:latin typeface="Meiryo"/>
              </a:rPr>
              <a:t>受賞案件(分析+医用の2領域)
慶應義塾大学医学部の研究内容を
自分の言葉で説明できるようになりたい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035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3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そこで2つの工夫:①「一問一答アプリ」で要点を覚える  ②「画像生成AI」で字面が分からない研究内容を絵にする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取り組みの全体像:「問い」で押さえ、「絵」で腹落ちさせる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84"/>
              </a:spcAft>
            </a:pPr>
            <a:r>
              <a:rPr sz="1100" b="0">
                <a:solidFill>
                  <a:srgbClr val="556070"/>
                </a:solidFill>
                <a:latin typeface="Meiryo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011680" cy="265176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0E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① 案件を整理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1737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122B4A"/>
                </a:solidFill>
                <a:latin typeface="Meiryo"/>
              </a:rPr>
              <a:t>受賞案件の内容を
30問の一問一答アプリに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87168" y="2926080"/>
            <a:ext cx="292608" cy="365760"/>
          </a:xfrm>
          <a:prstGeom prst="rightArrow">
            <a:avLst/>
          </a:prstGeom>
          <a:solidFill>
            <a:srgbClr val="E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1828800"/>
            <a:ext cx="2011680" cy="265176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0" y="1828800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0E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82880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② 反復で定着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377440"/>
            <a:ext cx="1737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122B4A"/>
                </a:solidFill>
                <a:latin typeface="Meiryo"/>
              </a:rPr>
              <a:t>答えを見る→
分かった/もう一度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73168" y="2926080"/>
            <a:ext cx="292608" cy="365760"/>
          </a:xfrm>
          <a:prstGeom prst="rightArrow">
            <a:avLst/>
          </a:prstGeom>
          <a:solidFill>
            <a:srgbClr val="E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1828800"/>
            <a:ext cx="2011680" cy="265176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1828800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82880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③ 分からない箇所を抽出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377440"/>
            <a:ext cx="1737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122B4A"/>
                </a:solidFill>
                <a:latin typeface="Meiryo"/>
              </a:rPr>
              <a:t>例:顧客の研究目的
(専門用語だらけ)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59168" y="2926080"/>
            <a:ext cx="292608" cy="365760"/>
          </a:xfrm>
          <a:prstGeom prst="rightArrow">
            <a:avLst/>
          </a:prstGeom>
          <a:solidFill>
            <a:srgbClr val="E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0" y="1828800"/>
            <a:ext cx="2011680" cy="265176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0" y="1828800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182880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④ 画像生成AIで図解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377440"/>
            <a:ext cx="1737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122B4A"/>
                </a:solidFill>
                <a:latin typeface="Meiryo"/>
              </a:rPr>
              <a:t>文章をそのまま入力
→ 研究の流れを絵に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45168" y="2926080"/>
            <a:ext cx="292608" cy="365760"/>
          </a:xfrm>
          <a:prstGeom prst="rightArrow">
            <a:avLst/>
          </a:prstGeom>
          <a:solidFill>
            <a:srgbClr val="E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0" y="1828800"/>
            <a:ext cx="2011680" cy="265176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01200" y="1828800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182880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⑤ 理解・説明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377440"/>
            <a:ext cx="1737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122B4A"/>
                </a:solidFill>
                <a:latin typeface="Meiryo"/>
              </a:rPr>
              <a:t>図を見ながら
自分の言葉で説明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46320"/>
            <a:ext cx="11247120" cy="128016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892040"/>
            <a:ext cx="108813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>
                <a:solidFill>
                  <a:srgbClr val="122B4A"/>
                </a:solidFill>
                <a:latin typeface="Meiryo"/>
              </a:rPr>
              <a:t>ポイント</a:t>
            </a:r>
          </a:p>
          <a:p>
            <a:pPr algn="l">
              <a:spcAft>
                <a:spcPts val="560"/>
              </a:spcAft>
            </a:pPr>
            <a:r>
              <a:rPr sz="1600" b="0">
                <a:solidFill>
                  <a:srgbClr val="122B4A"/>
                </a:solidFill>
                <a:latin typeface="Meiryo"/>
              </a:rPr>
              <a:t>文字で読んで分からないものは、無理に読み込まず「絵にして」もらう。分からない言葉をAIに調べさせるのではなく、"研究の流れ"そのものを可視化させたのが特徴。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工夫①:役員説明用「一問一答アプリ」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>
                <a:solidFill>
                  <a:srgbClr val="556070"/>
                </a:solidFill>
                <a:latin typeface="Meiryo"/>
              </a:rPr>
              <a:t>案件の骨子を30問に分解し、ブラウザで繰り返し練習できるようにした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84"/>
              </a:spcAft>
            </a:pPr>
            <a:r>
              <a:rPr sz="1100" b="0">
                <a:solidFill>
                  <a:srgbClr val="556070"/>
                </a:solidFill>
                <a:latin typeface="Meiryo"/>
              </a:rPr>
              <a:t>4</a:t>
            </a:r>
          </a:p>
        </p:txBody>
      </p:sp>
      <p:pic>
        <p:nvPicPr>
          <p:cNvPr id="7" name="Picture 6" descr="ap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5486400" cy="3530450"/>
          </a:xfrm>
          <a:prstGeom prst="rect">
            <a:avLst/>
          </a:prstGeom>
          <a:ln w="12700">
            <a:solidFill>
              <a:srgbClr val="C8D0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5778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0">
                <a:solidFill>
                  <a:srgbClr val="556070"/>
                </a:solidFill>
                <a:latin typeface="Meiryo"/>
              </a:rPr>
              <a:t>実際の画面(動画より)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0E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2120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アプリの機能(4つのタブ)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51206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122B4A"/>
                </a:solidFill>
                <a:latin typeface="Meiryo"/>
              </a:rPr>
              <a:t>・一問一答:ランダム出題、答えを見て「理解した/もう一度」
・4択テスト
・役員向け要約
・要確認事項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9319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931920"/>
            <a:ext cx="52120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上部の数字(案件の全体像)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480559"/>
            <a:ext cx="51206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122B4A"/>
                </a:solidFill>
                <a:latin typeface="Meiryo"/>
              </a:rPr>
              <a:t>想定問答 30問 / 成約額 109百万円
申請記載の粗利率 45% / 2領域(分析+医用)
※数字はアプリ画面の表示どおり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出題例:答えを見て「何がポイントか」を覚える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>
                <a:solidFill>
                  <a:srgbClr val="556070"/>
                </a:solidFill>
                <a:latin typeface="Meiryo"/>
              </a:rPr>
              <a:t>アプリ内の問いと答え(動画の画面から抜粋)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84"/>
              </a:spcAft>
            </a:pPr>
            <a:r>
              <a:rPr sz="1100" b="0">
                <a:solidFill>
                  <a:srgbClr val="556070"/>
                </a:solidFill>
                <a:latin typeface="Meiryo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1124712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356616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0E8A9E"/>
                </a:solidFill>
                <a:latin typeface="Meiryo"/>
              </a:rPr>
              <a:t>Q. 製品力だけで勝ったのか?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691640"/>
            <a:ext cx="740664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0">
                <a:solidFill>
                  <a:srgbClr val="122B4A"/>
                </a:solidFill>
                <a:latin typeface="Meiryo"/>
              </a:rPr>
              <a:t>製品力だけではなく、研究理解、構成設計、既設資産活用、競合リスク把握、継続訪問が中心。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1124712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356616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0E8A9E"/>
                </a:solidFill>
                <a:latin typeface="Meiryo"/>
              </a:rPr>
              <a:t>Q. 最も評価すべき行動は?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606040"/>
            <a:ext cx="740664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0">
                <a:solidFill>
                  <a:srgbClr val="122B4A"/>
                </a:solidFill>
                <a:latin typeface="Meiryo"/>
              </a:rPr>
              <a:t>顧客の表面的な要求に留まらず、研究目的や導入・発注条件まで踏み込んだこと。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20440"/>
            <a:ext cx="1124712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520440"/>
            <a:ext cx="356616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0E8A9E"/>
                </a:solidFill>
                <a:latin typeface="Meiryo"/>
              </a:rPr>
              <a:t>Q. 何を横展開できる?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520440"/>
            <a:ext cx="740664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0">
                <a:solidFill>
                  <a:srgbClr val="122B4A"/>
                </a:solidFill>
                <a:latin typeface="Meiryo"/>
              </a:rPr>
              <a:t>①顧客業務の深掘り ②発注決定条件の可視化 ③社内外関門との連携 ④既設資産を含む全体最適提案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34840"/>
            <a:ext cx="1124712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434840"/>
            <a:ext cx="356616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0E8A9E"/>
                </a:solidFill>
                <a:latin typeface="Meiryo"/>
              </a:rPr>
              <a:t>Q. 粗利率45%は案件別粗利率から計算できる?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434840"/>
            <a:ext cx="740664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0">
                <a:solidFill>
                  <a:srgbClr val="122B4A"/>
                </a:solidFill>
                <a:latin typeface="Meiryo"/>
              </a:rPr>
              <a:t>現行ファイルに案件別の明細がないため正確な計算はできない。申請書として45%と説明し、根拠を確認する。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49240"/>
            <a:ext cx="11247120" cy="841248"/>
          </a:xfrm>
          <a:prstGeom prst="roundRect">
            <a:avLst>
              <a:gd name="adj" fmla="val 6000"/>
            </a:avLst>
          </a:prstGeom>
          <a:solidFill>
            <a:srgbClr val="F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349240"/>
            <a:ext cx="356616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E88A1A"/>
                </a:solidFill>
                <a:latin typeface="Meiryo"/>
              </a:rPr>
              <a:t>Q. 顧客の研究目的は?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5349240"/>
            <a:ext cx="740664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0">
                <a:solidFill>
                  <a:srgbClr val="122B4A"/>
                </a:solidFill>
                <a:latin typeface="Meiryo"/>
              </a:rPr>
              <a:t>腸内細菌叢と培養培地から新規胆汁酸を探索し、目的化合物を分取してNMR等で構造解析し、動物実験等にも活用すること。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E88A1A"/>
                </a:solidFill>
                <a:latin typeface="Meiryo"/>
              </a:rPr>
              <a:t>→ 最後の「顧客の研究目的」が、字面では理解できなかった箇所。ここから画像生成AIの出番に。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「字面では分からない」を分解すると…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>
                <a:solidFill>
                  <a:srgbClr val="556070"/>
                </a:solidFill>
                <a:latin typeface="Meiryo"/>
              </a:rPr>
              <a:t>顧客の研究目的の一文に出てくる専門用語(一般的な解説)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84"/>
              </a:spcAft>
            </a:pPr>
            <a:r>
              <a:rPr sz="1100" b="0">
                <a:solidFill>
                  <a:srgbClr val="556070"/>
                </a:solidFill>
                <a:latin typeface="Meiryo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122B4A"/>
                </a:solidFill>
                <a:latin typeface="Meiryo"/>
              </a:rPr>
              <a:t>「腸内細菌叢と培養培地から新規胆汁酸を探索し、目的化合物を分取してNMR等で構造解析し、動物実験等にも活用する」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1460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514600"/>
            <a:ext cx="2697480" cy="457200"/>
          </a:xfrm>
          <a:prstGeom prst="roundRect">
            <a:avLst>
              <a:gd name="adj" fmla="val 6000"/>
            </a:avLst>
          </a:prstGeom>
          <a:solidFill>
            <a:srgbClr val="0E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2514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腸内細菌叢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24231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0">
                <a:solidFill>
                  <a:srgbClr val="122B4A"/>
                </a:solidFill>
                <a:latin typeface="Meiryo"/>
              </a:rPr>
              <a:t>腸にすむ細菌の集まり。
胆汁酸を作り変える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51460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91840" y="2514600"/>
            <a:ext cx="2697480" cy="457200"/>
          </a:xfrm>
          <a:prstGeom prst="roundRect">
            <a:avLst>
              <a:gd name="adj" fmla="val 6000"/>
            </a:avLst>
          </a:prstGeom>
          <a:solidFill>
            <a:srgbClr val="0E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514600"/>
            <a:ext cx="2514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培養培地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063240"/>
            <a:ext cx="24231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0">
                <a:solidFill>
                  <a:srgbClr val="122B4A"/>
                </a:solidFill>
                <a:latin typeface="Meiryo"/>
              </a:rPr>
              <a:t>細菌を育てる「エサ」と容器。
代謝産物がたまる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51460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2514600"/>
            <a:ext cx="2697480" cy="457200"/>
          </a:xfrm>
          <a:prstGeom prst="roundRect">
            <a:avLst>
              <a:gd name="adj" fmla="val 6000"/>
            </a:avLst>
          </a:prstGeom>
          <a:solidFill>
            <a:srgbClr val="0E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514600"/>
            <a:ext cx="2514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胆汁酸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063240"/>
            <a:ext cx="24231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0">
                <a:solidFill>
                  <a:srgbClr val="122B4A"/>
                </a:solidFill>
                <a:latin typeface="Meiryo"/>
              </a:rPr>
              <a:t>肝臓でつくられる物質。
腸内細菌で多様に変化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251460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61120" y="2514600"/>
            <a:ext cx="2697480" cy="457200"/>
          </a:xfrm>
          <a:prstGeom prst="roundRect">
            <a:avLst>
              <a:gd name="adj" fmla="val 6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2514600"/>
            <a:ext cx="2514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探索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063240"/>
            <a:ext cx="24231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0">
                <a:solidFill>
                  <a:srgbClr val="122B4A"/>
                </a:solidFill>
                <a:latin typeface="Meiryo"/>
              </a:rPr>
              <a:t>LC-MS等で成分を分け、
未知のピークを見つける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262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4526280"/>
            <a:ext cx="2697480" cy="457200"/>
          </a:xfrm>
          <a:prstGeom prst="roundRect">
            <a:avLst>
              <a:gd name="adj" fmla="val 6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26280"/>
            <a:ext cx="2514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分取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074920"/>
            <a:ext cx="24231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0">
                <a:solidFill>
                  <a:srgbClr val="122B4A"/>
                </a:solidFill>
                <a:latin typeface="Meiryo"/>
              </a:rPr>
              <a:t>見つけた目的の成分だけを
取り出して集める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45262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91840" y="4526280"/>
            <a:ext cx="2697480" cy="457200"/>
          </a:xfrm>
          <a:prstGeom prst="roundRect">
            <a:avLst>
              <a:gd name="adj" fmla="val 6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4526280"/>
            <a:ext cx="2514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構造解析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5074920"/>
            <a:ext cx="24231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0">
                <a:solidFill>
                  <a:srgbClr val="122B4A"/>
                </a:solidFill>
                <a:latin typeface="Meiryo"/>
              </a:rPr>
              <a:t>NMR/MSで分子の形を
決める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45262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26480" y="4526280"/>
            <a:ext cx="2697480" cy="457200"/>
          </a:xfrm>
          <a:prstGeom prst="roundRect">
            <a:avLst>
              <a:gd name="adj" fmla="val 6000"/>
            </a:avLst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526280"/>
            <a:ext cx="2514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動物実験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074920"/>
            <a:ext cx="24231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0">
                <a:solidFill>
                  <a:srgbClr val="122B4A"/>
                </a:solidFill>
                <a:latin typeface="Meiryo"/>
              </a:rPr>
              <a:t>得られた物質の働きを
生体で確かめる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45262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4526280"/>
            <a:ext cx="2514600" cy="1828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言葉を並べても
「流れ」が見えない
→ 絵にしよう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工夫②:Shimadzu AI Assistantで「画像で説明して」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>
                <a:solidFill>
                  <a:srgbClr val="556070"/>
                </a:solidFill>
                <a:latin typeface="Meiryo"/>
              </a:rPr>
              <a:t>アプリの答えをコピーして、そのまま画像生成AIへ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84"/>
              </a:spcAft>
            </a:pPr>
            <a:r>
              <a:rPr sz="1100" b="0">
                <a:solidFill>
                  <a:srgbClr val="556070"/>
                </a:solidFill>
                <a:latin typeface="Meiryo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5852160" cy="10058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874520"/>
            <a:ext cx="640080" cy="640080"/>
          </a:xfrm>
          <a:prstGeom prst="ellipse">
            <a:avLst/>
          </a:prstGeom>
          <a:solidFill>
            <a:srgbClr val="E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9928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0E8A9E"/>
                </a:solidFill>
                <a:latin typeface="Meiryo"/>
              </a:rPr>
              <a:t>アプリの答えをコピー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75688"/>
            <a:ext cx="48463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>
                <a:solidFill>
                  <a:srgbClr val="122B4A"/>
                </a:solidFill>
                <a:latin typeface="Meiryo"/>
              </a:rPr>
              <a:t>「顧客の研究目的は?」の答え文を選択してコピー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88920"/>
            <a:ext cx="5852160" cy="10058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" y="2971800"/>
            <a:ext cx="640080" cy="640080"/>
          </a:xfrm>
          <a:prstGeom prst="ellipse">
            <a:avLst/>
          </a:prstGeom>
          <a:solidFill>
            <a:srgbClr val="E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07208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0E8A9E"/>
                </a:solidFill>
                <a:latin typeface="Meiryo"/>
              </a:rPr>
              <a:t>AIに貼り付け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72968"/>
            <a:ext cx="48463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>
                <a:solidFill>
                  <a:srgbClr val="122B4A"/>
                </a:solidFill>
                <a:latin typeface="Meiryo"/>
              </a:rPr>
              <a:t>Shimadzu AI Assistantで画像生成モデルを選択
(Nano Banana Pro / GPT-image-2)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86200"/>
            <a:ext cx="5852160" cy="10058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4069080"/>
            <a:ext cx="640080" cy="640080"/>
          </a:xfrm>
          <a:prstGeom prst="ellipse">
            <a:avLst/>
          </a:prstGeom>
          <a:solidFill>
            <a:srgbClr val="E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04487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0E8A9E"/>
                </a:solidFill>
                <a:latin typeface="Meiryo"/>
              </a:rPr>
              <a:t>「画像で説明して」+文章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70248"/>
            <a:ext cx="48463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>
                <a:solidFill>
                  <a:srgbClr val="122B4A"/>
                </a:solidFill>
                <a:latin typeface="Meiryo"/>
              </a:rPr>
              <a:t>一文だけ。細かい指示は不要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983480"/>
            <a:ext cx="5852160" cy="10058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" y="5166360"/>
            <a:ext cx="640080" cy="640080"/>
          </a:xfrm>
          <a:prstGeom prst="ellipse">
            <a:avLst/>
          </a:prstGeom>
          <a:solidFill>
            <a:srgbClr val="E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01768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0E8A9E"/>
                </a:solidFill>
                <a:latin typeface="Meiryo"/>
              </a:rPr>
              <a:t>生成・保存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367528"/>
            <a:ext cx="48463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>
                <a:solidFill>
                  <a:srgbClr val="122B4A"/>
                </a:solidFill>
                <a:latin typeface="Meiryo"/>
              </a:rPr>
              <a:t>数十秒で図が完成。右クリックで画像として保存</a:t>
            </a:r>
          </a:p>
        </p:txBody>
      </p:sp>
      <p:pic>
        <p:nvPicPr>
          <p:cNvPr id="23" name="Picture 22" descr="ap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91640"/>
            <a:ext cx="5120640" cy="3295086"/>
          </a:xfrm>
          <a:prstGeom prst="rect">
            <a:avLst/>
          </a:prstGeom>
          <a:ln w="12700">
            <a:solidFill>
              <a:srgbClr val="C8D0D8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6583680" y="512064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0">
                <a:solidFill>
                  <a:srgbClr val="556070"/>
                </a:solidFill>
                <a:latin typeface="Meiryo"/>
              </a:rPr>
              <a:t>答えをコピー(動画より)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5486400"/>
            <a:ext cx="5120640" cy="777240"/>
          </a:xfrm>
          <a:prstGeom prst="roundRect">
            <a:avLst>
              <a:gd name="adj" fmla="val 6000"/>
            </a:avLst>
          </a:prstGeom>
          <a:solidFill>
            <a:srgbClr val="F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5486400"/>
            <a:ext cx="493776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122B4A"/>
                </a:solidFill>
                <a:latin typeface="Meiryo"/>
              </a:rPr>
              <a:t>入力した指示:「画像で説明して『(研究目的の文章)』」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結果①:Nano Banana Pro ― 4段階の「全体像」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>
                <a:solidFill>
                  <a:srgbClr val="556070"/>
                </a:solidFill>
                <a:latin typeface="Meiryo"/>
              </a:rPr>
              <a:t>発見 → 分取 → 構造解析 → 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84"/>
              </a:spcAft>
            </a:pPr>
            <a:r>
              <a:rPr sz="1100" b="0">
                <a:solidFill>
                  <a:srgbClr val="556070"/>
                </a:solidFill>
                <a:latin typeface="Meiryo"/>
              </a:rPr>
              <a:t>8</a:t>
            </a:r>
          </a:p>
        </p:txBody>
      </p:sp>
      <p:pic>
        <p:nvPicPr>
          <p:cNvPr id="7" name="Picture 6" descr="na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6949440" cy="3794662"/>
          </a:xfrm>
          <a:prstGeom prst="rect">
            <a:avLst/>
          </a:prstGeom>
          <a:ln w="12700">
            <a:solidFill>
              <a:srgbClr val="C8D0D8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589520" y="164592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0" y="1645920"/>
            <a:ext cx="4114800" cy="457200"/>
          </a:xfrm>
          <a:prstGeom prst="roundRect">
            <a:avLst>
              <a:gd name="adj" fmla="val 6000"/>
            </a:avLst>
          </a:prstGeom>
          <a:solidFill>
            <a:srgbClr val="0E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645920"/>
            <a:ext cx="3931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分かったこと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80" y="2194560"/>
            <a:ext cx="3840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0">
                <a:solidFill>
                  <a:srgbClr val="122B4A"/>
                </a:solidFill>
                <a:latin typeface="Meiryo"/>
              </a:rPr>
              <a:t>材料(腸内細菌・培地)から、薬の種や指標につながるまでの一本道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154680"/>
            <a:ext cx="4114800" cy="155448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0" y="3154680"/>
            <a:ext cx="4114800" cy="457200"/>
          </a:xfrm>
          <a:prstGeom prst="roundRect">
            <a:avLst>
              <a:gd name="adj" fmla="val 6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3154680"/>
            <a:ext cx="3931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良い点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3703320"/>
            <a:ext cx="3840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0">
                <a:solidFill>
                  <a:srgbClr val="122B4A"/>
                </a:solidFill>
                <a:latin typeface="Meiryo"/>
              </a:rPr>
              <a:t>・イラストが大きく、流れが一目で分かる
・「分取」で瓶に取り出す絵が直感的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846320"/>
            <a:ext cx="4114800" cy="128016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89520" y="4846320"/>
            <a:ext cx="4114800" cy="45720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846320"/>
            <a:ext cx="3931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注意点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5394959"/>
            <a:ext cx="3840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0">
                <a:solidFill>
                  <a:srgbClr val="122B4A"/>
                </a:solidFill>
                <a:latin typeface="Meiryo"/>
              </a:rPr>
              <a:t>見出しに誤字(「発発者」)。AIの文字は要確認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結果②:GPT-image-2 ― 5工程の「詳細版」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>
                <a:solidFill>
                  <a:srgbClr val="556070"/>
                </a:solidFill>
                <a:latin typeface="Meiryo"/>
              </a:rPr>
              <a:t>準備 → 培養 → 探索・分取 → 構造解析 → 応用・評価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84"/>
              </a:spcAft>
            </a:pPr>
            <a:r>
              <a:rPr sz="1100" b="0">
                <a:solidFill>
                  <a:srgbClr val="556070"/>
                </a:solidFill>
                <a:latin typeface="Meiryo"/>
              </a:rPr>
              <a:t>9</a:t>
            </a:r>
          </a:p>
        </p:txBody>
      </p:sp>
      <p:pic>
        <p:nvPicPr>
          <p:cNvPr id="7" name="Picture 6" descr="g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6675120" cy="4453606"/>
          </a:xfrm>
          <a:prstGeom prst="rect">
            <a:avLst/>
          </a:prstGeom>
          <a:ln w="12700">
            <a:solidFill>
              <a:srgbClr val="C8D0D8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406640" y="1645920"/>
            <a:ext cx="4297680" cy="155448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0" y="1645920"/>
            <a:ext cx="4297680" cy="457200"/>
          </a:xfrm>
          <a:prstGeom prst="roundRect">
            <a:avLst>
              <a:gd name="adj" fmla="val 6000"/>
            </a:avLst>
          </a:prstGeom>
          <a:solidFill>
            <a:srgbClr val="0E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645920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分かったこと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194560"/>
            <a:ext cx="4023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0">
                <a:solidFill>
                  <a:srgbClr val="122B4A"/>
                </a:solidFill>
                <a:latin typeface="Meiryo"/>
              </a:rPr>
              <a:t>LC-MSで見つけ、分取HPLCで取り出し、NMR・MSで構造を決める、という装置の役割分担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337560"/>
            <a:ext cx="4297680" cy="14630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06640" y="3337560"/>
            <a:ext cx="4297680" cy="457200"/>
          </a:xfrm>
          <a:prstGeom prst="roundRect">
            <a:avLst>
              <a:gd name="adj" fmla="val 6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3337560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良い点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886200"/>
            <a:ext cx="40233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0">
                <a:solidFill>
                  <a:srgbClr val="122B4A"/>
                </a:solidFill>
                <a:latin typeface="Meiryo"/>
              </a:rPr>
              <a:t>・日本語が正確で、装置名・スペクトル例が入る
・下段に「研究の流れ(まとめ)」帯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4937760"/>
            <a:ext cx="4297680" cy="118872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06640" y="4937760"/>
            <a:ext cx="4297680" cy="457200"/>
          </a:xfrm>
          <a:prstGeom prst="roundRect">
            <a:avLst>
              <a:gd name="adj" fmla="val 6000"/>
            </a:avLst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4937760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使い分け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5486400"/>
            <a:ext cx="4023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0">
                <a:solidFill>
                  <a:srgbClr val="122B4A"/>
                </a:solidFill>
                <a:latin typeface="Meiryo"/>
              </a:rPr>
              <a:t>全体像=Nano Banana Pro/詳細=GPT-image-2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理解できたこと:分析計測機器は「分ける・見つける・決める」道具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>
                <a:solidFill>
                  <a:srgbClr val="556070"/>
                </a:solidFill>
                <a:latin typeface="Meiryo"/>
              </a:rPr>
              <a:t>図から読み取った装置の役割(一般的な整理)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84"/>
              </a:spcAft>
            </a:pPr>
            <a:r>
              <a:rPr sz="1100" b="0">
                <a:solidFill>
                  <a:srgbClr val="556070"/>
                </a:solidFill>
                <a:latin typeface="Meiryo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2606040" cy="822960"/>
          </a:xfrm>
          <a:prstGeom prst="roundRect">
            <a:avLst>
              <a:gd name="adj" fmla="val 6000"/>
            </a:avLst>
          </a:prstGeom>
          <a:solidFill>
            <a:srgbClr val="0E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4231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LC-MS</a:t>
            </a:r>
          </a:p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「見つける」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2331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122B4A"/>
                </a:solidFill>
                <a:latin typeface="Meiryo"/>
              </a:rPr>
              <a:t>成分を分けて重さを測り、未知のピークを見つける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81528" y="2743200"/>
            <a:ext cx="274320" cy="365760"/>
          </a:xfrm>
          <a:prstGeom prst="rightArrow">
            <a:avLst/>
          </a:prstGeom>
          <a:solidFill>
            <a:srgbClr val="E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7560" y="173736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1737360"/>
            <a:ext cx="2606040" cy="822960"/>
          </a:xfrm>
          <a:prstGeom prst="roundRect">
            <a:avLst>
              <a:gd name="adj" fmla="val 6000"/>
            </a:avLst>
          </a:prstGeom>
          <a:solidFill>
            <a:srgbClr val="0E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737360"/>
            <a:ext cx="24231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分取HPLC</a:t>
            </a:r>
          </a:p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「取り出す」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97480"/>
            <a:ext cx="2331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122B4A"/>
                </a:solidFill>
                <a:latin typeface="Meiryo"/>
              </a:rPr>
              <a:t>見つけた目的成分だけを集めて精製する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61888" y="2743200"/>
            <a:ext cx="274320" cy="365760"/>
          </a:xfrm>
          <a:prstGeom prst="rightArrow">
            <a:avLst/>
          </a:prstGeom>
          <a:solidFill>
            <a:srgbClr val="E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73736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737360"/>
            <a:ext cx="2606040" cy="822960"/>
          </a:xfrm>
          <a:prstGeom prst="roundRect">
            <a:avLst>
              <a:gd name="adj" fmla="val 6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1737360"/>
            <a:ext cx="24231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NMR / MS</a:t>
            </a:r>
          </a:p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「決める」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697480"/>
            <a:ext cx="2331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122B4A"/>
                </a:solidFill>
                <a:latin typeface="Meiryo"/>
              </a:rPr>
              <a:t>分子の構造(形)を確定する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42248" y="2743200"/>
            <a:ext cx="274320" cy="365760"/>
          </a:xfrm>
          <a:prstGeom prst="rightArrow">
            <a:avLst/>
          </a:prstGeom>
          <a:solidFill>
            <a:srgbClr val="E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98280" y="173736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98280" y="1737360"/>
            <a:ext cx="2606040" cy="822960"/>
          </a:xfrm>
          <a:prstGeom prst="roundRect">
            <a:avLst>
              <a:gd name="adj" fmla="val 6000"/>
            </a:avLst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19" y="1737360"/>
            <a:ext cx="24231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動物実験</a:t>
            </a:r>
          </a:p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「確かめる」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697480"/>
            <a:ext cx="2331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122B4A"/>
                </a:solidFill>
                <a:latin typeface="Meiryo"/>
              </a:rPr>
              <a:t>得られた物質の働きを生体で評価する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526280"/>
            <a:ext cx="11064240" cy="1645920"/>
          </a:xfrm>
          <a:prstGeom prst="roundRect">
            <a:avLst>
              <a:gd name="adj" fmla="val 6000"/>
            </a:avLst>
          </a:prstGeom>
          <a:solidFill>
            <a:srgbClr val="FD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106984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0">
                <a:solidFill>
                  <a:srgbClr val="122B4A"/>
                </a:solidFill>
                <a:latin typeface="Meiryo"/>
              </a:rPr>
              <a:t>医用機器との対比</a:t>
            </a:r>
          </a:p>
          <a:p>
            <a:pPr algn="l">
              <a:spcAft>
                <a:spcPts val="525"/>
              </a:spcAft>
            </a:pPr>
            <a:r>
              <a:rPr sz="1500" b="0">
                <a:solidFill>
                  <a:srgbClr val="122B4A"/>
                </a:solidFill>
                <a:latin typeface="Meiryo"/>
              </a:rPr>
              <a:t>医用機器:体の外から「画像」を撮り、病気の有無を見る</a:t>
            </a:r>
          </a:p>
          <a:p>
            <a:pPr algn="l">
              <a:spcAft>
                <a:spcPts val="525"/>
              </a:spcAft>
            </a:pPr>
            <a:r>
              <a:rPr sz="1500" b="0">
                <a:solidFill>
                  <a:srgbClr val="122B4A"/>
                </a:solidFill>
                <a:latin typeface="Meiryo"/>
              </a:rPr>
              <a:t>分析計測機器:試料の中身を「分けて・測って」、物質の正体を決める  → 医用機器の知識(用途から考える視点)が、そのまま案件理解に活きる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FFFFFF"/>
                </a:solidFill>
                <a:latin typeface="Meiryo"/>
              </a:rPr>
              <a:t>まとめ:分からないことは、問いと絵で乗り越えられる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84"/>
              </a:spcAft>
            </a:pPr>
            <a:r>
              <a:rPr sz="1100" b="0">
                <a:solidFill>
                  <a:srgbClr val="556070"/>
                </a:solidFill>
                <a:latin typeface="Meiryo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338328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0E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3474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① アプリで骨子をつかむ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338328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0">
                <a:solidFill>
                  <a:srgbClr val="122B4A"/>
                </a:solidFill>
                <a:latin typeface="Meiryo"/>
              </a:rPr>
              <a:t>想定問答30問で、案件の勝因・数字・横展開を反復。答えを見て「もう一度/理解した」で定着。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657600" cy="338328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71600"/>
            <a:ext cx="3474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② AIで絵にする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20240"/>
            <a:ext cx="338328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0">
                <a:solidFill>
                  <a:srgbClr val="122B4A"/>
                </a:solidFill>
                <a:latin typeface="Meiryo"/>
              </a:rPr>
              <a:t>専門用語だらけの一文も「画像で説明して」で研究の流れが一枚に。モデルによって粒度が違うので2つ試す。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566160" cy="338328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371600"/>
            <a:ext cx="338327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③ 人が確認する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20240"/>
            <a:ext cx="329184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0">
                <a:solidFill>
                  <a:srgbClr val="122B4A"/>
                </a:solidFill>
                <a:latin typeface="Meiryo"/>
              </a:rPr>
              <a:t>AI画像の文字は誤りも出る(例:見出しの誤記)。申請書・お客様への確認とセットで使う。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29200"/>
            <a:ext cx="11247120" cy="1188720"/>
          </a:xfrm>
          <a:prstGeom prst="roundRect">
            <a:avLst>
              <a:gd name="adj" fmla="val 6000"/>
            </a:avLst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1088136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3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次の一歩:他の案件・他の装置(例:分取システム、X線装置)でも、同じ「アプリ+AI図解」で学びを横展開する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
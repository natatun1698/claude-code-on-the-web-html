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かんたん取扱説明書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⚖️ 医療機器業公正競争規約Q&amp;A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贈答・接待・貸出し・立会い・サンプル・寄付……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「これって規約上OK?」に根拠条文つきで即答するチャットボットです。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977640"/>
            <a:ext cx="2240280" cy="548640"/>
          </a:xfrm>
          <a:prstGeom prst="roundRect">
            <a:avLst>
              <a:gd name="adj" fmla="val 50000"/>
            </a:avLst>
          </a:prstGeom>
          <a:solidFill>
            <a:srgbClr val="2A3A7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9776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ログイン不要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46120" y="3977640"/>
            <a:ext cx="2240280" cy="548640"/>
          </a:xfrm>
          <a:prstGeom prst="roundRect">
            <a:avLst>
              <a:gd name="adj" fmla="val 50000"/>
            </a:avLst>
          </a:prstGeom>
          <a:solidFill>
            <a:srgbClr val="2A3A7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39776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インストール不要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0" y="3977640"/>
            <a:ext cx="2240280" cy="548640"/>
          </a:xfrm>
          <a:prstGeom prst="roundRect">
            <a:avLst>
              <a:gd name="adj" fmla="val 50000"/>
            </a:avLst>
          </a:prstGeom>
          <a:solidFill>
            <a:srgbClr val="2A3A7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0" y="39776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PCでもiPhoneでもOK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92440" y="3977640"/>
            <a:ext cx="2240280" cy="548640"/>
          </a:xfrm>
          <a:prstGeom prst="roundRect">
            <a:avLst>
              <a:gd name="adj" fmla="val 50000"/>
            </a:avLst>
          </a:prstGeom>
          <a:solidFill>
            <a:srgbClr val="2A3A7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92440" y="39776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利用料無料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4892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URLをタップ(クリック)するだけで、誰でもすぐに使えます。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医療機器業公正取引協議会の公正競争規約・運用基準解説集等に基づく参考情報を提供します。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  </a:t>
            </a:r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このアプリでできること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307592"/>
            <a:ext cx="640080" cy="640080"/>
          </a:xfrm>
          <a:prstGeom prst="ellipse">
            <a:avLst/>
          </a:prstGeom>
          <a:solidFill>
            <a:srgbClr val="EAF1F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075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12344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質問に即回答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61848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「医師との会食はいくらまで?」など、ふだんの言葉で質問すると、規約の知識ベースから該当項目を探して回答します。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359152"/>
            <a:ext cx="640080" cy="640080"/>
          </a:xfrm>
          <a:prstGeom prst="ellipse">
            <a:avLst/>
          </a:prstGeom>
          <a:solidFill>
            <a:srgbClr val="EAF1F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591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2286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OK/NGがひと目で分かる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267004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回答には「提供可」「原則不可」「条件付き可」「解説」のラベルが付き、判断の方向性がすぐつかめます。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410712"/>
            <a:ext cx="640080" cy="640080"/>
          </a:xfrm>
          <a:prstGeom prst="ellipse">
            <a:avLst/>
          </a:prstGeom>
          <a:solidFill>
            <a:srgbClr val="EAF1F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4107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📖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63040" y="33375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根拠条文つき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372160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すべての回答に規約・施行規則・運用基準の根拠を明示。社内確認や上司への報告にそのまま使えます。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462272"/>
            <a:ext cx="640080" cy="640080"/>
          </a:xfrm>
          <a:prstGeom prst="ellipse">
            <a:avLst/>
          </a:prstGeom>
          <a:solidFill>
            <a:srgbClr val="EAF1F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4622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🆕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63040" y="4389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回答速報にも対応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477316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協議会から出る「回答速報」等の新しい解釈は、知識ファイルへの追記だけで反映される仕組みです。</a:t>
            </a:r>
            <a:endParaRPr lang="en-US" sz="1150" dirty="0"/>
          </a:p>
        </p:txBody>
      </p:sp>
      <p:pic>
        <p:nvPicPr>
          <p:cNvPr id="19" name="Image 0" descr="/tmp/claude-0/-home-user-claude-code-on-the-web-html/45fc6f7a-e147-5a19-8836-93c6bf2d255e/scratchpad/shots/03_answer_p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280160"/>
            <a:ext cx="5120640" cy="320040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9AA7B8">
                <a:alpha val="45000"/>
              </a:srgbClr>
            </a:outerShdw>
          </a:effectLst>
        </p:spPr>
      </p:pic>
      <p:sp>
        <p:nvSpPr>
          <p:cNvPr id="20" name="Text 17"/>
          <p:cNvSpPr/>
          <p:nvPr/>
        </p:nvSpPr>
        <p:spPr>
          <a:xfrm>
            <a:off x="6492240" y="45262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回答画面(パソコン)の例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92240" y="50292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※本アプリの回答は参考情報です。個別事案の最終判断は、必ず医療機器業公正取引協議会にご確認ください。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  </a:t>
            </a:r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開き方 — URLをタップするだけ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1325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案内されたURL(リンク)をタップまたはクリックします。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8288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ブラウザ(Safari・Edge・Chromeなど)でこの画面が開けば準備完了。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ログインもアプリのインストールも必要ありません。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5760720" cy="1051560"/>
          </a:xfrm>
          <a:prstGeom prst="roundRect">
            <a:avLst>
              <a:gd name="adj" fmla="val 10435"/>
            </a:avLst>
          </a:prstGeom>
          <a:solidFill>
            <a:srgbClr val="F2F7F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926080"/>
            <a:ext cx="5349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ヒント: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毎日使う方は、ブラウザのブックマーク(お気に入り)や、iPhoneの「ホーム画面に追加」に登録しておくと便利です。</a:t>
            </a:r>
            <a:endParaRPr lang="en-US" sz="1200" dirty="0"/>
          </a:p>
        </p:txBody>
      </p:sp>
      <p:pic>
        <p:nvPicPr>
          <p:cNvPr id="11" name="Image 0" descr="/tmp/claude-0/-home-user-claude-code-on-the-web-html/45fc6f7a-e147-5a19-8836-93c6bf2d255e/scratchpad/shots/01_top_p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069080"/>
            <a:ext cx="3931920" cy="242316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9AA7B8">
                <a:alpha val="45000"/>
              </a:srgbClr>
            </a:outerShdw>
          </a:effectLst>
        </p:spPr>
      </p:pic>
      <p:sp>
        <p:nvSpPr>
          <p:cNvPr id="12" name="Text 9"/>
          <p:cNvSpPr/>
          <p:nvPr/>
        </p:nvSpPr>
        <p:spPr>
          <a:xfrm>
            <a:off x="640080" y="65196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パソコンの画面</a:t>
            </a:r>
            <a:endParaRPr lang="en-US" sz="1100" dirty="0"/>
          </a:p>
        </p:txBody>
      </p:sp>
      <p:pic>
        <p:nvPicPr>
          <p:cNvPr id="13" name="Image 1" descr="/tmp/claude-0/-home-user-claude-code-on-the-web-html/45fc6f7a-e147-5a19-8836-93c6bf2d255e/scratchpad/shots/07_top_iph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325880"/>
            <a:ext cx="2331720" cy="502920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9AA7B8">
                <a:alpha val="45000"/>
              </a:srgbClr>
            </a:outerShdw>
          </a:effectLst>
        </p:spPr>
      </p:pic>
      <p:sp>
        <p:nvSpPr>
          <p:cNvPr id="14" name="Text 10"/>
          <p:cNvSpPr/>
          <p:nvPr/>
        </p:nvSpPr>
        <p:spPr>
          <a:xfrm>
            <a:off x="7589520" y="64008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iPhoneの画面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  </a:t>
            </a:r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質問のしかた — 2つの方法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1430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方法A: 質問を入力して「送信」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画面下の入力欄に、ふだんの言葉で質問を入力し「送信」ボタンを押します。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例:「医師との会食は一人いくらまで大丈夫ですか?」</a:t>
            </a:r>
            <a:endParaRPr lang="en-US" sz="1250" dirty="0"/>
          </a:p>
        </p:txBody>
      </p:sp>
      <p:pic>
        <p:nvPicPr>
          <p:cNvPr id="6" name="Image 0" descr="/tmp/claude-0/-home-user-claude-code-on-the-web-html/45fc6f7a-e147-5a19-8836-93c6bf2d255e/scratchpad/shots/02_input_p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651760"/>
            <a:ext cx="5303520" cy="329184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9AA7B8">
                <a:alpha val="45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640080" y="59893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入力欄に質問を入力したところ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55080" y="114300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0" y="11430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方法B: 上部の「よくある質問」をタップ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46520" y="178308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画面上部に並ぶ質問チップ(「飲食接待の上限はいくら?」など)をタップするだけでも質問できます。迷ったらまずこちら。</a:t>
            </a:r>
            <a:endParaRPr lang="en-US" sz="1250" dirty="0"/>
          </a:p>
        </p:txBody>
      </p:sp>
      <p:pic>
        <p:nvPicPr>
          <p:cNvPr id="11" name="Image 1" descr="/tmp/claude-0/-home-user-claude-code-on-the-web-html/45fc6f7a-e147-5a19-8836-93c6bf2d255e/scratchpad/shots/04_chip_p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651760"/>
            <a:ext cx="5303520" cy="329184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9AA7B8">
                <a:alpha val="45000"/>
              </a:srgbClr>
            </a:outerShdw>
          </a:effectLst>
        </p:spPr>
      </p:pic>
      <p:sp>
        <p:nvSpPr>
          <p:cNvPr id="12" name="Text 8"/>
          <p:cNvSpPr/>
          <p:nvPr/>
        </p:nvSpPr>
        <p:spPr>
          <a:xfrm>
            <a:off x="6446520" y="59893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チップをタップして回答が表示されたところ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  </a:t>
            </a:r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回答の見方</a:t>
            </a:r>
            <a:endParaRPr lang="en-US" sz="2200" dirty="0"/>
          </a:p>
        </p:txBody>
      </p:sp>
      <p:pic>
        <p:nvPicPr>
          <p:cNvPr id="3" name="Image 0" descr="/tmp/claude-0/-home-user-claude-code-on-the-web-html/45fc6f7a-e147-5a19-8836-93c6bf2d255e/scratchpad/shots/03_answer_p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6035040" cy="374904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9AA7B8">
                <a:alpha val="45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640080" y="502920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回答画面の例(飲食接待の上限)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040880" y="1234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回答に付くラベルの意味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040880" y="178308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A7F4E"/>
          </a:solidFill>
          <a:ln/>
        </p:spPr>
      </p:sp>
      <p:sp>
        <p:nvSpPr>
          <p:cNvPr id="7" name="Text 4"/>
          <p:cNvSpPr/>
          <p:nvPr/>
        </p:nvSpPr>
        <p:spPr>
          <a:xfrm>
            <a:off x="7040880" y="17830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提供可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641080" y="17830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規約上、原則として制限されない行為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040880" y="2496312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0" y="249631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原則不可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641080" y="24963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規約違反となる(制限される)行為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040880" y="3209544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B06F00"/>
          </a:solidFill>
          <a:ln/>
        </p:spPr>
      </p:sp>
      <p:sp>
        <p:nvSpPr>
          <p:cNvPr id="13" name="Text 10"/>
          <p:cNvSpPr/>
          <p:nvPr/>
        </p:nvSpPr>
        <p:spPr>
          <a:xfrm>
            <a:off x="7040880" y="320954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条件付き可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641080" y="320954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上限金額・期間・手続などの条件を守れば可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040880" y="3922776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46617E"/>
          </a:solidFill>
          <a:ln/>
        </p:spPr>
      </p:sp>
      <p:sp>
        <p:nvSpPr>
          <p:cNvPr id="16" name="Text 13"/>
          <p:cNvSpPr/>
          <p:nvPr/>
        </p:nvSpPr>
        <p:spPr>
          <a:xfrm>
            <a:off x="7040880" y="392277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解説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641080" y="392277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定義や制度のしくみの説明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040880" y="4754880"/>
            <a:ext cx="4709160" cy="1463040"/>
          </a:xfrm>
          <a:prstGeom prst="roundRect">
            <a:avLst>
              <a:gd name="adj" fmla="val 7500"/>
            </a:avLst>
          </a:prstGeom>
          <a:solidFill>
            <a:srgbClr val="F2F7FE"/>
          </a:solidFill>
          <a:ln/>
        </p:spPr>
      </p:sp>
      <p:sp>
        <p:nvSpPr>
          <p:cNvPr id="19" name="Text 16"/>
          <p:cNvSpPr/>
          <p:nvPr/>
        </p:nvSpPr>
        <p:spPr>
          <a:xfrm>
            <a:off x="7269480" y="4892040"/>
            <a:ext cx="4297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回答の下の「根拠」欄に注目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規約第○条・運用基準○-○など、回答のもとになった条文が表示されます。社内での確認・報告にご活用ください。「関連する質問」をタップすると続けて調べられます。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  </a:t>
            </a:r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回答例 — こんな質問に答えます</a:t>
            </a:r>
            <a:endParaRPr lang="en-US" sz="2200" dirty="0"/>
          </a:p>
        </p:txBody>
      </p:sp>
      <p:pic>
        <p:nvPicPr>
          <p:cNvPr id="3" name="Image 0" descr="/tmp/claude-0/-home-user-claude-code-on-the-web-html/45fc6f7a-e147-5a19-8836-93c6bf2d255e/scratchpad/shots/05_ng_p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5669280" cy="352044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9AA7B8">
                <a:alpha val="45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640080" y="484632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「医師を旅行に招待してもいいですか」→ 原則不可と根拠を表示</a:t>
            </a:r>
            <a:endParaRPr lang="en-US" sz="1100" dirty="0"/>
          </a:p>
        </p:txBody>
      </p:sp>
      <p:pic>
        <p:nvPicPr>
          <p:cNvPr id="5" name="Image 1" descr="/tmp/claude-0/-home-user-claude-code-on-the-web-html/45fc6f7a-e147-5a19-8836-93c6bf2d255e/scratchpad/shots/08_answer_iph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188720"/>
            <a:ext cx="2286000" cy="493776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9AA7B8">
                <a:alpha val="45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6949440" y="61722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iPhoneでも同じように使えます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950976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質問の例: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9509760" y="1691640"/>
            <a:ext cx="2377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デモ機の貸出期間は?(→1か月以内)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立会いは何回まで?(→1手技1診療科4回)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奨学寄付金は出せる?(→要件つきで可)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ノベルティは配れる?(→市価3千円程度まで)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A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サンプルは何個まで?(→区分ごとの数量基準)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640080" y="52578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キーワード(貸出し・立会い・寄付・飲食・サンプル など)を含めると、より的確な回答が出ます。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  </a:t>
            </a:r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回答が見つからないとき・利用上の注意</a:t>
            </a:r>
            <a:endParaRPr lang="en-US" sz="2200" dirty="0"/>
          </a:p>
        </p:txBody>
      </p:sp>
      <p:pic>
        <p:nvPicPr>
          <p:cNvPr id="3" name="Image 0" descr="/tmp/claude-0/-home-user-claude-code-on-the-web-html/45fc6f7a-e147-5a19-8836-93c6bf2d255e/scratchpad/shots/06_nohit_p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5669280" cy="352044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9AA7B8">
                <a:alpha val="45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640080" y="484632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該当項目がない場合の表示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675120" y="1280160"/>
            <a:ext cx="594360" cy="594360"/>
          </a:xfrm>
          <a:prstGeom prst="ellipse">
            <a:avLst/>
          </a:prstGeom>
          <a:solidFill>
            <a:srgbClr val="EAF1FB"/>
          </a:solidFill>
          <a:ln/>
        </p:spPr>
      </p:sp>
      <p:sp>
        <p:nvSpPr>
          <p:cNvPr id="6" name="Text 3"/>
          <p:cNvSpPr/>
          <p:nvPr/>
        </p:nvSpPr>
        <p:spPr>
          <a:xfrm>
            <a:off x="6675120" y="1280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🔁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452360" y="128016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言い換えてもう一度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52360" y="1682496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「貸出し」「立会い」「寄付」「飲食」「サンプル」など、規約で使われる言葉に言い換えて再質問してみてください。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675120" y="2834640"/>
            <a:ext cx="594360" cy="594360"/>
          </a:xfrm>
          <a:prstGeom prst="ellipse">
            <a:avLst/>
          </a:prstGeom>
          <a:solidFill>
            <a:srgbClr val="EAF1FB"/>
          </a:solidFill>
          <a:ln/>
        </p:spPr>
      </p:sp>
      <p:sp>
        <p:nvSpPr>
          <p:cNvPr id="10" name="Text 7"/>
          <p:cNvSpPr/>
          <p:nvPr/>
        </p:nvSpPr>
        <p:spPr>
          <a:xfrm>
            <a:off x="6675120" y="2834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🏛️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452360" y="28346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最終判断は協議会へ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452360" y="3236976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本アプリの回答はあくまで参考情報です。個別事案の最終判断は、医療機器業公正取引協議会(事前相談窓口: 各支部運営委員会事務局)にご確認ください。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675120" y="4389120"/>
            <a:ext cx="594360" cy="594360"/>
          </a:xfrm>
          <a:prstGeom prst="ellipse">
            <a:avLst/>
          </a:prstGeom>
          <a:solidFill>
            <a:srgbClr val="EAF1FB"/>
          </a:solidFill>
          <a:ln/>
        </p:spPr>
      </p:sp>
      <p:sp>
        <p:nvSpPr>
          <p:cNvPr id="14" name="Text 11"/>
          <p:cNvSpPr/>
          <p:nvPr/>
        </p:nvSpPr>
        <p:spPr>
          <a:xfrm>
            <a:off x="6675120" y="4389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452360" y="43891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入力内容について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452360" y="4791456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本アプリは完全にお使いの端末内で動作し、入力した質問が外部サーバーに送信・保存されることはありません。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  </a:t>
            </a:r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管理者向け — 「回答速報」の追加方法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協議会から回答速報などの新しい解釈が出たら、ファイルを1つ追記するだけで反映できます(プログラム修正不要)。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611880" cy="2103120"/>
          </a:xfrm>
          <a:prstGeom prst="roundRect">
            <a:avLst>
              <a:gd name="adj" fmla="val 5217"/>
            </a:avLst>
          </a:prstGeom>
          <a:solidFill>
            <a:srgbClr val="FBFCFE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574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02996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kiyaku-qa/js/sokuho-data.js を開く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96112" y="278892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アプリのフォルダにある知識ファイルです。ファイル内にテンプレート(記入例)が書いてあります。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26280" y="1828800"/>
            <a:ext cx="3611880" cy="2103120"/>
          </a:xfrm>
          <a:prstGeom prst="roundRect">
            <a:avLst>
              <a:gd name="adj" fmla="val 5217"/>
            </a:avLst>
          </a:prstGeom>
          <a:solidFill>
            <a:srgbClr val="FBFCFE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20574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03520" y="202996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テンプレートをコピーして追記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782312" y="278892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発出日・出典(回答速報No.)・質問の要旨・キーワード・回答本文・根拠を埋めます。新しいものほど上に置きます。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412480" y="1828800"/>
            <a:ext cx="3611880" cy="2103120"/>
          </a:xfrm>
          <a:prstGeom prst="roundRect">
            <a:avLst>
              <a:gd name="adj" fmla="val 5217"/>
            </a:avLst>
          </a:prstGeom>
          <a:solidFill>
            <a:srgbClr val="F2F7FE"/>
          </a:solidFill>
          <a:ln w="12700">
            <a:solidFill>
              <a:srgbClr val="DDE4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41080" y="20574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64108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89720" y="202996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保存して公開(アップロード)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668512" y="278892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保存するだけで完了。回答速報は恒常ルールより優先して、黄色の枠で回答の先頭に表示されます。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251960"/>
            <a:ext cx="10972800" cy="1965960"/>
          </a:xfrm>
          <a:prstGeom prst="roundRect">
            <a:avLst>
              <a:gd name="adj" fmla="val 4651"/>
            </a:avLst>
          </a:prstGeom>
          <a:solidFill>
            <a:srgbClr val="263238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389120"/>
            <a:ext cx="10424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"sokuho-20260801-1", date: "2026-08-01", source: "回答速報 No.123", cat: "回答速報",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q: "〇〇の提供は可能か", keywords: ["〇〇", "△△"], verdict: "cond",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a: "回答本文。規約第○条の解釈として…", refs: ["回答速報 No.123(2026年8月1日)"],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記入例(sokuho-data.js に追記する1件分)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2026-07-19T17:39:15Z</dcterms:created>
  <dcterms:modified xsi:type="dcterms:W3CDTF">2026-07-19T17:39:15Z</dcterms:modified>
</cp:coreProperties>
</file>
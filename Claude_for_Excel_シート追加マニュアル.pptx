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Excel に「分析シート」を自動で足す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Claude for Excel 実践マニュアル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8E0EA"/>
                </a:solidFill>
                <a:latin typeface="Meiryo"/>
              </a:rPr>
              <a:t>月報Excelを開いて、プロンプトを1回投げるだけ。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8E0EA"/>
                </a:solidFill>
                <a:latin typeface="Meiryo"/>
              </a:rPr>
              <a:t>支店別・代理店別・取扱店別の営業ダッシュボードシートが自動で追加されます。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8E0EA"/>
                </a:solidFill>
                <a:latin typeface="Meiryo"/>
              </a:rPr>
              <a:t>本資料は実際の操作画面を追いながら「何に・どんなプロンプトを渡せばよいか」を示します。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9B6C6"/>
                </a:solidFill>
                <a:latin typeface="Meiryo"/>
              </a:rPr>
              <a:t>対象ファイル：2026_9_4_引合データ_定額保証、定額課金、営業企画等MS_除コピー ／ 使用モデル：Opus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このマニュアルのゴール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C9D4E2"/>
                </a:solidFill>
                <a:latin typeface="Meiryo"/>
              </a:rPr>
              <a:t>「何を渡し・何を書けば・何が出てくるか」を一枚で理解する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97357"/>
                </a:solidFill>
                <a:latin typeface="Meiryo"/>
              </a:rPr>
              <a:t>Before →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846320" cy="3566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297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12B4A"/>
                </a:solidFill>
                <a:latin typeface="Meiryo"/>
              </a:rPr>
              <a:t>Before：素材のまま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12B4A"/>
                </a:solidFill>
                <a:latin typeface="Meiryo"/>
              </a:rPr>
              <a:t>・メールで届いた月報Excel（一次集計）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12B4A"/>
                </a:solidFill>
                <a:latin typeface="Meiryo"/>
              </a:rPr>
              <a:t>・シートは「総合」「治療」「PET」など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12B4A"/>
                </a:solidFill>
                <a:latin typeface="Meiryo"/>
              </a:rPr>
              <a:t>　部門・データ別のベタ表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12B4A"/>
                </a:solidFill>
                <a:latin typeface="Meiryo"/>
              </a:rPr>
              <a:t>・支店ごと／代理店ごとの良し悪しは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12B4A"/>
                </a:solidFill>
                <a:latin typeface="Meiryo"/>
              </a:rPr>
              <a:t>　人が読み解くしかない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12B4A"/>
                </a:solidFill>
                <a:latin typeface="Meiryo"/>
              </a:rPr>
              <a:t>・グラフなし、比較軸なし</a:t>
            </a:r>
          </a:p>
        </p:txBody>
      </p:sp>
      <p:sp>
        <p:nvSpPr>
          <p:cNvPr id="9" name="Rectangle 8"/>
          <p:cNvSpPr/>
          <p:nvPr/>
        </p:nvSpPr>
        <p:spPr>
          <a:xfrm>
            <a:off x="5532120" y="1920240"/>
            <a:ext cx="457200" cy="3566160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338328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eiryo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920240"/>
            <a:ext cx="5440680" cy="3566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8463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12B4A"/>
                </a:solidFill>
                <a:latin typeface="Meiryo"/>
              </a:rPr>
              <a:t>After：Claude がシートを追加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12B4A"/>
                </a:solidFill>
                <a:latin typeface="Meiryo"/>
              </a:rPr>
              <a:t>・_設定 ＋ 支店9シート ＋ 代理店 ＋ 取扱店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12B4A"/>
                </a:solidFill>
                <a:latin typeface="Meiryo"/>
              </a:rPr>
              <a:t>　＝ 11シートを新規作成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12B4A"/>
                </a:solidFill>
                <a:latin typeface="Meiryo"/>
              </a:rPr>
              <a:t>・各シートに「サマリー」「確度×件数」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12B4A"/>
                </a:solidFill>
                <a:latin typeface="Meiryo"/>
              </a:rPr>
              <a:t>　「支店×社名」などの集計表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12B4A"/>
                </a:solidFill>
                <a:latin typeface="Meiryo"/>
              </a:rPr>
              <a:t>・グラフ各9点つきの営業ダッシュボード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12B4A"/>
                </a:solidFill>
                <a:latin typeface="Meiryo"/>
              </a:rPr>
              <a:t>・「何がダメか／何でダメか／やるべきこと」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12B4A"/>
                </a:solidFill>
                <a:latin typeface="Meiryo"/>
              </a:rPr>
              <a:t>　が数値で読み取れる状態に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8"/>
                </a:solidFill>
                <a:latin typeface="Meiryo"/>
              </a:rPr>
              <a:t>※ 元シートは触らず、新しいシートとして追加されるのがポイント。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全体の流れ（所要：待ち時間を含めて約12分）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084831" cy="2834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084831" cy="566928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84831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97357"/>
                </a:solidFill>
                <a:latin typeface="Meiryo"/>
              </a:rPr>
              <a:t>素材を入手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12B4A"/>
                </a:solidFill>
                <a:latin typeface="Meiryo"/>
              </a:rPr>
              <a:t>月報Excelをメール／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12B4A"/>
                </a:solidFill>
                <a:latin typeface="Meiryo"/>
              </a:rPr>
              <a:t>SharePointから開く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1" y="310896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D97357"/>
                </a:solidFill>
                <a:latin typeface="Meiryo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2011680"/>
            <a:ext cx="2084831" cy="2834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0632" y="2011680"/>
            <a:ext cx="2084831" cy="566928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2084831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7889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97357"/>
                </a:solidFill>
                <a:latin typeface="Meiryo"/>
              </a:rPr>
              <a:t>Claudeを開く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342900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12B4A"/>
                </a:solidFill>
                <a:latin typeface="Meiryo"/>
              </a:rPr>
              <a:t>Excel上部の Claude を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12B4A"/>
                </a:solidFill>
                <a:latin typeface="Meiryo"/>
              </a:rPr>
              <a:t>クリックし「編集を許可」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5463" y="310896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D97357"/>
                </a:solidFill>
                <a:latin typeface="Meiryo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4064" y="2011680"/>
            <a:ext cx="2084831" cy="2834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2011680"/>
            <a:ext cx="2084831" cy="566928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2084831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7889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97357"/>
                </a:solidFill>
                <a:latin typeface="Meiryo"/>
              </a:rPr>
              <a:t>プロンプト投入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42900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12B4A"/>
                </a:solidFill>
                <a:latin typeface="Meiryo"/>
              </a:rPr>
              <a:t>作りたいシート名と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12B4A"/>
                </a:solidFill>
                <a:latin typeface="Meiryo"/>
              </a:rPr>
              <a:t>分類ルールを明記して送信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5" y="310896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D97357"/>
                </a:solidFill>
                <a:latin typeface="Meiryo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7496" y="2011680"/>
            <a:ext cx="2084831" cy="2834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97496" y="2011680"/>
            <a:ext cx="2084831" cy="566928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97496" y="2084831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27889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97357"/>
                </a:solidFill>
                <a:latin typeface="Meiryo"/>
              </a:rPr>
              <a:t>実行を見守る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4656" y="342900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12B4A"/>
                </a:solidFill>
                <a:latin typeface="Meiryo"/>
              </a:rPr>
              <a:t>手順1〜16まで自動進行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12B4A"/>
                </a:solidFill>
                <a:latin typeface="Meiryo"/>
              </a:rPr>
              <a:t>（約10分）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7" y="310896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D97357"/>
                </a:solidFill>
                <a:latin typeface="Meiryo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10928" y="2011680"/>
            <a:ext cx="2084831" cy="2834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10928" y="2011680"/>
            <a:ext cx="2084831" cy="566928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0928" y="2084831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7889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97357"/>
                </a:solidFill>
                <a:latin typeface="Meiryo"/>
              </a:rPr>
              <a:t>結果を確認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342900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12B4A"/>
                </a:solidFill>
                <a:latin typeface="Meiryo"/>
              </a:rPr>
              <a:t>追加シートを開き</a:t>
            </a:r>
          </a:p>
          <a:p>
            <a:pPr algn="ctr">
              <a:spcAft>
                <a:spcPts val="600"/>
              </a:spcAft>
            </a:pPr>
            <a:r>
              <a:rPr sz="1250" b="0">
                <a:solidFill>
                  <a:srgbClr val="112B4A"/>
                </a:solidFill>
                <a:latin typeface="Meiryo"/>
              </a:rPr>
              <a:t>「完了」を押して確定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7A4B"/>
                </a:solidFill>
                <a:latin typeface="Meiryo"/>
              </a:rPr>
              <a:t>人が手を動かすのは STEP1〜3 だけ。STEP3 のプロンプトの書き方で成果物の質がほぼ決まります（→ 7・8ページ）。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566928" cy="566928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素材の Excel を入手する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7607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C9D4E2"/>
                </a:solidFill>
                <a:latin typeface="Meiryo"/>
              </a:rPr>
              <a:t>月報システムからのメール → SharePoint 上の月報ブックを開く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385" y="1524833"/>
            <a:ext cx="10572750" cy="4082653"/>
          </a:xfrm>
          <a:prstGeom prst="rect">
            <a:avLst/>
          </a:prstGeom>
          <a:solidFill>
            <a:srgbClr val="C3C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3408"/>
            <a:ext cx="10515600" cy="40255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8978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12B4A"/>
                </a:solidFill>
                <a:latin typeface="Meiryo"/>
              </a:rPr>
              <a:t>・「【一次集計】業績見込、6ヶ月展開の送付」メールに、業績見込／引合データ／機種別・店別6ヶ月展開の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12B4A"/>
                </a:solidFill>
                <a:latin typeface="Meiryo"/>
              </a:rPr>
              <a:t>　リンクが記載されている。今回は引合データのブックを使用。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566928" cy="566928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ブックをブラウザ版 Excel で開く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7607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C9D4E2"/>
                </a:solidFill>
                <a:latin typeface="Meiryo"/>
              </a:rPr>
              <a:t>デスクトップ版ではなく Excel for the web で開くこと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385" y="1433393"/>
            <a:ext cx="10572750" cy="4082653"/>
          </a:xfrm>
          <a:prstGeom prst="rect">
            <a:avLst/>
          </a:prstGeom>
          <a:solidFill>
            <a:srgbClr val="C3C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1968"/>
            <a:ext cx="10515600" cy="40255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12B4A"/>
                </a:solidFill>
                <a:latin typeface="Meiryo"/>
              </a:rPr>
              <a:t>・開いた直後は「関係各位」「一般縮尺は…」といった一次集計そのままの状態。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12B4A"/>
                </a:solidFill>
                <a:latin typeface="Meiryo"/>
              </a:rPr>
              <a:t>・下部のシートタブに 一般縮尺／治療／PET／OMM／情報システム／総合 … と部門別シートが並ぶ。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566928" cy="566928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Claude パネルを開き「編集を許可」にする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7607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C9D4E2"/>
                </a:solidFill>
                <a:latin typeface="Meiryo"/>
              </a:rPr>
              <a:t>リボン右端の Claude アイコン → パネル上部で編集許可を選択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385" y="1433393"/>
            <a:ext cx="10572750" cy="4082653"/>
          </a:xfrm>
          <a:prstGeom prst="rect">
            <a:avLst/>
          </a:prstGeom>
          <a:solidFill>
            <a:srgbClr val="C3C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1968"/>
            <a:ext cx="10515600" cy="40255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7607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12B4A"/>
                </a:solidFill>
                <a:latin typeface="Meiryo"/>
              </a:rPr>
              <a:t>・「ブックを編集しましょう」と表示されたら準備完了。モデルは右上で Opus 5 を選択。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12B4A"/>
                </a:solidFill>
                <a:latin typeface="Meiryo"/>
              </a:rPr>
              <a:t>・**「編集を許可」にしていないとシートは追加されません**（読み取り専用の回答になる）。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566928" cy="566928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実際に投入したプロンプト（全文）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7607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C9D4E2"/>
                </a:solidFill>
                <a:latin typeface="Meiryo"/>
              </a:rPr>
              <a:t>ここが本マニュアルの核心。コピーして自分の項目名に置き換えて使う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4522" y="1251585"/>
            <a:ext cx="7764235" cy="5452109"/>
          </a:xfrm>
          <a:prstGeom prst="rect">
            <a:avLst/>
          </a:prstGeom>
          <a:solidFill>
            <a:srgbClr val="C3C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m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097" y="1280160"/>
            <a:ext cx="7707085" cy="53949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1463040"/>
            <a:ext cx="2514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12B4A"/>
                </a:solidFill>
                <a:latin typeface="Meiryo"/>
              </a:rPr>
              <a:t>読み取りポイント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① 追加してほしい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　シートを名指し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② 何を見せたいか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　（目的）を書く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③ 分類ルールを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　自分で与える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④ 対象の会社名を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　全部列挙する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プロンプトの型：4つの要素に分解する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C9D4E2"/>
                </a:solidFill>
                <a:latin typeface="Meiryo"/>
              </a:rPr>
              <a:t>この4点が揃っていれば、他の集計ブックでも同じ結果が出せる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201400" cy="11704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66928" cy="117043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99032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12B4A"/>
                </a:solidFill>
                <a:latin typeface="Meiryo"/>
              </a:rPr>
              <a:t>追加するシートを名指しする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3736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D68"/>
                </a:solidFill>
                <a:latin typeface="Meiryo"/>
              </a:rPr>
              <a:t>「次のシート（各支社店、取扱店全社、代理店全社）を追加して」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D68"/>
                </a:solidFill>
                <a:latin typeface="Meiryo"/>
              </a:rPr>
              <a:t>→ さらに『つまりシートは、東北支店、北関東支店、東京支社、横浜支店、名古屋支店、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D68"/>
                </a:solidFill>
                <a:latin typeface="Meiryo"/>
              </a:rPr>
              <a:t>　 京都支店、関西支社、広島支店、九州支店、代理店、取扱店に分かれます』と全11枚を列挙。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24328"/>
            <a:ext cx="11201400" cy="11704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24328"/>
            <a:ext cx="566928" cy="117043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9008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12B4A"/>
                </a:solidFill>
                <a:latin typeface="Meiryo"/>
              </a:rPr>
              <a:t>何のためのシートかを書く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3580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D68"/>
                </a:solidFill>
                <a:latin typeface="Meiryo"/>
              </a:rPr>
              <a:t>「何がダメか、何でダメか、やるべきことやってるかが良くわかるグラフ多めの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D68"/>
                </a:solidFill>
                <a:latin typeface="Meiryo"/>
              </a:rPr>
              <a:t>　営業ダッシュボードを作成して」→ 目的を書くと出す指標をClaudeが選んでくれる。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22776"/>
            <a:ext cx="11201400" cy="11704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22776"/>
            <a:ext cx="566928" cy="117043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8853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95928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12B4A"/>
                </a:solidFill>
                <a:latin typeface="Meiryo"/>
              </a:rPr>
              <a:t>集計の粒度・分類ルールを与える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3425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D68"/>
                </a:solidFill>
                <a:latin typeface="Meiryo"/>
              </a:rPr>
              <a:t>「代理店と取扱店については、どの会社の案件かが分かるようにしてください」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D68"/>
                </a:solidFill>
                <a:latin typeface="Meiryo"/>
              </a:rPr>
              <a:t>「この『取扱業者』列をどう振り分けますか？（社名別に集計します）」→ 使う列名を明示。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221224"/>
            <a:ext cx="11201400" cy="11704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221224"/>
            <a:ext cx="566928" cy="117043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58698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294376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12B4A"/>
                </a:solidFill>
                <a:latin typeface="Meiryo"/>
              </a:rPr>
              <a:t>マスタ（分類先の一覧）を列挙する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632704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D68"/>
                </a:solidFill>
                <a:latin typeface="Meiryo"/>
              </a:rPr>
              <a:t>代理店＝江渡商事／栗原レントゲン／丸文通商／セイコーメディカル／中部メディカル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D68"/>
                </a:solidFill>
                <a:latin typeface="Meiryo"/>
              </a:rPr>
              <a:t>取扱店＝シバタインテック…バイオメディカル の19社を①〜⑲まで番号付きで列挙。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566928" cy="566928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実行中の画面：手順1〜16まで自動で進む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7607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C9D4E2"/>
                </a:solidFill>
                <a:latin typeface="Meiryo"/>
              </a:rPr>
              <a:t>送信後は待つだけ。進捗は「手順 N」と英語の作業ログで表示される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82905" y="1258372"/>
            <a:ext cx="5634990" cy="2192416"/>
          </a:xfrm>
          <a:prstGeom prst="rect">
            <a:avLst/>
          </a:prstGeom>
          <a:solidFill>
            <a:srgbClr val="C3C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6947"/>
            <a:ext cx="5577840" cy="21352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89345" y="1258372"/>
            <a:ext cx="5634990" cy="2192416"/>
          </a:xfrm>
          <a:prstGeom prst="rect">
            <a:avLst/>
          </a:prstGeom>
          <a:solidFill>
            <a:srgbClr val="C3C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6947"/>
            <a:ext cx="5577840" cy="213526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2905" y="3590092"/>
            <a:ext cx="5634990" cy="2192416"/>
          </a:xfrm>
          <a:prstGeom prst="rect">
            <a:avLst/>
          </a:prstGeom>
          <a:solidFill>
            <a:srgbClr val="C3C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0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618667"/>
            <a:ext cx="5577840" cy="213526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89345" y="3590092"/>
            <a:ext cx="5634990" cy="2192416"/>
          </a:xfrm>
          <a:prstGeom prst="rect">
            <a:avLst/>
          </a:prstGeom>
          <a:solidFill>
            <a:srgbClr val="C3C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18667"/>
            <a:ext cx="5577840" cy="21352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5870448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12B4A"/>
                </a:solidFill>
                <a:latin typeface="Meiryo"/>
              </a:rPr>
              <a:t>手順9：分類キーワードの隠しパラメータシートを作る　→　手順11：_設定シートと名前定義が完了、9支店シートの作成へ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112B4A"/>
                </a:solidFill>
                <a:latin typeface="Meiryo"/>
              </a:rPr>
              <a:t>手順13：作りかけシートを整理し、3支店ずつまとめ書き込み　→　手順16：3シート作成完了、計算結果を検証中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566928" cy="566928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シートが追加されていく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7607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C9D4E2"/>
                </a:solidFill>
                <a:latin typeface="Meiryo"/>
              </a:rPr>
              <a:t>画面下部のシートタブに新しいシートが次々と現れる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5481" y="1297305"/>
            <a:ext cx="9850558" cy="3806189"/>
          </a:xfrm>
          <a:prstGeom prst="rect">
            <a:avLst/>
          </a:prstGeom>
          <a:solidFill>
            <a:srgbClr val="C3C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56" y="1325880"/>
            <a:ext cx="9793408" cy="374903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94385" y="5266230"/>
            <a:ext cx="10572750" cy="550068"/>
          </a:xfrm>
          <a:prstGeom prst="rect">
            <a:avLst/>
          </a:prstGeom>
          <a:solidFill>
            <a:srgbClr val="C3C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b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294805"/>
            <a:ext cx="10515600" cy="4929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9436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12B4A"/>
                </a:solidFill>
                <a:latin typeface="Meiryo"/>
              </a:rPr>
              <a:t>・お知らせ の右に **_設定 ／ 東北支店 ／ 北関東支店 ／ 東京支社** … と追加されていく（緑の●が新規シート）。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12B4A"/>
                </a:solidFill>
                <a:latin typeface="Meiryo"/>
              </a:rPr>
              <a:t>・_設定 は分類ルールを保持する裏方シート。触らずそのまま残す。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566928" cy="566928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完成①：取扱店 営業ダッシュボード（社名別）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7607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C9D4E2"/>
                </a:solidFill>
                <a:latin typeface="Meiryo"/>
              </a:rPr>
              <a:t>19社の件数・売価・原価・粗利率・平均単価・A確度件数などを自動集計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0061" y="1251585"/>
            <a:ext cx="9101397" cy="4720590"/>
          </a:xfrm>
          <a:prstGeom prst="rect">
            <a:avLst/>
          </a:prstGeom>
          <a:solidFill>
            <a:srgbClr val="C3C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1280160"/>
            <a:ext cx="9044247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035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12B4A"/>
                </a:solidFill>
                <a:latin typeface="Meiryo"/>
              </a:rPr>
              <a:t>「1. 取扱店別サマリー（どの会社の案件か）」＋「2. 取扱店 × 確度（案件の質・停滞状況）」＋右側にグラフ群。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566928" cy="566928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完成②：代理店 営業ダッシュボード（社名別）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7607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C9D4E2"/>
                </a:solidFill>
                <a:latin typeface="Meiryo"/>
              </a:rPr>
              <a:t>同じ構成で代理店5社ぶん。支店別の強弱まで一枚で見える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0061" y="1251585"/>
            <a:ext cx="9101397" cy="4720590"/>
          </a:xfrm>
          <a:prstGeom prst="rect">
            <a:avLst/>
          </a:prstGeom>
          <a:solidFill>
            <a:srgbClr val="C3C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36" y="1280160"/>
            <a:ext cx="9044247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035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12B4A"/>
                </a:solidFill>
                <a:latin typeface="Meiryo"/>
              </a:rPr>
              <a:t>「3. 代理店 × 支店（どの支店で強い／弱いか・売価 百万円）」まで含め、グラフ各9点が自動生成される。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566928" cy="566928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Claude が返す要約：そのまま報告に使える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7607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C9D4E2"/>
                </a:solidFill>
                <a:latin typeface="Meiryo"/>
              </a:rPr>
              <a:t>作った表から「何がダメか」を数値で言語化して返してくれる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890772" y="1205865"/>
            <a:ext cx="7946135" cy="5497830"/>
          </a:xfrm>
          <a:prstGeom prst="rect">
            <a:avLst/>
          </a:prstGeom>
          <a:solidFill>
            <a:srgbClr val="C3C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umm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347" y="1234440"/>
            <a:ext cx="7888985" cy="5440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1417320"/>
            <a:ext cx="324612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12B4A"/>
                </a:solidFill>
                <a:latin typeface="Meiryo"/>
              </a:rPr>
              <a:t>最後にやること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内容を確認したら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緑の **［完了］** を押して確定。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違えば **［元に戻す］** で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追加シートごと巻き戻せる。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**確定するまで元ブックは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壊れない**ので、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気軽に試してよい。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うまく作らせるコツ（NG → OK）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観点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201400" cy="475488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観点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6187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✕ 曖昧な書き方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2618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○ 実際に効いた書き方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11201400" cy="868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84248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12B4A"/>
                </a:solidFill>
                <a:latin typeface="Meiryo"/>
              </a:rPr>
              <a:t>シート指定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98424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A83A2E"/>
                </a:solidFill>
                <a:latin typeface="Meiryo"/>
              </a:rPr>
              <a:t>「支店ごとに分けて」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911096"/>
            <a:ext cx="5532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E7A4B"/>
                </a:solidFill>
                <a:latin typeface="Meiryo"/>
              </a:rPr>
              <a:t>「東北支店、北関東支店、東京支社…の11シートを追加して」と全部名指しする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12B4A"/>
                </a:solidFill>
                <a:latin typeface="Meiryo"/>
              </a:rPr>
              <a:t>目的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880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A83A2E"/>
                </a:solidFill>
                <a:latin typeface="Meiryo"/>
              </a:rPr>
              <a:t>「分析して」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807208"/>
            <a:ext cx="5532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E7A4B"/>
                </a:solidFill>
                <a:latin typeface="Meiryo"/>
              </a:rPr>
              <a:t>「何がダメか・何でダメか・やるべきことをやってるかが分かるダッシュボード」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75304"/>
            <a:ext cx="11201400" cy="868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76472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12B4A"/>
                </a:solidFill>
                <a:latin typeface="Meiryo"/>
              </a:rPr>
              <a:t>見せ方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7647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A83A2E"/>
                </a:solidFill>
                <a:latin typeface="Meiryo"/>
              </a:rPr>
              <a:t>（指定なし）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703320"/>
            <a:ext cx="5532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E7A4B"/>
                </a:solidFill>
                <a:latin typeface="Meiryo"/>
              </a:rPr>
              <a:t>「グラフ多めの営業ダッシュボード」と明示する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72584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12B4A"/>
                </a:solidFill>
                <a:latin typeface="Meiryo"/>
              </a:rPr>
              <a:t>分類の元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672584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A83A2E"/>
                </a:solidFill>
                <a:latin typeface="Meiryo"/>
              </a:rPr>
              <a:t>「代理店ごとに」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599432"/>
            <a:ext cx="5532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E7A4B"/>
                </a:solidFill>
                <a:latin typeface="Meiryo"/>
              </a:rPr>
              <a:t>「この『取扱業者』列を社名別に集計して」と使う列名を指定する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367528"/>
            <a:ext cx="11201400" cy="868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568696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12B4A"/>
                </a:solidFill>
                <a:latin typeface="Meiryo"/>
              </a:rPr>
              <a:t>マスタ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568696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A83A2E"/>
                </a:solidFill>
                <a:latin typeface="Meiryo"/>
              </a:rPr>
              <a:t>「主要な代理店で」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495544"/>
            <a:ext cx="5532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E7A4B"/>
                </a:solidFill>
                <a:latin typeface="Meiryo"/>
              </a:rPr>
              <a:t>対象社名を①〜⑲のように全件列挙する（表記ゆれの吸収もしてくれる）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D68"/>
                </a:solidFill>
                <a:latin typeface="Meiryo"/>
              </a:rPr>
              <a:t>※ 曖昧なまま投げると、Claude 側が「どう振り分けますか？」と聞き返してくる。先回りして書くと一発で通る。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そのまま使えるプロンプト雛形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C9D4E2"/>
                </a:solidFill>
                <a:latin typeface="Meiryo"/>
              </a:rPr>
              <a:t>［　］を自分のブックの語に置き換えるだけ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201400" cy="2514600"/>
          </a:xfrm>
          <a:prstGeom prst="rect">
            <a:avLst/>
          </a:prstGeom>
          <a:solidFill>
            <a:srgbClr val="F2F4F7"/>
          </a:solidFill>
          <a:ln w="12700">
            <a:solidFill>
              <a:srgbClr val="C3C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次のシート（［分割の単位A］、［分割の単位B］）を追加して、何がダメか、何でダメか、やるべきこと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やってるかが良くわかるグラフ多めの［　　］ダッシュボードを作成して。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つまりシートは、［シート名1］、［シート名2］、…、［シート名N］に分かれます。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［分割の単位A］と［分割の単位B］については、どの［会社／担当／製品］の案件かが分かるように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してください。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［　　］シートは、この「［列名］」列をどう振り分けますか？（社名別に集計します）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［分類先］は ①［名称1］ ②［名称2］ … ⑲［名称N］ 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11201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97357"/>
                </a:solidFill>
                <a:latin typeface="Meiryo"/>
              </a:rPr>
              <a:t>追加で投げると便利な指示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3484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・「各シートの先頭に、上位3件と下位3件のコメントを日本語で入れて」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・「粗利率が20%未満の案件だけを赤で条件付き書式にして」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・「支店別シートには前月比の列を追加して、増減を矢印で示して」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・「_設定シートの分類ルールを表にまとめ、後から社名を追加できるようにして」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12B4A"/>
                </a:solidFill>
                <a:latin typeface="Meiryo"/>
              </a:rPr>
              <a:t>・「全シートの数式は壊さず、値だけを更新して」（再実行時）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D97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実行前チェックリスト／注意点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5440680" cy="4846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4937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450" b="1">
                <a:solidFill>
                  <a:srgbClr val="112B4A"/>
                </a:solidFill>
                <a:latin typeface="Meiryo"/>
              </a:rPr>
              <a:t>実行前チェック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12B4A"/>
                </a:solidFill>
                <a:latin typeface="Meiryo"/>
              </a:rPr>
              <a:t>□ ブラウザ版 Excel（Excel for the web）で開いた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12B4A"/>
                </a:solidFill>
                <a:latin typeface="Meiryo"/>
              </a:rPr>
              <a:t>□ Claude パネルで「編集を許可」を選んだ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12B4A"/>
                </a:solidFill>
                <a:latin typeface="Meiryo"/>
              </a:rPr>
              <a:t>□ モデルが Opus 5 になっている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12B4A"/>
                </a:solidFill>
                <a:latin typeface="Meiryo"/>
              </a:rPr>
              <a:t>□ 元ブックのコピーに対して実行している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12B4A"/>
                </a:solidFill>
                <a:latin typeface="Meiryo"/>
              </a:rPr>
              <a:t>□ 追加したいシート名を全部書き出した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12B4A"/>
                </a:solidFill>
                <a:latin typeface="Meiryo"/>
              </a:rPr>
              <a:t>□ 分類に使う列名（例：取扱業者）を確認した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12B4A"/>
                </a:solidFill>
                <a:latin typeface="Meiryo"/>
              </a:rPr>
              <a:t>□ 分類先の社名リストを手元に用意した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280160"/>
            <a:ext cx="5440680" cy="4846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4937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450" b="1">
                <a:solidFill>
                  <a:srgbClr val="112B4A"/>
                </a:solidFill>
                <a:latin typeface="Meiryo"/>
              </a:rPr>
              <a:t>注意点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12B4A"/>
                </a:solidFill>
                <a:latin typeface="Meiryo"/>
              </a:rPr>
              <a:t>・処理には約10分かかる。手順は16前後まで進む。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12B4A"/>
                </a:solidFill>
                <a:latin typeface="Meiryo"/>
              </a:rPr>
              <a:t>・途中でブックを閉じない／別の編集をしない。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12B4A"/>
                </a:solidFill>
                <a:latin typeface="Meiryo"/>
              </a:rPr>
              <a:t>・元データに無い社名は「該当データなし」と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12B4A"/>
                </a:solidFill>
                <a:latin typeface="Meiryo"/>
              </a:rPr>
              <a:t>　注記される（例：東西医用器・九州放射線は0件）。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12B4A"/>
                </a:solidFill>
                <a:latin typeface="Meiryo"/>
              </a:rPr>
              <a:t>・生成物は必ず数値を検算する。AI生成のため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12B4A"/>
                </a:solidFill>
                <a:latin typeface="Meiryo"/>
              </a:rPr>
              <a:t>　誤りを含む可能性がある旨も画面に表示される。</a:t>
            </a:r>
          </a:p>
          <a:p>
            <a:pPr algn="l">
              <a:spcAft>
                <a:spcPts val="1100"/>
              </a:spcAft>
            </a:pPr>
            <a:r>
              <a:rPr sz="1450" b="0">
                <a:solidFill>
                  <a:srgbClr val="112B4A"/>
                </a:solidFill>
                <a:latin typeface="Meiryo"/>
              </a:rPr>
              <a:t>・納得できなければ［元に戻す］で全部戻せる。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
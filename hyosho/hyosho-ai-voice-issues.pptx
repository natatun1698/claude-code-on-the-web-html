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3f12e1a3-8bf5-79ee-440f-2b5bcc027a27}">
          <p14:sldIdLst>
            <p14:sldId id="256"/>
            <p14:sldId id="257"/>
            <p14:sldId id="258"/>
          </p14:sldIdLst>
        </p14:section>
        <p14:section name="問題提起" id="{272b6032-3c82-3cff-ec03-a06d6f7a59a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提案" id="{8400ddc4-a330-2967-e9e7-f9b9a5ab02c0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9D9B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営業担当個人業績表彰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AI音声ナレーション作成業務の問題提起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川上から川下まで、自動化できる部分と「最初にもらいたいファイル」の検討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2026年10月　（作業記録動画4本と口頭補足にもとづく）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結論：読める形でもらえば手作業の大半が消える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今回の作業時間の多くは、受け取ったExcelを「AIが自然に読める文章」に直す作業でした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所属の書き直し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審査用Excelの所属は略称。最新の組織図を見ながら正式名称に直した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区切りと読み方の調整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部・課・グループ・氏名の間に読点を打ち、氏名はカタカナか漢字かを試しながら決めた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1本ずつの音声生成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Clipchampに1行ずつ貼り付け、試聴、書き出し、ファイル番号をExcelに手入力した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2B"/>
                </a:solidFill>
              </a:rPr>
              <a:t>提案　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表彰結果を「正式名称・列分割・よみ付き」で受け取り、ナレーション文はExcelで自動生成する。音声生成と貼り付けは、次の段階でまとめて自動化する。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現状の作業フロー（川上→川下）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赤字の工程が手作業の負担が大きいところ（動画で確認した範囲）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99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表彰結果の受領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営業推進から審査用Excelを受け取る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57984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203704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所属の正式名称化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4月時点の組織図とCopilotで略称を直す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67328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67328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転記・区切り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管理表を作り、部・課・G・氏名に読点を打つ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76672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76672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22392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ナレーション文作成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賞ごとに定型句をつけて文章にする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86016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86016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音声生成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Clipchampで1本ずつ読み上げ・試聴・微調整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9536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書き出し・記録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68512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クラウド＋ローカル保存、番号をExcelへ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04704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04704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99"/>
                </a:solidFill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50424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PPTへ埋め込み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77856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スライド番号に合わせて音声を貼る（未実施）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</a:rPr>
              <a:t>※ 最優秀賞・優秀賞・奨励賞はナレーションあり。努力賞は読み上げず、スライドの表示のみ。並行してWordのナレーション資料も作っている。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問題1　審査用Excelの所属が略称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ナレーションは正式名称で読む必要がある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審査に使ったExcelがそのまま届く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所属は社内の略称で書かれている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4月時点の組織図（PDF）をCopilotに渡して書き直させ、目で見比べた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毎回、組織図との照合が必要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組織変更の時期によって正しい名称が変わる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Copilotの結果も人が確認する必要がある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上流のExcelに正式名称の列を最初から入れてもらう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社員番号から組織マスタを引いて自動で埋める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組織図の基準日を明記する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問題2　ファイル作成・転記・区切りの読点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動画は重くて渡せなかったが、2本目と3本目の間にある手間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新しい管理表（音声スライド管理表）を作る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審査用Excelから必要な列を転記する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部・課・グループ・氏名の間に手で読点を打つ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読点がないと、AIがどこで区切るか分からず不自然になる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Clipchampに渡した文と管理表の文が食い違った（読点が抜けていた）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転記ミスが起きやすい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本部・部・課・グループ・氏名を別々の列でもらう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読点つきの文はExcelの数式で自動的につなげる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管理表のひな形を固定して毎回使い回す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問題3　人名と組織名の読み方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正しく自然に読ませるには、試行錯誤が必要だった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氏名はカタカナで書くのを基本にした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人によっては漢字のほうが自然だった（例：森川さん）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逆にカタカナのほうが自然な人もいた（例：宮下さん）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誰がカタカナ・漢字のどちらで自然になるかは、聞いてみないと分からない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「インダストリー営業ユニット」は「インダストリー1営業ユニット」と書いたほうが自然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試聴と書き直しの繰り返しに時間がかかる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上流で氏名の「よみ（カタカナ）」列をもらう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読み方の辞書（表記→読ませ方）を残し、次回に引き継ぐ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最初から区切り・読み替えをした文から始める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問題4　賞ごとのナレーション文を手で組み立てている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「非常にアナログ」な部分。自動化の第一候補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賞（最優秀・優秀・奨励・努力）ごとに必要な文が違う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必要な列を左から右へずらし、「」や「おめでとうございます」「ステージへお上がりください」を手で付けた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最初の状態から少しずつナレーションに近づけた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同じ形の文を人数分、手で作っている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賞ごとのルールが頭の中にしかない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Excelの文とWordのナレーション資料の二重管理になる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賞ごとの定型文をテンプレート化する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Excelの数式（またはスクリプト）で全員分を一度に生成する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Excelを唯一の原本にし、Wordは不要にするか、Excelから自動で作る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問題5　Clipchampでの音声生成と書き出し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1本の音声ができるまでの手順が長い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…メニュー → テキスト読み上げ → 文を貼る → 保存 → 再生して確認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よければエクスポート。クラウドとローカルの両方に保存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保存したファイル番号を管理表に手で書き込む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人数分、同じ操作を繰り返す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番号の書き写しを間違えやすい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Clipchampの画面はClipchampの録画では記録できず、手順を残しにくい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ファイル名の規則を決める（例：スライド番号_賞_氏名）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一括で音声を作れるTTSツールやAPIを検討する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難しければ、コンピューター操作の自動化（Computer Use）でClipchampを操作する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問題6　パワーポイントとの連携が最後になる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スライドが完成していないため、埋め込みは未実施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管理表のスライド番号（赤字）は前回のものが残っている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パワーポイントの完成を待ってから音声を埋め込む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埋め込みはスライド番号を見ながら手作業になる見込み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スライド番号が確定しないと音声と結びつけられない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前回の値が残っていると混乱する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最後の工程に作業が集中する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スライドの並び（賞・順位）を先に決め、番号を管理表の主キーにする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ファイル名とスライド番号を対応させ、埋め込みを自動化する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前回の値は消したひな形から始める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最初にもらいたいファイル（上流への依頼案）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この列がそろっていれば、問題1〜4はほぼ解消できる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922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内容・ルール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解消する問題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賞区分・順位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最優秀／優秀／奨励／努力。表示順もこの列で決める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4・6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氏名（漢字）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スライド表示用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氏名よみ（カタカナ）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読み上げ用。読み間違えやすい人には注記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本部・部・課・グループ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正式名称で、階層ごとに別々の列に。組織図の基準日を明記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1・2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社員番号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組織マスタや過去データとの照合キー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表彰テーマ・内容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ナレーションで読む本文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登壇の有無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「ステージへお上がりください」を付けるかどうか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自動化の可能性マップ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まずは手軽で効果の大きいものから。Clipchampなど画面操作が必要な部分は後から検討する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457200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工程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今のやり方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自動化の手段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難易度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所属の正式名称化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組織図＋Copilot＋目視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上流で正式名称をもらう／組織マスタで自動参照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7E6B"/>
                          </a:solidFill>
                        </a:rPr>
                        <a:t>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転記・読点挿入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手作業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列分割データ＋数式で結合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7E6B"/>
                          </a:solidFill>
                        </a:rPr>
                        <a:t>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ナレーション文作成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列をずらし手で定型句を付ける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賞別テンプレート＋数式／スクリプト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7E6B"/>
                          </a:solidFill>
                        </a:rPr>
                        <a:t>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読み方の調整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試聴して書き直す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よみ列＋読み方辞書の蓄積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962B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音声生成・書き出し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Clipchampで1本ずつ操作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一括TTS、またはComputer Useで画面操作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473A"/>
                          </a:solidFill>
                        </a:rPr>
                        <a:t>難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番号の記録・PPT埋め込み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手入力・手作業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命名規則＋スクリプトで一括埋め込み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962B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次のステップ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① 上流（営業推進）とファイル仕様を相談する　② 管理表のひな形と賞別テンプレートを作る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③ 読み方辞書を今回の結果から作り、引き継ぐ　④ 音声生成と埋め込みの自動化を試す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osho">
  <a:themeElements>
    <a:clrScheme name="Hyosho">
      <a:dk1>
        <a:srgbClr val="1F2430"/>
      </a:dk1>
      <a:lt1>
        <a:srgbClr val="FFFFFF"/>
      </a:lt1>
      <a:dk2>
        <a:srgbClr val="1B2A4A"/>
      </a:dk2>
      <a:lt2>
        <a:srgbClr val="F1F3F7"/>
      </a:lt2>
      <a:accent1>
        <a:srgbClr val="C9962B"/>
      </a:accent1>
      <a:accent2>
        <a:srgbClr val="1B2A4A"/>
      </a:accent2>
      <a:accent3>
        <a:srgbClr val="3F7E6B"/>
      </a:accent3>
      <a:accent4>
        <a:srgbClr val="B5473A"/>
      </a:accent4>
      <a:accent5>
        <a:srgbClr val="6B7A99"/>
      </a:accent5>
      <a:accent6>
        <a:srgbClr val="E9D9B0"/>
      </a:accent6>
      <a:hlink>
        <a:srgbClr val="1B5FA8"/>
      </a:hlink>
      <a:folHlink>
        <a:srgbClr val="6B7A99"/>
      </a:folHlink>
    </a:clrScheme>
    <a:fontScheme name="Hyosho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2026-10-29T07:29:33Z</dcterms:created>
  <dcterms:modified xsi:type="dcterms:W3CDTF">2026-10-29T07:29:33Z</dcterms:modified>
</cp:coreProperties>
</file>
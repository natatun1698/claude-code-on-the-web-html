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はじめに" id="{034a27dc-55f1-a41f-0993-e6d54ebf156d}">
          <p14:sldIdLst>
            <p14:sldId id="256"/>
            <p14:sldId id="257"/>
            <p14:sldId id="258"/>
          </p14:sldIdLst>
        </p14:section>
        <p14:section name="実際の作業画面" id="{ea891004-1d2b-2f21-ae12-1c2c779691ab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問題提起" id="{daca230b-3f75-a8f0-07a0-78e56c241cd3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提案" id="{0bbaaf21-e498-75cc-e3d7-d9a992946aa5}">
          <p14:sldIdLst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9D9B0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営業担当個人業績表彰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AI音声ナレーション作成業務の問題提起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D9B0"/>
                </a:solidFill>
              </a:rPr>
              <a:t>川上から川下まで、自動化できる部分と「最初にもらいたいファイル」の検討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9D9B0"/>
                </a:solidFill>
              </a:rPr>
              <a:t>2026年10月　（作業記録動画4本と口頭補足にもとづく）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結論：読める形でもらえば手作業の大半が消える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今回の作業時間の多くは、受け取ったExcelを「AIが自然に読める文章」に直す作業でした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所属の書き直し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30175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審査用Excelの所属は略称。最新の組織図を見ながら正式名称に直した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73736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区切りと読み方の調整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43200"/>
            <a:ext cx="30175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部・課・グループ・氏名の間に読点を打ち、氏名はカタカナか漢字かを試しながら決めた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7472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321040" y="19659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0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1本ずつの音声生成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2743200"/>
            <a:ext cx="301752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Clipchampに1行ずつ貼り付け、試聴、書き出し、ファイル番号をExcelに手入力した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62B"/>
                </a:solidFill>
              </a:rPr>
              <a:t>提案　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表彰結果を「正式名称・列分割・よみ付き」で受け取り、ナレーション文はExcelで自動生成する。音声生成と貼り付けは、次の段階でまとめて自動化する。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現状の作業フロー（川上→川下）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赤字の工程が手作業の負担が大きいところ（動画で確認した範囲）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99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表彰結果の受領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営業推進から審査用Excelを受け取る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57984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6E3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57984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73A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203704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所属の正式名称化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4月時点の組織図とCopilotで略称を直す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67328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6E3E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67328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73A"/>
                </a:solidFill>
              </a:rPr>
              <a:t>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813048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転記・区切り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0480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管理表を作り、部・課・G・氏名に読点を打つ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76672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6E3E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76672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73A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422392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ナレーション文作成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49824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賞ごとに定型句をつけて文章にする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86016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6E3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86016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73A"/>
                </a:solidFill>
              </a:rPr>
              <a:t>5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031736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音声生成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Clipchampで1本ずつ読み上げ・試聴・微調整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95360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rgbClr val="F6E3E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595360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473A"/>
                </a:solidFill>
              </a:rPr>
              <a:t>6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641080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書き出し・記録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68512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クラウド＋ローカル保存、番号をExcelへ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204704" y="1828800"/>
            <a:ext cx="1463040" cy="32918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204704" y="1920240"/>
            <a:ext cx="146304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A99"/>
                </a:solidFill>
              </a:rPr>
              <a:t>7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250424" y="2514600"/>
            <a:ext cx="1371600" cy="8229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PPTへ埋め込み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0277856" y="3383280"/>
            <a:ext cx="1325880" cy="1645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スライド番号に合わせて音声を貼る（未実施）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5394960"/>
            <a:ext cx="11064240" cy="7315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</a:rPr>
              <a:t>※ 最優秀賞・優秀賞・奨励賞はナレーションあり。努力賞は読み上げず、スライドの表示のみ。並行してWordのナレーション資料も作っている。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実際の作業画面で見る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D9B0"/>
                </a:solidFill>
              </a:rPr>
              <a:t>動画から切り出したスクリーンショットで、Excelの加工からClipchampでの書き出しまでを順に追います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画面1　届いた審査結果Excel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賞ごとのブロックに、ID・氏名・カナ・所属（略称）・表彰内容が並ぶ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1208" y="1572768"/>
            <a:ext cx="7918704" cy="4293965"/>
          </a:xfrm>
          <a:prstGeom prst="rect">
            <a:avLst/>
          </a:prstGeom>
          <a:solidFill>
            <a:srgbClr val="D5DAE3"/>
          </a:solidFill>
          <a:ln/>
        </p:spPr>
      </p:sp>
      <p:pic>
        <p:nvPicPr>
          <p:cNvPr id="5" name="Image 0" descr="画面1　届いた審査結果Exc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42391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798207"/>
            <a:ext cx="860107" cy="1597343"/>
          </a:xfrm>
          <a:prstGeom prst="roundRect">
            <a:avLst>
              <a:gd name="adj" fmla="val 5316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868" y="2615327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25868" y="261532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668191" y="3074670"/>
            <a:ext cx="2334578" cy="2457450"/>
          </a:xfrm>
          <a:prstGeom prst="roundRect">
            <a:avLst>
              <a:gd name="adj" fmla="val 1958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19888" y="2891790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19888" y="289179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32520" y="161848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3252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最優秀賞1件・優秀賞4件・奨励賞20件と、賞ごとに表が分かれている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32520" y="257860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325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56032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所属は「営業本部 国内営業 ｿﾘｭｰｼｮﾝ営業…」のような略称・半角カナ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732520" y="35387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325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897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このままではナレーションに使えないため、ここから加工が始まる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6E3E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73A"/>
                </a:solidFill>
              </a:rPr>
              <a:t>泥臭いポイント　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審査用の表がそのまま届くため、ナレーション用に作り直す必要がある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画面2　所属の正式名称化をCopilotに依頼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4月時点の組織図PDFを添付し、新しい列に正式名称を書かせた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1208" y="1572768"/>
            <a:ext cx="7918704" cy="4293965"/>
          </a:xfrm>
          <a:prstGeom prst="rect">
            <a:avLst/>
          </a:prstGeom>
          <a:solidFill>
            <a:srgbClr val="D5DAE3"/>
          </a:solidFill>
          <a:ln/>
        </p:spPr>
      </p:sp>
      <p:pic>
        <p:nvPicPr>
          <p:cNvPr id="5" name="Image 0" descr="画面2　所属の正式名称化をCopilotに依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42391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60883" y="2183844"/>
            <a:ext cx="1320879" cy="1105853"/>
          </a:xfrm>
          <a:prstGeom prst="roundRect">
            <a:avLst>
              <a:gd name="adj" fmla="val 4134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2000964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0009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32520" y="161848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3252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組織図PDFをCopilotに渡し、「この列の組織名を新しい表記に変えて、右の列に書いて」と指示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32520" y="25786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325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256032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元の列は残し、後で人が見比べる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32520" y="35387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325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PDFの読み取り結果も最終的には人が確認する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6E3E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73A"/>
                </a:solidFill>
              </a:rPr>
              <a:t>泥臭いポイント　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上流に正式名称の列があれば、この工程はまるごと不要になる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画面3　「さん」「「」「」」を別々のセルに手入力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審査結果Excelの右側で、ナレーションの部品を1セルずつ作っている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1208" y="1572768"/>
            <a:ext cx="7918704" cy="4293965"/>
          </a:xfrm>
          <a:prstGeom prst="rect">
            <a:avLst/>
          </a:prstGeom>
          <a:solidFill>
            <a:srgbClr val="D5DAE3"/>
          </a:solidFill>
          <a:ln/>
        </p:spPr>
      </p:sp>
      <p:pic>
        <p:nvPicPr>
          <p:cNvPr id="5" name="Image 0" descr="画面3　「さん」「「」「」」を別々のセルに手入力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42391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23857" y="3762756"/>
            <a:ext cx="393192" cy="1658779"/>
          </a:xfrm>
          <a:prstGeom prst="roundRect">
            <a:avLst>
              <a:gd name="adj" fmla="val 11628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34168" y="3579876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34168" y="35798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23192" y="3762756"/>
            <a:ext cx="393192" cy="1658779"/>
          </a:xfrm>
          <a:prstGeom prst="roundRect">
            <a:avLst>
              <a:gd name="adj" fmla="val 11628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033504" y="3579876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33504" y="35798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615720" y="3762756"/>
            <a:ext cx="245745" cy="1658779"/>
          </a:xfrm>
          <a:prstGeom prst="roundRect">
            <a:avLst>
              <a:gd name="adj" fmla="val 18605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78585" y="3579876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78585" y="35798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984337" y="5286375"/>
            <a:ext cx="737235" cy="153591"/>
          </a:xfrm>
          <a:prstGeom prst="roundRect">
            <a:avLst>
              <a:gd name="adj" fmla="val 29767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38692" y="5103495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38692" y="510349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732520" y="161848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3252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8972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氏名の右に「さん」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8732520" y="257860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87325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189720" y="256032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表彰内容の前に「「」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8732520" y="353872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7325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91897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表彰内容の後に「」」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8732520" y="449884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8732520" y="4498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9189720" y="448056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最後に「おめでとうございます。」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6E3E0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73A"/>
                </a:solidFill>
              </a:rPr>
              <a:t>泥臭いポイント　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人数分（25名）、同じ部品を手で入れてからつなげている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画面4　部品をつなげてナレーション文にする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数式バーを見ると、部品をつなげた文になっている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1208" y="1572768"/>
            <a:ext cx="7918704" cy="4293965"/>
          </a:xfrm>
          <a:prstGeom prst="rect">
            <a:avLst/>
          </a:prstGeom>
          <a:solidFill>
            <a:srgbClr val="D5DAE3"/>
          </a:solidFill>
          <a:ln/>
        </p:spPr>
      </p:sp>
      <p:pic>
        <p:nvPicPr>
          <p:cNvPr id="5" name="Image 0" descr="画面4　部品をつなげてナレーション文にす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42391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85211" y="2564749"/>
            <a:ext cx="4300538" cy="135160"/>
          </a:xfrm>
          <a:prstGeom prst="roundRect">
            <a:avLst>
              <a:gd name="adj" fmla="val 33827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02868" y="2381869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802868" y="2381869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95132" y="4825603"/>
            <a:ext cx="2549604" cy="196596"/>
          </a:xfrm>
          <a:prstGeom prst="roundRect">
            <a:avLst>
              <a:gd name="adj" fmla="val 23256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61856" y="4642723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61856" y="464272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32520" y="161848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3252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数式バー：「1件目は」＋所属＋氏名＋「さん」＋「。」＋「ステージへお上がりください。」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32520" y="257860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325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56032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できた文がナレーション列に入る。右の列は正式名称版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732520" y="35387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325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897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「続きまして、業績表彰、優秀賞の発表です。」のような進行の文も手で書いている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6E3E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73A"/>
                </a:solidFill>
              </a:rPr>
              <a:t>泥臭いポイント　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「1件目は」「続きまして」「ステージへお上がりください」の付け方は賞ごとに違い、ルールは担当者の頭の中にある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画面5　奨励賞は「続いて、…」の形で20名分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作成途中シートのナレーション列（左）と新組織表記（右）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1208" y="1572768"/>
            <a:ext cx="7918704" cy="4293965"/>
          </a:xfrm>
          <a:prstGeom prst="rect">
            <a:avLst/>
          </a:prstGeom>
          <a:solidFill>
            <a:srgbClr val="D5DAE3"/>
          </a:solidFill>
          <a:ln/>
        </p:spPr>
      </p:sp>
      <p:pic>
        <p:nvPicPr>
          <p:cNvPr id="5" name="Image 0" descr="画面5　奨励賞は「続いて、…」の形で20名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42391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502313" y="2964085"/>
            <a:ext cx="2518886" cy="2518886"/>
          </a:xfrm>
          <a:prstGeom prst="roundRect">
            <a:avLst>
              <a:gd name="adj" fmla="val 1815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38319" y="2781205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38319" y="278120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33486" y="2964085"/>
            <a:ext cx="2531174" cy="2518886"/>
          </a:xfrm>
          <a:prstGeom prst="roundRect">
            <a:avLst>
              <a:gd name="adj" fmla="val 1815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81780" y="2781205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81780" y="278120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32520" y="161848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3252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奨励賞は「続いて、」＋所属＋氏名＋「さん「表彰内容」おめでとうございます。」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32520" y="257860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325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256032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正式名称にすると「営業本部 国内営業ユニット ソリューション営業統括部…」と長くなる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732520" y="35387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325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1897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鍵括弧の位置ずれ（32行目など）を目で見つけて直している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6E3E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73A"/>
                </a:solidFill>
              </a:rPr>
              <a:t>泥臭いポイント　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20名分の同じ形の文を、目で確認しながら仕上げている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画面6　読点と読み方の微調整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数式バーで1件ずつ読点を入れ、Clipchampで聞いて直す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1208" y="1572768"/>
            <a:ext cx="7918704" cy="4293965"/>
          </a:xfrm>
          <a:prstGeom prst="rect">
            <a:avLst/>
          </a:prstGeom>
          <a:solidFill>
            <a:srgbClr val="D5DAE3"/>
          </a:solidFill>
          <a:ln/>
        </p:spPr>
      </p:sp>
      <p:pic>
        <p:nvPicPr>
          <p:cNvPr id="5" name="Image 0" descr="画面6　読点と読み方の微調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42391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54493" y="2552462"/>
            <a:ext cx="6696551" cy="147447"/>
          </a:xfrm>
          <a:prstGeom prst="roundRect">
            <a:avLst>
              <a:gd name="adj" fmla="val 31008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0" y="2369582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46720" y="236958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32520" y="161848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3252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部・課・グループ・氏名の間に読点を入れると自然に区切って読む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32520" y="25786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325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256032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「インダストリー1営業ユニット」のように書き換えたほうが自然な場合がある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32520" y="35387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325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氏名はカタカナが基本。森川さんは漢字、宮下さんはカタカナが自然だった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6E3E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73A"/>
                </a:solidFill>
              </a:rPr>
              <a:t>泥臭いポイント　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聞いてみないと分からないので、試聴と書き直しを繰り返している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画面7　Clipchampで1本ずつ音声を作る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…メニュー → テキスト読み上げ → 文を貼り付け → 保存 → 再生して確認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1208" y="1572768"/>
            <a:ext cx="7918704" cy="4293965"/>
          </a:xfrm>
          <a:prstGeom prst="rect">
            <a:avLst/>
          </a:prstGeom>
          <a:solidFill>
            <a:srgbClr val="D5DAE3"/>
          </a:solidFill>
          <a:ln/>
        </p:spPr>
      </p:sp>
      <p:pic>
        <p:nvPicPr>
          <p:cNvPr id="5" name="Image 0" descr="画面7　Clipchampで1本ずつ音声を作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42391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7789" y="4026932"/>
            <a:ext cx="1228725" cy="430054"/>
          </a:xfrm>
          <a:prstGeom prst="roundRect">
            <a:avLst>
              <a:gd name="adj" fmla="val 10631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643634" y="3844052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643634" y="38440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32520" y="161848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3252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左のメニューから「テキスト読み上げ」を開く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32520" y="25786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325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256032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Excelの文を1行分コピーして貼り付け、保存ボタンを押す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32520" y="35387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325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再生して確認し、おかしければExcelに戻って直す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6E3E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73A"/>
                </a:solidFill>
              </a:rPr>
              <a:t>泥臭いポイント　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人数分、同じ画面操作を繰り返す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画面8　書き出して、ファイル番号を控える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エクスポート → コンピューターに保存。ファイル名は「動画プロジェクト126.m4a」のような連番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1208" y="1572768"/>
            <a:ext cx="7918704" cy="4293965"/>
          </a:xfrm>
          <a:prstGeom prst="rect">
            <a:avLst/>
          </a:prstGeom>
          <a:solidFill>
            <a:srgbClr val="D5DAE3"/>
          </a:solidFill>
          <a:ln/>
        </p:spPr>
      </p:sp>
      <p:pic>
        <p:nvPicPr>
          <p:cNvPr id="5" name="Image 0" descr="画面8　書き出して、ファイル番号を控え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42391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38137" y="4438555"/>
            <a:ext cx="2795349" cy="294894"/>
          </a:xfrm>
          <a:prstGeom prst="roundRect">
            <a:avLst>
              <a:gd name="adj" fmla="val 15504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50606" y="4255675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50606" y="425567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32520" y="161848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3252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エクスポートし、クラウドとローカルの両方に保存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32520" y="25786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325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256032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ローカルのファイル名は自動の連番で、誰の音声か分からない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32520" y="35387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325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番号を管理表の「音声ファイル」列に手で書き写す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6E3E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73A"/>
                </a:solidFill>
              </a:rPr>
              <a:t>泥臭いポイント　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ファイル名と表彰者の対応は、管理表への手書きだけが頼り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画面9　ダウンロードフォルダに並んだ音声ファイル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「動画プロジェクト○○.m4a」が並び、中身は名前から分からない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21208" y="1572768"/>
            <a:ext cx="7918704" cy="4293965"/>
          </a:xfrm>
          <a:prstGeom prst="rect">
            <a:avLst/>
          </a:prstGeom>
          <a:solidFill>
            <a:srgbClr val="D5DAE3"/>
          </a:solidFill>
          <a:ln/>
        </p:spPr>
      </p:sp>
      <p:pic>
        <p:nvPicPr>
          <p:cNvPr id="5" name="Image 0" descr="画面9　ダウンロードフォルダに並んだ音声ファイル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7863840" cy="423910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8029" y="2460308"/>
            <a:ext cx="1474470" cy="3071813"/>
          </a:xfrm>
          <a:prstGeom prst="roundRect">
            <a:avLst>
              <a:gd name="adj" fmla="val 3101"/>
            </a:avLst>
          </a:prstGeom>
          <a:ln w="31750">
            <a:solidFill>
              <a:srgbClr val="E0301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669619" y="2277427"/>
            <a:ext cx="365760" cy="365760"/>
          </a:xfrm>
          <a:prstGeom prst="ellipse">
            <a:avLst/>
          </a:prstGeom>
          <a:solidFill>
            <a:srgbClr val="E0301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69619" y="227742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732520" y="1618488"/>
            <a:ext cx="365760" cy="365760"/>
          </a:xfrm>
          <a:prstGeom prst="ellipse">
            <a:avLst/>
          </a:prstGeom>
          <a:solidFill>
            <a:srgbClr val="E0301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73252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189720" y="160020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連番のファイルがダウンロードフォルダにたまる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32520" y="25786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32520" y="2578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189720" y="256032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後でパワーポイントに埋め込むとき、番号を見て探すことになる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732520" y="35387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732520" y="3538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189720" y="3520440"/>
            <a:ext cx="24688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命名規則があれば、埋め込みも自動化しやすい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F6E3E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73A"/>
                </a:solidFill>
              </a:rPr>
              <a:t>泥臭いポイント　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「スライド番号_賞_氏名」のような名前で保存できれば迷わない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問題1　審査用Excelの所属が略称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ナレーションは正式名称で読む必要がある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審査に使ったExcelがそのまま届く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所属は社内の略称で書かれている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4月時点の組織図（PDF）をCopilotに渡して書き直させ、目で見比べた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毎回、組織図との照合が必要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組織変更の時期によって正しい名称が変わる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Copilotの結果も人が確認する必要がある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上流のExcelに正式名称の列を最初から入れてもらう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社員番号から組織マスタを引いて自動で埋める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組織図の基準日を明記する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問題2　ファイル作成・転記・区切りの読点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動画は重くて渡せなかったが、2本目と3本目の間にある手間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新しい管理表（音声スライド管理表）を作る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審査用Excelから必要な列を転記する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部・課・グループ・氏名の間に手で読点を打つ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読点がないと、AIがどこで区切るか分からず不自然になる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Clipchampに渡した文と管理表の文が食い違った（読点が抜けていた）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転記ミスが起きやすい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本部・部・課・グループ・氏名を別々の列でもらう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読点つきの文はExcelの数式で自動的につなげる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管理表のひな形を固定して毎回使い回す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問題3　人名と組織名の読み方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正しく自然に読ませるには、試行錯誤が必要だった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氏名はカタカナで書くのを基本にした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人によっては漢字のほうが自然だった（例：森川さん）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逆にカタカナのほうが自然な人もいた（例：宮下さん）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誰がカタカナ・漢字のどちらで自然になるかは、聞いてみないと分からない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「インダストリー営業ユニット」は「インダストリー1営業ユニット」と書いたほうが自然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試聴と書き直しの繰り返しに時間がかかる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上流で氏名の「よみ（カタカナ）」列をもらう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読み方の辞書（表記→読ませ方）を残し、次回に引き継ぐ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最初から区切り・読み替えをした文から始める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問題4　賞ごとのナレーション文を手で組み立てている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「非常にアナログ」な部分。自動化の第一候補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賞（最優秀・優秀・奨励・努力）ごとに必要な文が違う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必要な列を左から右へずらし、「」や「おめでとうございます」「ステージへお上がりください」を手で付けた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最初の状態から少しずつナレーションに近づけた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同じ形の文を人数分、手で作っている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賞ごとのルールが頭の中にしかない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Excelの文とWordのナレーション資料の二重管理になる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賞ごとの定型文をテンプレート化する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Excelの数式（またはスクリプト）で全員分を一度に生成する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Excelを唯一の原本にし、Wordは不要にするか、Excelから自動で作る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問題5　Clipchampでの音声生成と書き出し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1本の音声ができるまでの手順が長い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…メニュー → テキスト読み上げ → 文を貼る → 保存 → 再生して確認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よければエクスポート。クラウドとローカルの両方に保存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保存したファイル番号を管理表に手で書き込む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人数分、同じ操作を繰り返す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番号の書き写しを間違えやすい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Clipchampの画面はClipchampの録画では記録できず、手順を残しにくい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ファイル名の規則を決める（例：スライド番号_賞_氏名）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一括で音声を作れるTTSツールやAPIを検討する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難しければ、コンピューター操作の自動化（Computer Use）でClipchampを操作する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問題6　パワーポイントとの連携が最後になる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スライドが完成していないため、埋め込みは未実施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</a:rPr>
              <a:t>現状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管理表のスライド番号（赤字）は前回のものが残っている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パワーポイントの完成を待ってから音声を埋め込む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埋め込みはスライド番号を見ながら手作業になる見込み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F6E3E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2628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5473A"/>
                </a:solidFill>
              </a:rPr>
              <a:t>困っていること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スライド番号が確定しないと音声と結びつけられない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前回の値が残っていると混乱する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最後の工程に作業が集中する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4389120"/>
          </a:xfrm>
          <a:prstGeom prst="roundRect">
            <a:avLst>
              <a:gd name="adj" fmla="val 3158"/>
            </a:avLst>
          </a:prstGeom>
          <a:solidFill>
            <a:srgbClr val="EAF2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1874520"/>
            <a:ext cx="30175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3F7E6B"/>
                </a:solidFill>
              </a:rPr>
              <a:t>こうなれば楽になる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0" y="2423160"/>
            <a:ext cx="3063240" cy="35661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スライドの並び（賞・順位）を先に決め、番号を管理表の主キーにする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ファイル名とスライド番号を対応させ、埋め込みを自動化する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前回の値は消したひな形から始める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最初にもらいたいファイル（上流への依頼案）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この列がそろっていれば、問題1〜4はほぼ解消できる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92240"/>
                <a:gridCol w="18288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内容・ルール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解消する問題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賞区分・順位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最優秀／優秀／奨励／努力。表示順もこの列で決める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4・6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氏名（漢字）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スライド表示用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氏名よみ（カタカナ）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読み上げ用。読み間違えやすい人には注記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本部・部・課・グループ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正式名称で、階層ごとに別々の列に。組織図の基準日を明記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1・2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社員番号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組織マスタや過去データとの照合キー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表彰テーマ・内容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ナレーションで読む本文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登壇の有無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「ステージへお上がりください」を付けるかどうか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自動化の可能性マップ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まずは手軽で効果の大きいものから。Clipchampなど画面操作が必要な部分は後から検討する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017520"/>
                <a:gridCol w="4572000"/>
                <a:gridCol w="1097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工程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今のやり方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自動化の手段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難易度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所属の正式名称化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組織図＋Copilot＋目視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上流で正式名称をもらう／組織マスタで自動参照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7E6B"/>
                          </a:solidFill>
                        </a:rPr>
                        <a:t>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転記・読点挿入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手作業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列分割データ＋数式で結合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7E6B"/>
                          </a:solidFill>
                        </a:rPr>
                        <a:t>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ナレーション文作成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列をずらし手で定型句を付ける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賞別テンプレート＋数式／スクリプト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F7E6B"/>
                          </a:solidFill>
                        </a:rPr>
                        <a:t>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読み方の調整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試聴して書き直す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よみ列＋読み方辞書の蓄積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9962B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音声生成・書き出し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Clipchampで1本ずつ操作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一括TTS、またはComputer Useで画面操作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B5473A"/>
                          </a:solidFill>
                        </a:rPr>
                        <a:t>難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番号の記録・PPT埋め込み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手入力・手作業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430"/>
                          </a:solidFill>
                        </a:rPr>
                        <a:t>命名規則＋スクリプトで一括埋め込み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C9962B"/>
                          </a:solidFill>
                        </a:rPr>
                        <a:t>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次のステップ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9D9B0"/>
                </a:solidFill>
              </a:rPr>
              <a:t>① 上流（営業推進）とファイル仕様を相談する　② 管理表のひな形と賞別テンプレートを作る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9D9B0"/>
                </a:solidFill>
              </a:rPr>
              <a:t>③ 読み方辞書を今回の結果から作り、引き継ぐ　④ 音声生成と埋め込みの自動化を試す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osho">
  <a:themeElements>
    <a:clrScheme name="Hyosho">
      <a:dk1>
        <a:srgbClr val="1F2430"/>
      </a:dk1>
      <a:lt1>
        <a:srgbClr val="FFFFFF"/>
      </a:lt1>
      <a:dk2>
        <a:srgbClr val="1B2A4A"/>
      </a:dk2>
      <a:lt2>
        <a:srgbClr val="F1F3F7"/>
      </a:lt2>
      <a:accent1>
        <a:srgbClr val="C9962B"/>
      </a:accent1>
      <a:accent2>
        <a:srgbClr val="1B2A4A"/>
      </a:accent2>
      <a:accent3>
        <a:srgbClr val="3F7E6B"/>
      </a:accent3>
      <a:accent4>
        <a:srgbClr val="B5473A"/>
      </a:accent4>
      <a:accent5>
        <a:srgbClr val="6B7A99"/>
      </a:accent5>
      <a:accent6>
        <a:srgbClr val="E9D9B0"/>
      </a:accent6>
      <a:hlink>
        <a:srgbClr val="1B5FA8"/>
      </a:hlink>
      <a:folHlink>
        <a:srgbClr val="6B7A99"/>
      </a:folHlink>
    </a:clrScheme>
    <a:fontScheme name="Hyosho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2026-10-29T09:51:53Z</dcterms:created>
  <dcterms:modified xsi:type="dcterms:W3CDTF">2026-10-29T09:51:53Z</dcterms:modified>
</cp:coreProperties>
</file>
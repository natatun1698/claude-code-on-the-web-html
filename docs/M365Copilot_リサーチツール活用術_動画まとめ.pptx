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1463040"/>
          </a:xfrm>
          <a:prstGeom prst="rect">
            <a:avLst/>
          </a:prstGeom>
          <a:noFill/>
        </p:spPr>
        <p:txBody>
          <a:bodyPr wrap="square">
            <a:spAutoFit/>
          </a:bodyPr>
          <a:lstStyle/>
          <a:p>
            <a:pPr algn="l"/>
            <a:r>
              <a:rPr sz="3200" b="1">
                <a:solidFill>
                  <a:srgbClr val="0F6CBD"/>
                </a:solidFill>
                <a:latin typeface="Meiryo UI"/>
              </a:rPr>
              <a:t>Microsoft 365 Copilot の活用術</a:t>
            </a:r>
          </a:p>
          <a:p>
            <a:pPr algn="l"/>
            <a:r>
              <a:rPr sz="3200" b="1">
                <a:solidFill>
                  <a:srgbClr val="0F6CBD"/>
                </a:solidFill>
                <a:latin typeface="Meiryo UI"/>
              </a:rPr>
              <a:t>リサーチツール &amp; Copilot Cowork 活用編 – 動画内容まとめ</a:t>
            </a:r>
          </a:p>
        </p:txBody>
      </p:sp>
      <p:sp>
        <p:nvSpPr>
          <p:cNvPr id="4" name="TextBox 3"/>
          <p:cNvSpPr txBox="1"/>
          <p:nvPr/>
        </p:nvSpPr>
        <p:spPr>
          <a:xfrm>
            <a:off x="822960" y="3108960"/>
            <a:ext cx="10515600" cy="2011680"/>
          </a:xfrm>
          <a:prstGeom prst="rect">
            <a:avLst/>
          </a:prstGeom>
          <a:noFill/>
        </p:spPr>
        <p:txBody>
          <a:bodyPr wrap="square">
            <a:spAutoFit/>
          </a:bodyPr>
          <a:lstStyle/>
          <a:p>
            <a:pPr algn="l"/>
            <a:r>
              <a:rPr sz="1500" b="0">
                <a:solidFill>
                  <a:srgbClr val="202020"/>
                </a:solidFill>
                <a:latin typeface="Meiryo UI"/>
              </a:rPr>
              <a:t>出典動画:【西脇資哲が実演!】驚くほど仕事が変わる!Microsoft 365 Copilot の活用術(日本マイクロソフト公式チャンネル/17:52)</a:t>
            </a:r>
          </a:p>
          <a:p>
            <a:pPr algn="l"/>
            <a:r>
              <a:rPr sz="1500" b="0">
                <a:solidFill>
                  <a:srgbClr val="202020"/>
                </a:solidFill>
                <a:latin typeface="Meiryo UI"/>
              </a:rPr>
              <a:t>内容:M365 Copilot のリサーチツール(モデル選択 Sonnet / Opus)で Excel データからインタラクティブな</a:t>
            </a:r>
          </a:p>
          <a:p>
            <a:pPr algn="l"/>
            <a:r>
              <a:rPr sz="1500" b="0">
                <a:solidFill>
                  <a:srgbClr val="202020"/>
                </a:solidFill>
                <a:latin typeface="Meiryo UI"/>
              </a:rPr>
              <a:t>HTML ダッシュボードを生成する2つのデモと、Copilot Cowork による定期レポート自動化の紹介</a:t>
            </a:r>
          </a:p>
          <a:p>
            <a:pPr algn="l"/>
            <a:r>
              <a:rPr sz="1500" b="0">
                <a:solidFill>
                  <a:srgbClr val="202020"/>
                </a:solidFill>
                <a:latin typeface="Meiryo UI"/>
              </a:rPr>
              <a:t>本資料:各デモで「どのようなプロンプトを入力し、どのような出力が得られたか」をスクリーンショット中心に整理</a:t>
            </a:r>
          </a:p>
        </p:txBody>
      </p:sp>
      <p:sp>
        <p:nvSpPr>
          <p:cNvPr id="5" name="TextBox 4"/>
          <p:cNvSpPr txBox="1"/>
          <p:nvPr/>
        </p:nvSpPr>
        <p:spPr>
          <a:xfrm>
            <a:off x="822960" y="6035040"/>
            <a:ext cx="10515600" cy="457200"/>
          </a:xfrm>
          <a:prstGeom prst="rect">
            <a:avLst/>
          </a:prstGeom>
          <a:noFill/>
        </p:spPr>
        <p:txBody>
          <a:bodyPr wrap="square">
            <a:spAutoFit/>
          </a:bodyPr>
          <a:lstStyle/>
          <a:p>
            <a:pPr algn="l"/>
            <a:r>
              <a:rPr sz="1200" b="0">
                <a:solidFill>
                  <a:srgbClr val="606060"/>
                </a:solidFill>
                <a:latin typeface="Meiryo UI"/>
              </a:rPr>
              <a:t>作成日: 2026-07-12 / 動画スクリーンショットを基に自動生成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動画の全体構成</a:t>
            </a:r>
          </a:p>
        </p:txBody>
      </p:sp>
      <p:sp>
        <p:nvSpPr>
          <p:cNvPr id="3" name="TextBox 2"/>
          <p:cNvSpPr txBox="1"/>
          <p:nvPr/>
        </p:nvSpPr>
        <p:spPr>
          <a:xfrm>
            <a:off x="822960" y="1097280"/>
            <a:ext cx="10607040" cy="5120640"/>
          </a:xfrm>
          <a:prstGeom prst="rect">
            <a:avLst/>
          </a:prstGeom>
          <a:noFill/>
        </p:spPr>
        <p:txBody>
          <a:bodyPr wrap="square">
            <a:spAutoFit/>
          </a:bodyPr>
          <a:lstStyle/>
          <a:p>
            <a:pPr algn="l"/>
            <a:r>
              <a:rPr sz="1600" b="0">
                <a:solidFill>
                  <a:srgbClr val="202020"/>
                </a:solidFill>
                <a:latin typeface="Meiryo UI"/>
              </a:rPr>
              <a:t>1. Copilot Cowork によるスケジュール実行(冒頭・視聴シーン)</a:t>
            </a:r>
          </a:p>
          <a:p>
            <a:pPr algn="l"/>
            <a:r>
              <a:rPr sz="1600" b="0">
                <a:solidFill>
                  <a:srgbClr val="202020"/>
                </a:solidFill>
                <a:latin typeface="Meiryo UI"/>
              </a:rPr>
              <a:t>    ・「週次マクロ環境分析レポート」を毎週月曜 6:00 に自動実行し、PowerPoint レポートを作成してメール送付するデモ</a:t>
            </a:r>
          </a:p>
          <a:p>
            <a:pPr algn="l"/>
          </a:p>
          <a:p>
            <a:pPr algn="l"/>
            <a:r>
              <a:rPr sz="1600" b="0">
                <a:solidFill>
                  <a:srgbClr val="202020"/>
                </a:solidFill>
                <a:latin typeface="Meiryo UI"/>
              </a:rPr>
              <a:t>2. デモ①:売上データからインタラクティブなダッシュボードを作成(モデル: Sonnet)</a:t>
            </a:r>
          </a:p>
          <a:p>
            <a:pPr algn="l"/>
            <a:r>
              <a:rPr sz="1600" b="0">
                <a:solidFill>
                  <a:srgbClr val="202020"/>
                </a:solidFill>
                <a:latin typeface="Meiryo UI"/>
              </a:rPr>
              <a:t>    ・10,000件以上の売上集計 Excel を添付し、1行のシンプルなプロンプトで依頼</a:t>
            </a:r>
          </a:p>
          <a:p>
            <a:pPr algn="l"/>
            <a:r>
              <a:rPr sz="1600" b="0">
                <a:solidFill>
                  <a:srgbClr val="202020"/>
                </a:solidFill>
                <a:latin typeface="Meiryo UI"/>
              </a:rPr>
              <a:t>    ・KPI・7種のグラフを備えたダークテーマのダッシュボード HTML が完成</a:t>
            </a:r>
          </a:p>
          <a:p>
            <a:pPr algn="l"/>
          </a:p>
          <a:p>
            <a:pPr algn="l"/>
            <a:r>
              <a:rPr sz="1600" b="0">
                <a:solidFill>
                  <a:srgbClr val="202020"/>
                </a:solidFill>
                <a:latin typeface="Meiryo UI"/>
              </a:rPr>
              <a:t>3. デモ②:センサーデータと生産・不良率データからダッシュボードを作成(モデル: Opus)</a:t>
            </a:r>
          </a:p>
          <a:p>
            <a:pPr algn="l"/>
            <a:r>
              <a:rPr sz="1600" b="0">
                <a:solidFill>
                  <a:srgbClr val="202020"/>
                </a:solidFill>
                <a:latin typeface="Meiryo UI"/>
              </a:rPr>
              <a:t>    ・44,000件超のセンサーデータ + 20,000件超の生産実績・不良率データの2ファイルを添付</a:t>
            </a:r>
          </a:p>
          <a:p>
            <a:pPr algn="l"/>
            <a:r>
              <a:rPr sz="1600" b="0">
                <a:solidFill>
                  <a:srgbClr val="202020"/>
                </a:solidFill>
                <a:latin typeface="Meiryo UI"/>
              </a:rPr>
              <a:t>    ・箇条書きで細かく要件指定した詳細プロンプトで依頼</a:t>
            </a:r>
          </a:p>
          <a:p>
            <a:pPr algn="l"/>
            <a:r>
              <a:rPr sz="1600" b="0">
                <a:solidFill>
                  <a:srgbClr val="202020"/>
                </a:solidFill>
                <a:latin typeface="Meiryo UI"/>
              </a:rPr>
              <a:t>    ・カレンダー・KPIゲージ・時系列グラフ・AI相関分析付きのダッシュボード HTML が完成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① Copilot Cowork:週次レポートの自動実行(動画冒頭)</a:t>
            </a:r>
          </a:p>
        </p:txBody>
      </p:sp>
      <p:pic>
        <p:nvPicPr>
          <p:cNvPr id="3" name="Picture 2" descr="f_001.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「エネルギーや気象の予測から物流コストや食品価格への影響を分析」するタスクをスケジュール登録。毎週月曜 6:00(日本時間)に実行し、PowerPoint「マクロ環境分析レポート」を生成して西脇さん宛にメール送付する設定が紹介されている。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C431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売上データ → インタラクティブダッシュボード(Sonnet)</a:t>
            </a:r>
          </a:p>
        </p:txBody>
      </p:sp>
      <p:sp>
        <p:nvSpPr>
          <p:cNvPr id="3" name="TextBox 2"/>
          <p:cNvSpPr txBox="1"/>
          <p:nvPr/>
        </p:nvSpPr>
        <p:spPr>
          <a:xfrm>
            <a:off x="822960" y="1005840"/>
            <a:ext cx="10607040" cy="914400"/>
          </a:xfrm>
          <a:prstGeom prst="rect">
            <a:avLst/>
          </a:prstGeom>
          <a:noFill/>
        </p:spPr>
        <p:txBody>
          <a:bodyPr wrap="square">
            <a:spAutoFit/>
          </a:bodyPr>
          <a:lstStyle/>
          <a:p>
            <a:pPr algn="l"/>
            <a:r>
              <a:rPr sz="2000" b="1">
                <a:solidFill>
                  <a:srgbClr val="C4314B"/>
                </a:solidFill>
                <a:latin typeface="Meiryo UI"/>
              </a:rPr>
              <a:t>入力データ</a:t>
            </a:r>
          </a:p>
        </p:txBody>
      </p:sp>
      <p:sp>
        <p:nvSpPr>
          <p:cNvPr id="4" name="TextBox 3"/>
          <p:cNvSpPr txBox="1"/>
          <p:nvPr/>
        </p:nvSpPr>
        <p:spPr>
          <a:xfrm>
            <a:off x="822960" y="1554480"/>
            <a:ext cx="10607040" cy="1463040"/>
          </a:xfrm>
          <a:prstGeom prst="rect">
            <a:avLst/>
          </a:prstGeom>
          <a:noFill/>
        </p:spPr>
        <p:txBody>
          <a:bodyPr wrap="square">
            <a:spAutoFit/>
          </a:bodyPr>
          <a:lstStyle/>
          <a:p>
            <a:pPr algn="l"/>
            <a:r>
              <a:rPr sz="1500" b="0">
                <a:solidFill>
                  <a:srgbClr val="202020"/>
                </a:solidFill>
                <a:latin typeface="Meiryo UI"/>
              </a:rPr>
              <a:t>(デモ)売上データ 2025年10月〜2026年9月.xlsx</a:t>
            </a:r>
          </a:p>
          <a:p>
            <a:pPr algn="l"/>
            <a:r>
              <a:rPr sz="1500" b="0">
                <a:solidFill>
                  <a:srgbClr val="202020"/>
                </a:solidFill>
                <a:latin typeface="Meiryo UI"/>
              </a:rPr>
              <a:t>10,000件以上の「月 × 都道府県 × 年齢層 × 商品カテゴリー × 売上(円)」の売上集計データ(化粧品・健康食品)</a:t>
            </a:r>
          </a:p>
        </p:txBody>
      </p:sp>
      <p:sp>
        <p:nvSpPr>
          <p:cNvPr id="5" name="TextBox 4"/>
          <p:cNvSpPr txBox="1"/>
          <p:nvPr/>
        </p:nvSpPr>
        <p:spPr>
          <a:xfrm>
            <a:off x="822960" y="3017520"/>
            <a:ext cx="10607040" cy="914400"/>
          </a:xfrm>
          <a:prstGeom prst="rect">
            <a:avLst/>
          </a:prstGeom>
          <a:noFill/>
        </p:spPr>
        <p:txBody>
          <a:bodyPr wrap="square">
            <a:spAutoFit/>
          </a:bodyPr>
          <a:lstStyle/>
          <a:p>
            <a:pPr algn="l"/>
            <a:r>
              <a:rPr sz="2000" b="1">
                <a:solidFill>
                  <a:srgbClr val="C4314B"/>
                </a:solidFill>
                <a:latin typeface="Meiryo UI"/>
              </a:rPr>
              <a:t>入力プロンプト(モデル: Sonnet)</a:t>
            </a:r>
          </a:p>
        </p:txBody>
      </p:sp>
      <p:sp>
        <p:nvSpPr>
          <p:cNvPr id="6" name="Rectangle 5"/>
          <p:cNvSpPr/>
          <p:nvPr/>
        </p:nvSpPr>
        <p:spPr>
          <a:xfrm>
            <a:off x="822960" y="3566160"/>
            <a:ext cx="10607040" cy="1097280"/>
          </a:xfrm>
          <a:prstGeom prst="rect">
            <a:avLst/>
          </a:prstGeom>
          <a:solidFill>
            <a:srgbClr val="FDF2F4"/>
          </a:solidFill>
          <a:ln>
            <a:solidFill>
              <a:srgbClr val="C431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02020"/>
                </a:solidFill>
                <a:latin typeface="Meiryo UI"/>
              </a:rPr>
              <a:t>このデータからグラフを多用した使いやすいインタラクティブなダッシュボードを作成して</a:t>
            </a:r>
          </a:p>
        </p:txBody>
      </p:sp>
      <p:sp>
        <p:nvSpPr>
          <p:cNvPr id="7" name="TextBox 6"/>
          <p:cNvSpPr txBox="1"/>
          <p:nvPr/>
        </p:nvSpPr>
        <p:spPr>
          <a:xfrm>
            <a:off x="822960" y="4937760"/>
            <a:ext cx="10607040" cy="1463040"/>
          </a:xfrm>
          <a:prstGeom prst="rect">
            <a:avLst/>
          </a:prstGeom>
          <a:noFill/>
        </p:spPr>
        <p:txBody>
          <a:bodyPr wrap="square">
            <a:spAutoFit/>
          </a:bodyPr>
          <a:lstStyle/>
          <a:p>
            <a:pPr algn="l"/>
            <a:r>
              <a:rPr sz="1400" b="0">
                <a:solidFill>
                  <a:srgbClr val="606060"/>
                </a:solidFill>
                <a:latin typeface="Meiryo UI"/>
              </a:rPr>
              <a:t>ポイント:ファイルを添付して1文だけのシンプルな依頼。Copilot がデータ構造(月・都道府県・年齢層・商品カテゴリー別)を自動で確認・分析し、ダッシュボードを生成する。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入力データ:10,000件超の売上集計 Excel</a:t>
            </a:r>
          </a:p>
        </p:txBody>
      </p:sp>
      <p:pic>
        <p:nvPicPr>
          <p:cNvPr id="3" name="Picture 2" descr="f_004.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月・都道府県・年齢層・商品カテゴリー・売上(円)の列を持つ売上データ(2025年10月〜2026年9月)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プロンプト入力:ファイル添付+1行の依頼(Sonnet)</a:t>
            </a:r>
          </a:p>
        </p:txBody>
      </p:sp>
      <p:pic>
        <p:nvPicPr>
          <p:cNvPr id="3" name="Picture 2" descr="f_013.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リサーチツールで xlsx を添付し「このデータからグラフを多用した使いやすいインタラクティブなダッシュボードを作成して」と入力(右上でモデルに Sonnet を選択)</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実行中:データ内容の確認 → 分析</a:t>
            </a:r>
          </a:p>
        </p:txBody>
      </p:sp>
      <p:pic>
        <p:nvPicPr>
          <p:cNvPr id="3" name="Picture 2" descr="f_017.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Copilot が「化粧品・健康食品の売上データで、月・都道府県・年齢層・商品カテゴリー別に構成」とデータを把握し、分析ステップを自動実行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出力:完成報告とダッシュボードの概要(主要KPI)</a:t>
            </a:r>
          </a:p>
        </p:txBody>
      </p:sp>
      <p:pic>
        <p:nvPicPr>
          <p:cNvPr id="3" name="Picture 2" descr="f_021.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総売上 647.0億円/月平均売上 53.9億円/No.1都道府県 東京都/No.1カテゴリー 高級スキンケア/最高売上月 2025年12月 などの KPI を要約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出力:搭載グラフ一覧(全7種)</a:t>
            </a:r>
          </a:p>
        </p:txBody>
      </p:sp>
      <p:pic>
        <p:nvPicPr>
          <p:cNvPr id="3" name="Picture 2" descr="f_023.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①月次売上トレンド(折れ線) ②カテゴリー別構成比(ドーナツ) ③都道府県別Top10(横棒) ④年齢層別月次推移(積み上げ棒) ⑤売上ヒートマップ など7種のグラフを搭載</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出力:インタラクティブダッシュボード(HTML)</a:t>
            </a:r>
          </a:p>
        </p:txBody>
      </p:sp>
      <p:pic>
        <p:nvPicPr>
          <p:cNvPr id="3" name="Picture 2" descr="f_025.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ダークテーマのダッシュボード。上部に都道府県・年齢層・商品カテゴリーのフィルター、KPIカード、月次売上トレンド、カテゴリー別売上構成比を表示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デモ① 出力:売上ヒートマップ/年齢層別・クロス集計</a:t>
            </a:r>
          </a:p>
        </p:txBody>
      </p:sp>
      <p:pic>
        <p:nvPicPr>
          <p:cNvPr id="3" name="Picture 2" descr="f_029.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都道府県×月の売上ヒートマップ、年齢層別総売上比較、カテゴリー×年齢層クロス集計もスクロールで閲覧可能。フィルター操作にも連動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C431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センサー+生産・不良率データ → 製造ダッシュボード(Opus)</a:t>
            </a:r>
          </a:p>
        </p:txBody>
      </p:sp>
      <p:sp>
        <p:nvSpPr>
          <p:cNvPr id="3" name="TextBox 2"/>
          <p:cNvSpPr txBox="1"/>
          <p:nvPr/>
        </p:nvSpPr>
        <p:spPr>
          <a:xfrm>
            <a:off x="822960" y="960120"/>
            <a:ext cx="10607040" cy="548640"/>
          </a:xfrm>
          <a:prstGeom prst="rect">
            <a:avLst/>
          </a:prstGeom>
          <a:noFill/>
        </p:spPr>
        <p:txBody>
          <a:bodyPr wrap="square">
            <a:spAutoFit/>
          </a:bodyPr>
          <a:lstStyle/>
          <a:p>
            <a:pPr algn="l"/>
            <a:r>
              <a:rPr sz="1800" b="1">
                <a:solidFill>
                  <a:srgbClr val="C4314B"/>
                </a:solidFill>
                <a:latin typeface="Meiryo UI"/>
              </a:rPr>
              <a:t>入力データ(2ファイル添付)</a:t>
            </a:r>
          </a:p>
        </p:txBody>
      </p:sp>
      <p:sp>
        <p:nvSpPr>
          <p:cNvPr id="4" name="TextBox 3"/>
          <p:cNvSpPr txBox="1"/>
          <p:nvPr/>
        </p:nvSpPr>
        <p:spPr>
          <a:xfrm>
            <a:off x="822960" y="1463040"/>
            <a:ext cx="10607040" cy="914400"/>
          </a:xfrm>
          <a:prstGeom prst="rect">
            <a:avLst/>
          </a:prstGeom>
          <a:noFill/>
        </p:spPr>
        <p:txBody>
          <a:bodyPr wrap="square">
            <a:spAutoFit/>
          </a:bodyPr>
          <a:lstStyle/>
          <a:p>
            <a:pPr algn="l"/>
            <a:r>
              <a:rPr sz="1300" b="0">
                <a:solidFill>
                  <a:srgbClr val="202020"/>
                </a:solidFill>
                <a:latin typeface="Meiryo UI"/>
              </a:rPr>
              <a:t>・センサーデータ(2026年3月分).xlsx … 44,000件以上の生産機械センサーデータ</a:t>
            </a:r>
          </a:p>
          <a:p>
            <a:pPr algn="l"/>
            <a:r>
              <a:rPr sz="1300" b="0">
                <a:solidFill>
                  <a:srgbClr val="202020"/>
                </a:solidFill>
                <a:latin typeface="Meiryo UI"/>
              </a:rPr>
              <a:t>・生産実績データ(2026年3月分).xlsx … 20,000件以上の生産実績・不良率データ</a:t>
            </a:r>
          </a:p>
        </p:txBody>
      </p:sp>
      <p:sp>
        <p:nvSpPr>
          <p:cNvPr id="5" name="TextBox 4"/>
          <p:cNvSpPr txBox="1"/>
          <p:nvPr/>
        </p:nvSpPr>
        <p:spPr>
          <a:xfrm>
            <a:off x="822960" y="2377440"/>
            <a:ext cx="10607040" cy="457200"/>
          </a:xfrm>
          <a:prstGeom prst="rect">
            <a:avLst/>
          </a:prstGeom>
          <a:noFill/>
        </p:spPr>
        <p:txBody>
          <a:bodyPr wrap="square">
            <a:spAutoFit/>
          </a:bodyPr>
          <a:lstStyle/>
          <a:p>
            <a:pPr algn="l"/>
            <a:r>
              <a:rPr sz="1800" b="1">
                <a:solidFill>
                  <a:srgbClr val="C4314B"/>
                </a:solidFill>
                <a:latin typeface="Meiryo UI"/>
              </a:rPr>
              <a:t>入力プロンプト(モデル: Opus)</a:t>
            </a:r>
          </a:p>
        </p:txBody>
      </p:sp>
      <p:sp>
        <p:nvSpPr>
          <p:cNvPr id="6" name="Rectangle 5"/>
          <p:cNvSpPr/>
          <p:nvPr/>
        </p:nvSpPr>
        <p:spPr>
          <a:xfrm>
            <a:off x="822960" y="2880360"/>
            <a:ext cx="10607040" cy="3108960"/>
          </a:xfrm>
          <a:prstGeom prst="rect">
            <a:avLst/>
          </a:prstGeom>
          <a:solidFill>
            <a:srgbClr val="FDF2F4"/>
          </a:solidFill>
          <a:ln>
            <a:solidFill>
              <a:srgbClr val="C431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a:solidFill>
                  <a:srgbClr val="202020"/>
                </a:solidFill>
                <a:latin typeface="Meiryo UI"/>
              </a:rPr>
              <a:t>この2つデータから。ブラウザで操作することができるダッシュボードを作ってください。</a:t>
            </a:r>
          </a:p>
          <a:p>
            <a:r>
              <a:rPr sz="1250">
                <a:solidFill>
                  <a:srgbClr val="202020"/>
                </a:solidFill>
                <a:latin typeface="Meiryo UI"/>
              </a:rPr>
              <a:t>・背景は白、メリハリのある鮮やかな色合い、グラフの文字も太く分かりやすく</a:t>
            </a:r>
          </a:p>
          <a:p>
            <a:r>
              <a:rPr sz="1250">
                <a:solidFill>
                  <a:srgbClr val="202020"/>
                </a:solidFill>
                <a:latin typeface="Meiryo UI"/>
              </a:rPr>
              <a:t>・ダッシュボードはWebブラウザの横幅に合わせて表示</a:t>
            </a:r>
          </a:p>
          <a:p>
            <a:r>
              <a:rPr sz="1250">
                <a:solidFill>
                  <a:srgbClr val="202020"/>
                </a:solidFill>
                <a:latin typeface="Meiryo UI"/>
              </a:rPr>
              <a:t>・最上部にカレンダー表示で日付選択と、その横に各種KPIを表示</a:t>
            </a:r>
          </a:p>
          <a:p>
            <a:r>
              <a:rPr sz="1250">
                <a:solidFill>
                  <a:srgbClr val="202020"/>
                </a:solidFill>
                <a:latin typeface="Meiryo UI"/>
              </a:rPr>
              <a:t>・日付はクリックすることができるように</a:t>
            </a:r>
          </a:p>
          <a:p>
            <a:r>
              <a:rPr sz="1250">
                <a:solidFill>
                  <a:srgbClr val="202020"/>
                </a:solidFill>
                <a:latin typeface="Meiryo UI"/>
              </a:rPr>
              <a:t>・横軸の時間は7時から21時まで</a:t>
            </a:r>
          </a:p>
          <a:p>
            <a:r>
              <a:rPr sz="1250">
                <a:solidFill>
                  <a:srgbClr val="202020"/>
                </a:solidFill>
                <a:latin typeface="Meiryo UI"/>
              </a:rPr>
              <a:t>・時間は5分刻み</a:t>
            </a:r>
          </a:p>
          <a:p>
            <a:r>
              <a:rPr sz="1250">
                <a:solidFill>
                  <a:srgbClr val="202020"/>
                </a:solidFill>
                <a:latin typeface="Meiryo UI"/>
              </a:rPr>
              <a:t>・グラフのスケールはどの日付を選んでも一定</a:t>
            </a:r>
          </a:p>
          <a:p>
            <a:r>
              <a:rPr sz="1250">
                <a:solidFill>
                  <a:srgbClr val="202020"/>
                </a:solidFill>
                <a:latin typeface="Meiryo UI"/>
              </a:rPr>
              <a:t>・グラフは段組みをしない</a:t>
            </a:r>
          </a:p>
          <a:p>
            <a:r>
              <a:rPr sz="1250">
                <a:solidFill>
                  <a:srgbClr val="202020"/>
                </a:solidFill>
                <a:latin typeface="Meiryo UI"/>
              </a:rPr>
              <a:t>・下部にはセンサーデータと不良品率を重ねて相関関係も分かるようなものも他のグラフと同じサイズで分かるように</a:t>
            </a:r>
          </a:p>
        </p:txBody>
      </p:sp>
      <p:sp>
        <p:nvSpPr>
          <p:cNvPr id="7" name="TextBox 6"/>
          <p:cNvSpPr txBox="1"/>
          <p:nvPr/>
        </p:nvSpPr>
        <p:spPr>
          <a:xfrm>
            <a:off x="822960" y="6126480"/>
            <a:ext cx="10607040" cy="640080"/>
          </a:xfrm>
          <a:prstGeom prst="rect">
            <a:avLst/>
          </a:prstGeom>
          <a:noFill/>
        </p:spPr>
        <p:txBody>
          <a:bodyPr wrap="square">
            <a:spAutoFit/>
          </a:bodyPr>
          <a:lstStyle/>
          <a:p>
            <a:pPr algn="l"/>
            <a:r>
              <a:rPr sz="1300" b="0">
                <a:solidFill>
                  <a:srgbClr val="606060"/>
                </a:solidFill>
                <a:latin typeface="Meiryo UI"/>
              </a:rPr>
              <a:t>ポイント:レイアウト・配色・軸・スケール・インタラクションまで箇条書きで具体的に指定。高精度モデル Opus を選択。</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入力データ:センサー44,000件+生産実績・不良率20,000件</a:t>
            </a:r>
          </a:p>
        </p:txBody>
      </p:sp>
      <p:pic>
        <p:nvPicPr>
          <p:cNvPr id="3" name="Picture 2" descr="f_033.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左:生産機械のセンサーデータ(2026年3月分)/右:生産実績・不良率データ(2026年3月分)の2つの Excel を使用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モデル選択:Opus を選び「+」からファイルを添付</a:t>
            </a:r>
          </a:p>
        </p:txBody>
      </p:sp>
      <p:pic>
        <p:nvPicPr>
          <p:cNvPr id="3" name="Picture 2" descr="f_037.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リサーチツールのモデル切替で Opus を選択。+メニューから「画像とファイルのアップロード」で2ファイルを添付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プロンプト入力:要件を箇条書きで細かく指定</a:t>
            </a:r>
          </a:p>
        </p:txBody>
      </p:sp>
      <p:pic>
        <p:nvPicPr>
          <p:cNvPr id="3" name="Picture 2" descr="f_041.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背景色・横幅フィット・カレンダー+KPI配置・時間軸(7〜21時/5分刻み)・スケール固定・段組みなし・相関グラフなど10項目を指定</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実行中:データ構造の確認 → コーディングと実行を繰り返し</a:t>
            </a:r>
          </a:p>
        </p:txBody>
      </p:sp>
      <p:pic>
        <p:nvPicPr>
          <p:cNvPr id="3" name="Picture 2" descr="f_049.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Opus が「データの構造を確認できました。早速、ダッシュボードを作成します」と応答し、「コーディングと実行」を複数回自動で繰り返す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出力:完成報告と dashboard.html のダウンロードリンク</a:t>
            </a:r>
          </a:p>
        </p:txBody>
      </p:sp>
      <p:pic>
        <p:nvPicPr>
          <p:cNvPr id="3" name="Picture 2" descr="f_053.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「ダッシュボードが完成しました!」と報告。カレンダー+KPI(不良率1%超で赤色アラート)、段組みなしフル幅・スケール固定のグラフ構成などの特徴を説明</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出力:製造ライン統合ダッシュボード(正常日)</a:t>
            </a:r>
          </a:p>
        </p:txBody>
      </p:sp>
      <p:pic>
        <p:nvPicPr>
          <p:cNvPr id="3" name="Picture 2" descr="f_057.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指定通り最上部にカレンダー(日付クリック可)と、生産数量・歩留り・振動危険度・センサー異常のKPIゲージ。下に月間の生産数量&amp;歩留りグラフ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出力:時系列グラフ(7時〜21時・5分刻み・スケール固定)</a:t>
            </a:r>
          </a:p>
        </p:txBody>
      </p:sp>
      <p:pic>
        <p:nvPicPr>
          <p:cNvPr id="3" name="Picture 2" descr="f_061.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回転数RPMなど各センサーの時系列グラフ。横軸は指定通り7時〜21時で、どの日付を選んでもスケールが一定</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出力:異常日(3/30)を選択 → KPIが赤色アラートに</a:t>
            </a:r>
          </a:p>
        </p:txBody>
      </p:sp>
      <p:pic>
        <p:nvPicPr>
          <p:cNvPr id="3" name="Picture 2" descr="f_069.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3/30 を選ぶと歩留り 99.845%・振動 13.38mm/s・センサー異常 85件が赤色ゲージに変化。9時台に不良率スパイクが発生していることが一目で分かる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出力:機械温度など他センサーも異常を確認</a:t>
            </a:r>
          </a:p>
        </p:txBody>
      </p:sp>
      <p:pic>
        <p:nvPicPr>
          <p:cNvPr id="3" name="Picture 2" descr="f_073.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機械温度グラフでは9時前後に温度の急上昇を確認。湿度・外気温など他のセンサーデータも同一ページで確認できる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デモ② 出力:AI相関分析(センサー値 × 不良率)</a:t>
            </a:r>
          </a:p>
        </p:txBody>
      </p:sp>
      <p:pic>
        <p:nvPicPr>
          <p:cNvPr id="3" name="Picture 2" descr="f_077.png"/>
          <p:cNvPicPr>
            <a:picLocks noChangeAspect="1"/>
          </p:cNvPicPr>
          <p:nvPr/>
        </p:nvPicPr>
        <p:blipFill>
          <a:blip r:embed="rId2"/>
          <a:stretch>
            <a:fillRect/>
          </a:stretch>
        </p:blipFill>
        <p:spPr>
          <a:xfrm>
            <a:off x="1432407" y="868680"/>
            <a:ext cx="9326880" cy="5246369"/>
          </a:xfrm>
          <a:prstGeom prst="rect">
            <a:avLst/>
          </a:prstGeom>
        </p:spPr>
      </p:pic>
      <p:sp>
        <p:nvSpPr>
          <p:cNvPr id="4" name="TextBox 3"/>
          <p:cNvSpPr txBox="1"/>
          <p:nvPr/>
        </p:nvSpPr>
        <p:spPr>
          <a:xfrm>
            <a:off x="548640" y="6263640"/>
            <a:ext cx="11064240" cy="457200"/>
          </a:xfrm>
          <a:prstGeom prst="rect">
            <a:avLst/>
          </a:prstGeom>
          <a:noFill/>
        </p:spPr>
        <p:txBody>
          <a:bodyPr wrap="square">
            <a:spAutoFit/>
          </a:bodyPr>
          <a:lstStyle/>
          <a:p>
            <a:pPr algn="l"/>
            <a:r>
              <a:rPr sz="1200" b="0">
                <a:solidFill>
                  <a:srgbClr val="606060"/>
                </a:solidFill>
                <a:latin typeface="Meiryo UI"/>
              </a:rPr>
              <a:t>時系列クロス相関(CCF)で「騒音は不良率より15分早く変化(ラグ15分で r=0.627)」を検出し、騒音が不良発生の強力な予兆シグナルであると自動分析。騒音/振動/RPM/機械温度/電圧を切替可能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F6CB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Meiryo UI"/>
              </a:rPr>
              <a:t>まとめ:プロンプトと出力の対応</a:t>
            </a:r>
          </a:p>
        </p:txBody>
      </p:sp>
      <p:sp>
        <p:nvSpPr>
          <p:cNvPr id="3" name="TextBox 2"/>
          <p:cNvSpPr txBox="1"/>
          <p:nvPr/>
        </p:nvSpPr>
        <p:spPr>
          <a:xfrm>
            <a:off x="640080" y="1005840"/>
            <a:ext cx="10972800" cy="5303520"/>
          </a:xfrm>
          <a:prstGeom prst="rect">
            <a:avLst/>
          </a:prstGeom>
          <a:noFill/>
        </p:spPr>
        <p:txBody>
          <a:bodyPr wrap="square">
            <a:spAutoFit/>
          </a:bodyPr>
          <a:lstStyle/>
          <a:p>
            <a:pPr algn="l"/>
            <a:r>
              <a:rPr sz="1450" b="0">
                <a:solidFill>
                  <a:srgbClr val="202020"/>
                </a:solidFill>
                <a:latin typeface="Meiryo UI"/>
              </a:rPr>
              <a:t>■ デモ①(Sonnet × シンプルプロンプト)</a:t>
            </a:r>
          </a:p>
          <a:p>
            <a:pPr algn="l"/>
            <a:r>
              <a:rPr sz="1450" b="0">
                <a:solidFill>
                  <a:srgbClr val="202020"/>
                </a:solidFill>
                <a:latin typeface="Meiryo UI"/>
              </a:rPr>
              <a:t>    入力:売上 Excel(1万件超)+「グラフを多用した使いやすいインタラクティブなダッシュボードを作成して」の1文</a:t>
            </a:r>
          </a:p>
          <a:p>
            <a:pPr algn="l"/>
            <a:r>
              <a:rPr sz="1450" b="0">
                <a:solidFill>
                  <a:srgbClr val="202020"/>
                </a:solidFill>
                <a:latin typeface="Meiryo UI"/>
              </a:rPr>
              <a:t>    出力:KPI 5指標+7種グラフ+3種フィルター連動のダークテーマ HTML ダッシュボード</a:t>
            </a:r>
          </a:p>
          <a:p>
            <a:pPr algn="l"/>
            <a:r>
              <a:rPr sz="1450" b="0">
                <a:solidFill>
                  <a:srgbClr val="202020"/>
                </a:solidFill>
                <a:latin typeface="Meiryo UI"/>
              </a:rPr>
              <a:t>    → 細かい指定をしなくても、データ構造を自動解釈して実用的なダッシュボードが完成</a:t>
            </a:r>
          </a:p>
          <a:p>
            <a:pPr algn="l"/>
          </a:p>
          <a:p>
            <a:pPr algn="l"/>
            <a:r>
              <a:rPr sz="1450" b="0">
                <a:solidFill>
                  <a:srgbClr val="202020"/>
                </a:solidFill>
                <a:latin typeface="Meiryo UI"/>
              </a:rPr>
              <a:t>■ デモ②(Opus × 詳細プロンプト)</a:t>
            </a:r>
          </a:p>
          <a:p>
            <a:pPr algn="l"/>
            <a:r>
              <a:rPr sz="1450" b="0">
                <a:solidFill>
                  <a:srgbClr val="202020"/>
                </a:solidFill>
                <a:latin typeface="Meiryo UI"/>
              </a:rPr>
              <a:t>    入力:センサー+生産実績の2 Excel(計6万件超)+レイアウト・配色・軸・操作性を10項目指定した箇条書きプロンプト</a:t>
            </a:r>
          </a:p>
          <a:p>
            <a:pPr algn="l"/>
            <a:r>
              <a:rPr sz="1450" b="0">
                <a:solidFill>
                  <a:srgbClr val="202020"/>
                </a:solidFill>
                <a:latin typeface="Meiryo UI"/>
              </a:rPr>
              <a:t>    出力:カレンダー日付選択/KPIゲージ(異常時に赤色アラート)/7〜21時・5分刻み・スケール固定の時系列グラフ/</a:t>
            </a:r>
          </a:p>
          <a:p>
            <a:pPr algn="l"/>
            <a:r>
              <a:rPr sz="1450" b="0">
                <a:solidFill>
                  <a:srgbClr val="202020"/>
                </a:solidFill>
                <a:latin typeface="Meiryo UI"/>
              </a:rPr>
              <a:t>             センサー×不良率のAI相関分析(騒音がラグ15分・r=0.627 の先行指標)を備えた白背景 HTML ダッシュボード</a:t>
            </a:r>
          </a:p>
          <a:p>
            <a:pPr algn="l"/>
            <a:r>
              <a:rPr sz="1450" b="0">
                <a:solidFill>
                  <a:srgbClr val="202020"/>
                </a:solidFill>
                <a:latin typeface="Meiryo UI"/>
              </a:rPr>
              <a:t>    → 要件を具体的に書けば、その通りのUI・分析まで含めて生成される</a:t>
            </a:r>
          </a:p>
          <a:p>
            <a:pPr algn="l"/>
          </a:p>
          <a:p>
            <a:pPr algn="l"/>
            <a:r>
              <a:rPr sz="1450" b="0">
                <a:solidFill>
                  <a:srgbClr val="202020"/>
                </a:solidFill>
                <a:latin typeface="Meiryo UI"/>
              </a:rPr>
              <a:t>■ 活用のヒント</a:t>
            </a:r>
          </a:p>
          <a:p>
            <a:pPr algn="l"/>
            <a:r>
              <a:rPr sz="1450" b="0">
                <a:solidFill>
                  <a:srgbClr val="202020"/>
                </a:solidFill>
                <a:latin typeface="Meiryo UI"/>
              </a:rPr>
              <a:t>    ・手軽に試すなら Sonnet+短文、作り込むなら Opus+箇条書きの詳細要件指定が有効</a:t>
            </a:r>
          </a:p>
          <a:p>
            <a:pPr algn="l"/>
            <a:r>
              <a:rPr sz="1450" b="0">
                <a:solidFill>
                  <a:srgbClr val="202020"/>
                </a:solidFill>
                <a:latin typeface="Meiryo UI"/>
              </a:rPr>
              <a:t>    ・出力は HTML ファイルとしてダウンロードでき、ブラウザでそのまま操作可能</a:t>
            </a:r>
          </a:p>
          <a:p>
            <a:pPr algn="l"/>
            <a:r>
              <a:rPr sz="1450" b="0">
                <a:solidFill>
                  <a:srgbClr val="202020"/>
                </a:solidFill>
                <a:latin typeface="Meiryo UI"/>
              </a:rPr>
              <a:t>    ・Copilot Cowork と組み合わせれば、定期レポート作成(PowerPoint 生成+メール送付)まで自動化できる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
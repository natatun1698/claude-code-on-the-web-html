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eiryo"/>
              </a:defRPr>
            </a:pPr>
            <a:r>
              <a:t>商談ロープレ道場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A3C"/>
                </a:solidFill>
                <a:latin typeface="Meiryo"/>
              </a:defRPr>
            </a:pPr>
            <a:r>
              <a:t>医用機器営業のための音声ロールプレイング練習アプリ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初回利用者向けガイド</a:t>
            </a:r>
          </a:p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URLをクリックするだけ。ログイン不要。</a:t>
            </a:r>
          </a:p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iPhoneでもWindows PCでも使えます。</a:t>
            </a:r>
          </a:p>
        </p:txBody>
      </p:sp>
      <p:pic>
        <p:nvPicPr>
          <p:cNvPr id="5" name="Picture 4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594360"/>
            <a:ext cx="26196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05C"/>
                </a:solidFill>
                <a:latin typeface="Meiryo"/>
              </a:defRPr>
            </a:pPr>
            <a:r>
              <a:t>なぜ「練習」が必要なのか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2314F"/>
                </a:solidFill>
                <a:latin typeface="Meiryo"/>
              </a:defRPr>
            </a:pPr>
            <a:r>
              <a:t>営業活動＝本番、ロールプレイング＝練習。</a:t>
            </a:r>
          </a:p>
          <a:p>
            <a:pPr algn="l">
              <a:defRPr sz="1900" b="0">
                <a:solidFill>
                  <a:srgbClr val="22314F"/>
                </a:solidFill>
                <a:latin typeface="Meiryo"/>
              </a:defRPr>
            </a:pPr>
            <a:r>
              <a:t>練習なしの商談は、練習なしで試合に出るスポーツ選手と同じです。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5〜20分だけ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38F"/>
                </a:solidFill>
                <a:latin typeface="Meiryo"/>
              </a:defRPr>
            </a:pPr>
            <a:r>
              <a:t>大掛かりなロープレ大会は不要。明日の商談前にスキマ時間でサッと1本。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シーン単位で練習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3832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38F"/>
                </a:solidFill>
                <a:latin typeface="Meiryo"/>
              </a:defRPr>
            </a:pPr>
            <a:r>
              <a:t>オープニング／ヒアリング／製品説明／価格提示／クロージングに分割して練習。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指摘は1テーマだけ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3832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38F"/>
                </a:solidFill>
                <a:latin typeface="Meiryo"/>
              </a:defRPr>
            </a:pPr>
            <a:r>
              <a:t>1回のロープレで評価するテーマは1つ。確実に1歩ずつ上達。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05C"/>
                </a:solidFill>
                <a:latin typeface="Meiryo"/>
              </a:defRPr>
            </a:pPr>
            <a:r>
              <a:t>スコア・称号・連続日数の記録つき。ゲーム感覚で何度でも。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305C"/>
                </a:solidFill>
                <a:latin typeface="Meiryo"/>
              </a:defRPr>
            </a:pPr>
            <a:r>
              <a:t>STEP 1・2　シーンと「今日の事務長」を選ぶ</a:t>
            </a:r>
          </a:p>
        </p:txBody>
      </p:sp>
      <p:pic>
        <p:nvPicPr>
          <p:cNvPr id="3" name="Picture 2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2619691" cy="5669280"/>
          </a:xfrm>
          <a:prstGeom prst="rect">
            <a:avLst/>
          </a:prstGeom>
        </p:spPr>
      </p:pic>
      <p:pic>
        <p:nvPicPr>
          <p:cNvPr id="4" name="Picture 3" descr="2-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68680"/>
            <a:ext cx="2619691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① シーンを選ぶ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5つの商談シーンから1つ。トップには通算回数・連続日数・自己ベストが表示されます。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108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② 事務長モードを選ぶ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65760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😊 やさしい: 最後まで聞いてくれる。初心者向け</a:t>
            </a:r>
          </a:p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😐 普通: 淡々と確認。わかりにくいと聞き返される</a:t>
            </a:r>
          </a:p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😠 忙しくて怖い: 「5分しかない」。前置きが長いと遮られ、歯切れが悪いと商談打ち切りも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305C"/>
                </a:solidFill>
                <a:latin typeface="Meiryo"/>
              </a:defRPr>
            </a:pPr>
            <a:r>
              <a:t>STEP 3・4　評価テーマを1つ選び、時間を決めて開始</a:t>
            </a:r>
          </a:p>
        </p:txBody>
      </p:sp>
      <p:pic>
        <p:nvPicPr>
          <p:cNvPr id="3" name="Picture 2" descr="3-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2619691" cy="5669280"/>
          </a:xfrm>
          <a:prstGeom prst="rect">
            <a:avLst/>
          </a:prstGeom>
        </p:spPr>
      </p:pic>
      <p:pic>
        <p:nvPicPr>
          <p:cNvPr id="4" name="Picture 3" descr="4-pr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68680"/>
            <a:ext cx="2619691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③ 評価テーマを1つ選ぶ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専門用語を使わない／値引きに価値で切り返す／結論から簡潔に／質問の意図を汲む、の4つから今日鍛えるテーマを1つだけ。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566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④ 時間を選んで開始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5〜20分から選択。開始前に「今日のコツ」が表示されます。</a:t>
            </a:r>
          </a:p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最初にマイクの許可を求められたら「許可」を押してください。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305C"/>
                </a:solidFill>
                <a:latin typeface="Meiryo"/>
              </a:defRPr>
            </a:pPr>
            <a:r>
              <a:t>ロープレ画面　マイクで話す/テキストで打つ、どちらでもOK</a:t>
            </a:r>
          </a:p>
        </p:txBody>
      </p:sp>
      <p:pic>
        <p:nvPicPr>
          <p:cNvPr id="3" name="Picture 2" descr="5-play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2619691" cy="5669280"/>
          </a:xfrm>
          <a:prstGeom prst="rect">
            <a:avLst/>
          </a:prstGeom>
        </p:spPr>
      </p:pic>
      <p:pic>
        <p:nvPicPr>
          <p:cNvPr id="4" name="Picture 3" descr="6-play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68680"/>
            <a:ext cx="2619691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005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🎤 音声モード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「タップして話す」を押してから話します。話し終えると事務長が音声で返答し、マイクは自動で再開します。上部に残り時間タイマーを常時表示。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91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⌨️ テキストモード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84048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騒がしい場所や聞き取りに失敗するときは「テキストに切替」。静かな場所では「読み上げOFF」で無音練習もできます。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3949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305C"/>
                </a:solidFill>
                <a:latin typeface="Meiryo"/>
              </a:defRPr>
            </a:pPr>
            <a:r>
              <a:t>⚠ 専門用語を使うと「それって何ですか？」と必ず聞き返されます。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305C"/>
                </a:solidFill>
                <a:latin typeface="Meiryo"/>
              </a:defRPr>
            </a:pPr>
            <a:r>
              <a:t>結果画面　今日のテーマだけを採点、改善点は1つだけ</a:t>
            </a:r>
          </a:p>
        </p:txBody>
      </p:sp>
      <p:pic>
        <p:nvPicPr>
          <p:cNvPr id="3" name="Picture 2" descr="7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868680"/>
            <a:ext cx="2619691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0972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結果の見かた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64592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314F"/>
                </a:solidFill>
                <a:latin typeface="Meiryo"/>
              </a:defRPr>
            </a:pPr>
            <a:r>
              <a:t>① テーマ達成度: ◎（85点以上）／○／△／×</a:t>
            </a:r>
          </a:p>
          <a:p>
            <a:pPr algn="l">
              <a:defRPr sz="1500" b="0">
                <a:solidFill>
                  <a:srgbClr val="22314F"/>
                </a:solidFill>
                <a:latin typeface="Meiryo"/>
              </a:defRPr>
            </a:pPr>
            <a:r>
              <a:t>② スコアと称号: 「事務長攻略度100点: 事務長攻略マスター」など6段階</a:t>
            </a:r>
          </a:p>
          <a:p>
            <a:pPr algn="l">
              <a:defRPr sz="1500" b="0">
                <a:solidFill>
                  <a:srgbClr val="22314F"/>
                </a:solidFill>
                <a:latin typeface="Meiryo"/>
              </a:defRPr>
            </a:pPr>
            <a:r>
              <a:t>③ 良かった発言: あなたの実際の発言を1つ引用</a:t>
            </a:r>
          </a:p>
          <a:p>
            <a:pPr algn="l">
              <a:defRPr sz="1500" b="0">
                <a:solidFill>
                  <a:srgbClr val="22314F"/>
                </a:solidFill>
                <a:latin typeface="Meiryo"/>
              </a:defRPr>
            </a:pPr>
            <a:r>
              <a:t>④ 改善点: 1つだけ。すぐ使える言い換え例つき</a:t>
            </a:r>
          </a:p>
          <a:p>
            <a:pPr algn="l">
              <a:defRPr sz="1500" b="0">
                <a:solidFill>
                  <a:srgbClr val="22314F"/>
                </a:solidFill>
                <a:latin typeface="Meiryo"/>
              </a:defRPr>
            </a:pPr>
            <a:r>
              <a:t>⑤ 記録: 通算回数・連続日数・自己ベストが自動で貯まります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50292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05C"/>
                </a:solidFill>
                <a:latin typeface="Meiryo"/>
              </a:defRPr>
            </a:pPr>
            <a:r>
              <a:t>「同じ条件でもう一度」で反復練習、「次のテーマへ」で別の力を鍛える。</a:t>
            </a:r>
          </a:p>
          <a:p>
            <a:pPr algn="l">
              <a:defRPr sz="1500" b="1">
                <a:solidFill>
                  <a:srgbClr val="16305C"/>
                </a:solidFill>
                <a:latin typeface="Meiryo"/>
              </a:defRPr>
            </a:pPr>
            <a:r>
              <a:t>選んだテーマ以外（声のトーンなど）には一切言及しません。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05C"/>
                </a:solidFill>
                <a:latin typeface="Meiryo"/>
              </a:defRPr>
            </a:pPr>
            <a:r>
              <a:t>音声がうまく聞き取られないときは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A3C"/>
                </a:solidFill>
                <a:latin typeface="Meiryo"/>
              </a:defRPr>
            </a:pPr>
            <a:r>
              <a:t>🎤 マイクの許可を確認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3716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初回の「マイクを許可しますか」で「許可」を選択。iPhoneは「設定 &gt; Siriと検索 &gt; 音声入力」もONに。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A3C"/>
                </a:solidFill>
                <a:latin typeface="Meiryo"/>
              </a:defRPr>
            </a:pPr>
            <a:r>
              <a:t>🗣 ボタンを押してから一呼吸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774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「タップして話す」を押して、少し間を置いてから話し始めると認識されやすくなります。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A3C"/>
                </a:solidFill>
                <a:latin typeface="Meiryo"/>
              </a:defRPr>
            </a:pPr>
            <a:r>
              <a:t>👀 聞き取り中の文字を確認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8328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話している間、認識された言葉がマイクボタンに表示されます。表示されない場合は聞き取れていません。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A3C"/>
                </a:solidFill>
                <a:latin typeface="Meiryo"/>
              </a:defRPr>
            </a:pPr>
            <a:r>
              <a:t>⌨️ テキスト入力に切替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3891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何度も失敗するときは「テキストに切替」でキーボード入力へ。いつでも音声に戻せます。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A3C"/>
                </a:solidFill>
                <a:latin typeface="Meiryo"/>
              </a:defRPr>
            </a:pPr>
            <a:r>
              <a:t>📱 推奨ブラウザ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39496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314F"/>
                </a:solidFill>
                <a:latin typeface="Meiryo"/>
              </a:defRPr>
            </a:pPr>
            <a:r>
              <a:t>iPhoneはSafari、WindowsはChrome/Edge。非対応ブラウザでは自動的にテキストモードになります。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まずはこの1本から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新人の方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5544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eiryo"/>
              </a:defRPr>
            </a:pPr>
            <a:r>
              <a:t>「製品説明」×「やさしい事務長」×「専門用語を使わない」×10分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値引きに悩む方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6517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eiryo"/>
              </a:defRPr>
            </a:pPr>
            <a:r>
              <a:t>「価格提示」×「普通の事務長」×「価格以外の価値で切り返す」×10分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3C"/>
                </a:solidFill>
                <a:latin typeface="Meiryo"/>
              </a:defRPr>
            </a:pPr>
            <a:r>
              <a:t>腕に自信のある方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490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Meiryo"/>
              </a:defRPr>
            </a:pPr>
            <a:r>
              <a:t>「クロージング」×「忙しくて怖い事務長」×「結論から簡潔に」×5分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目指せ「事務長攻略マスター」（90点以上）!</a:t>
            </a:r>
          </a:p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毎日1本で連続日数記録も伸びます。明日の商談前に、まず1本どうぞ。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
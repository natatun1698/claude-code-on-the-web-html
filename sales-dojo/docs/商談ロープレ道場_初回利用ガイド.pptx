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30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202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Meiryo"/>
              </a:defRPr>
            </a:pPr>
            <a:r>
              <a:t>商談ロープレ道場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1089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7A3C"/>
                </a:solidFill>
                <a:latin typeface="Meiryo"/>
              </a:defRPr>
            </a:pPr>
            <a:r>
              <a:t>— 医用機器営業のための音声ロールプレイング練習アプリ 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0624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Meiryo"/>
              </a:defRPr>
            </a:pPr>
            <a:r>
              <a:t>初回利用者向けガイド</a:t>
            </a:r>
          </a:p>
          <a:p>
            <a:pPr algn="ctr">
              <a:defRPr sz="1800" b="0">
                <a:solidFill>
                  <a:srgbClr val="FFFFFF"/>
                </a:solidFill>
                <a:latin typeface="Meiryo"/>
              </a:defRPr>
            </a:pPr>
            <a:r>
              <a:t>URLをクリックするだけ。ログイン不要・iPhoneでもWindows PCでも。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6305C"/>
                </a:solidFill>
                <a:latin typeface="Meiryo"/>
              </a:defRPr>
            </a:pPr>
            <a:r>
              <a:t>なぜ「練習」が必要なのか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22314F"/>
                </a:solidFill>
                <a:latin typeface="Meiryo"/>
              </a:defRPr>
            </a:pPr>
            <a:r>
              <a:t>営業活動＝本番、ロールプレイング＝練習。</a:t>
            </a:r>
          </a:p>
          <a:p>
            <a:pPr algn="l">
              <a:defRPr sz="2000" b="0">
                <a:solidFill>
                  <a:srgbClr val="22314F"/>
                </a:solidFill>
                <a:latin typeface="Meiryo"/>
              </a:defRPr>
            </a:pPr>
            <a:r>
              <a:t>練習なしの商談は、練習なしで試合に出るスポーツ選手と同じです。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7A3C"/>
                </a:solidFill>
                <a:latin typeface="Meiryo"/>
              </a:defRPr>
            </a:pPr>
            <a:r>
              <a:t>5〜20分だけ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38328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4738F"/>
                </a:solidFill>
                <a:latin typeface="Meiryo"/>
              </a:defRPr>
            </a:pPr>
            <a:r>
              <a:t>大掛かりなロープレ大会は不要。明日の商談前に、スキマ時間でサッと1本。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7432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7A3C"/>
                </a:solidFill>
                <a:latin typeface="Meiryo"/>
              </a:defRPr>
            </a:pPr>
            <a:r>
              <a:t>シーン単位で練習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338328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4738F"/>
                </a:solidFill>
                <a:latin typeface="Meiryo"/>
              </a:defRPr>
            </a:pPr>
            <a:r>
              <a:t>商談を丸ごとやらず、オープニング／ヒアリング／製品説明／価格提示／クロージングに分割。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27432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7A3C"/>
                </a:solidFill>
                <a:latin typeface="Meiryo"/>
              </a:defRPr>
            </a:pPr>
            <a:r>
              <a:t>指摘は1テーマだけ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338328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4738F"/>
                </a:solidFill>
                <a:latin typeface="Meiryo"/>
              </a:defRPr>
            </a:pPr>
            <a:r>
              <a:t>1回のロープレで評価するテーマは1つ。あれこれ言われず、確実に1歩ずつ上達。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607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6305C"/>
                </a:solidFill>
                <a:latin typeface="Meiryo"/>
              </a:defRPr>
            </a:pPr>
            <a:r>
              <a:t>スコア・称号・連続日数の記録つき。ゲーム感覚で何度でも。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6305C"/>
                </a:solidFill>
                <a:latin typeface="Meiryo"/>
              </a:defRPr>
            </a:pPr>
            <a:r>
              <a:t>対戦相手：山田事務長(AI)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2314F"/>
                </a:solidFill>
                <a:latin typeface="Meiryo"/>
              </a:defRPr>
            </a:pPr>
            <a:r>
              <a:t>医療従事者ではないので、専門用語(DICOM・被ばく線量など)は通じません。</a:t>
            </a:r>
          </a:p>
          <a:p>
            <a:pPr algn="l">
              <a:defRPr sz="1800" b="0">
                <a:solidFill>
                  <a:srgbClr val="22314F"/>
                </a:solidFill>
                <a:latin typeface="Meiryo"/>
              </a:defRPr>
            </a:pPr>
            <a:r>
              <a:t>使うと必ず「それって何ですか？」と聞き返されます。関心は経営面(コスト・差別化・運用負担)だけ。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51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7A3C"/>
                </a:solidFill>
                <a:latin typeface="Meiryo"/>
              </a:defRPr>
            </a:pPr>
            <a:r>
              <a:t>😊 モードA やさしい事務長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546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4738F"/>
                </a:solidFill>
                <a:latin typeface="Meiryo"/>
              </a:defRPr>
            </a:pPr>
            <a:r>
              <a:t>最後まで聞いて相槌。わからないことは素直に質問してくれる。初心者はここから。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862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7A3C"/>
                </a:solidFill>
                <a:latin typeface="Meiryo"/>
              </a:defRPr>
            </a:pPr>
            <a:r>
              <a:t>😐 モードB 普通の事務長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4738F"/>
                </a:solidFill>
                <a:latin typeface="Meiryo"/>
              </a:defRPr>
            </a:pPr>
            <a:r>
              <a:t>淡々と必要事項を確認。わかりにくい説明には1回だけ「もう少し簡単に言うと？」。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7A3C"/>
                </a:solidFill>
                <a:latin typeface="Meiryo"/>
              </a:defRPr>
            </a:pPr>
            <a:r>
              <a:t>😠 モードC 忙しくて怖い事務長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62356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4738F"/>
                </a:solidFill>
                <a:latin typeface="Meiryo"/>
              </a:defRPr>
            </a:pPr>
            <a:r>
              <a:t>「5分しかない」。前置きが長いと遮られ、値引きを迫られ、歯切れが悪いと商談打ち切りも。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09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6305C"/>
                </a:solidFill>
                <a:latin typeface="Meiryo"/>
              </a:defRPr>
            </a:pPr>
            <a:r>
              <a:t>※あなたの会社は業界No.2。値引きはできません。価格以外の価値で切り返しましょう。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6305C"/>
                </a:solidFill>
                <a:latin typeface="Meiryo"/>
              </a:defRPr>
            </a:pPr>
            <a:r>
              <a:t>使い方は4ステップ + 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463040" cy="548640"/>
          </a:xfrm>
          <a:prstGeom prst="rect">
            <a:avLst/>
          </a:prstGeom>
          <a:solidFill>
            <a:srgbClr val="16305C"/>
          </a:solidFill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STEP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37160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22314F"/>
                </a:solidFill>
                <a:latin typeface="Meiryo"/>
              </a:defRPr>
            </a:pPr>
            <a:r>
              <a:t>シーンを選ぶ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1371600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38F"/>
                </a:solidFill>
                <a:latin typeface="Meiryo"/>
              </a:defRPr>
            </a:pPr>
            <a:r>
              <a:t>オープニング／ヒアリング／製品説明／価格提示／クロージング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95728"/>
            <a:ext cx="1463040" cy="548640"/>
          </a:xfrm>
          <a:prstGeom prst="rect">
            <a:avLst/>
          </a:prstGeom>
          <a:solidFill>
            <a:srgbClr val="16305C"/>
          </a:solidFill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STEP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239572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22314F"/>
                </a:solidFill>
                <a:latin typeface="Meiryo"/>
              </a:defRPr>
            </a:pPr>
            <a:r>
              <a:t>事務長モードを選ぶ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2395728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38F"/>
                </a:solidFill>
                <a:latin typeface="Meiryo"/>
              </a:defRPr>
            </a:pPr>
            <a:r>
              <a:t>やさしい／普通／忙しくて怖い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9856"/>
            <a:ext cx="1463040" cy="548640"/>
          </a:xfrm>
          <a:prstGeom prst="rect">
            <a:avLst/>
          </a:prstGeom>
          <a:solidFill>
            <a:srgbClr val="16305C"/>
          </a:solidFill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STEP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3419856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22314F"/>
                </a:solidFill>
                <a:latin typeface="Meiryo"/>
              </a:defRPr>
            </a:pPr>
            <a:r>
              <a:t>評価テーマを1つ選ぶ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3419856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38F"/>
                </a:solidFill>
                <a:latin typeface="Meiryo"/>
              </a:defRPr>
            </a:pPr>
            <a:r>
              <a:t>専門用語NG／値引き切り返し／結論から簡潔に／質問の意図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43984"/>
            <a:ext cx="1463040" cy="548640"/>
          </a:xfrm>
          <a:prstGeom prst="rect">
            <a:avLst/>
          </a:prstGeom>
          <a:solidFill>
            <a:srgbClr val="16305C"/>
          </a:solidFill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STEP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4443984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22314F"/>
                </a:solidFill>
                <a:latin typeface="Meiryo"/>
              </a:defRPr>
            </a:pPr>
            <a:r>
              <a:t>時間を選んで開始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4443984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38F"/>
                </a:solidFill>
                <a:latin typeface="Meiryo"/>
              </a:defRPr>
            </a:pPr>
            <a:r>
              <a:t>5〜20分。残り時間タイマー表示。マイクをタップして話すだけ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468112"/>
            <a:ext cx="1463040" cy="548640"/>
          </a:xfrm>
          <a:prstGeom prst="rect">
            <a:avLst/>
          </a:prstGeom>
          <a:solidFill>
            <a:srgbClr val="FF7A3C"/>
          </a:solidFill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結果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5468112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22314F"/>
                </a:solidFill>
                <a:latin typeface="Meiryo"/>
              </a:defRPr>
            </a:pPr>
            <a:r>
              <a:t>採点とフィードバック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5468112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38F"/>
                </a:solidFill>
                <a:latin typeface="Meiryo"/>
              </a:defRPr>
            </a:pPr>
            <a:r>
              <a:t>達成度◎○△×・良かった発言の引用・改善点1つ・スコアと称号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6305C"/>
                </a:solidFill>
                <a:latin typeface="Meiryo"/>
              </a:defRPr>
            </a:pPr>
            <a:r>
              <a:t>音声のコツとトラブル対処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7A3C"/>
                </a:solidFill>
                <a:latin typeface="Meiryo"/>
              </a:defRPr>
            </a:pPr>
            <a:r>
              <a:t>🎤 マイクの許可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37160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314F"/>
                </a:solidFill>
                <a:latin typeface="Meiryo"/>
              </a:defRPr>
            </a:pPr>
            <a:r>
              <a:t>初回に「マイクを許可しますか」と出たら「許可」を選んでください。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7A3C"/>
                </a:solidFill>
                <a:latin typeface="Meiryo"/>
              </a:defRPr>
            </a:pPr>
            <a:r>
              <a:t>🗣 話し方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37744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314F"/>
                </a:solidFill>
                <a:latin typeface="Meiryo"/>
              </a:defRPr>
            </a:pPr>
            <a:r>
              <a:t>「タップして話す」を押してから話し、話し終わると自動で相手が返答します。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8328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7A3C"/>
                </a:solidFill>
                <a:latin typeface="Meiryo"/>
              </a:defRPr>
            </a:pPr>
            <a:r>
              <a:t>⌨️ 聞き取れないとき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38328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314F"/>
                </a:solidFill>
                <a:latin typeface="Meiryo"/>
              </a:defRPr>
            </a:pPr>
            <a:r>
              <a:t>「テキストに切替」でキーボード入力に変更できます。いつでも往復可能。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8912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7A3C"/>
                </a:solidFill>
                <a:latin typeface="Meiryo"/>
              </a:defRPr>
            </a:pPr>
            <a:r>
              <a:t>🔇 静かな場所では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43891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314F"/>
                </a:solidFill>
                <a:latin typeface="Meiryo"/>
              </a:defRPr>
            </a:pPr>
            <a:r>
              <a:t>「読み上げOFF」で音を出さずに練習できます(文字で会話)。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9496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7A3C"/>
                </a:solidFill>
                <a:latin typeface="Meiryo"/>
              </a:defRPr>
            </a:pPr>
            <a:r>
              <a:t>📱 対応環境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539496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2314F"/>
                </a:solidFill>
                <a:latin typeface="Meiryo"/>
              </a:defRPr>
            </a:pPr>
            <a:r>
              <a:t>iPhoneはSafari、WindowsはChrome/Edgeを推奨。音声非対応ブラウザでは自動でテキストモードになります。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30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eiryo"/>
              </a:defRPr>
            </a:pPr>
            <a:r>
              <a:t>まずはこの1本から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7A3C"/>
                </a:solidFill>
                <a:latin typeface="Meiryo"/>
              </a:defRPr>
            </a:pPr>
            <a:r>
              <a:t>新人の方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155448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Meiryo"/>
              </a:defRPr>
            </a:pPr>
            <a:r>
              <a:t>シーン「製品説明」×「やさしい事務長」×テーマ「専門用語を使わない」×10分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7A3C"/>
                </a:solidFill>
                <a:latin typeface="Meiryo"/>
              </a:defRPr>
            </a:pPr>
            <a:r>
              <a:t>値引きに悩む方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265176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Meiryo"/>
              </a:defRPr>
            </a:pPr>
            <a:r>
              <a:t>シーン「価格提示」×「普通の事務長」×テーマ「価格以外の価値で切り返す」×10分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49039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7A3C"/>
                </a:solidFill>
                <a:latin typeface="Meiryo"/>
              </a:defRPr>
            </a:pPr>
            <a:r>
              <a:t>腕に自信のある方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3749039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Meiryo"/>
              </a:defRPr>
            </a:pPr>
            <a:r>
              <a:t>シーン「クロージング」×「忙しくて怖い事務長」×テーマ「結論から簡潔に」×5分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目指せ「事務長攻略マスター」(90点以上)!</a:t>
            </a:r>
          </a:p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毎日1本で連続日数記録も伸びます。明日の商談前に、まず1本どうぞ。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
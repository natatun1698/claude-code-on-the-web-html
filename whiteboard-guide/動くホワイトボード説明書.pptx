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会議の実録画から切り出した画面を使った説明資料です。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AIで何をやりたいかではなく、現在利用可能なデータから、どの営業AIシナリオなら実現できるかをその場で議論するためのアプリ。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会議中の発言の趣旨。単なる一覧表ではなく、依存関係を見ながら会議を前に進めた。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会議では、1.データを並べる 2.利用可否を変えてシナリオの変化を見る 3.今使えるデータに絞る 4.実現可能なシナリオを絞る、の順に進めた。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データ候補：GETの案件、納入実績、アプリケーションニュース、Web検索、製造中止・保守部品供給停止など。いつ使えるかで4つの段に分けている。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データの設定を入れ替えると表示が赤・緑などに変化し、このデータが使えないとこのシナリオはできない、という関係性が見える。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やりたいことを全部並べるだけでなく、3月末までに使えそうなデータを前提に何が実現可能かを棚卸しする方向で議論。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今使えそうなデータを前提にすると、候補シナリオは15個程度まで絞られるという話になった。その後、営業全体で需要がありそうかなどでスクリーニングする。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シナリオをクリックすると、利用シーン、無いと動かないデータ、あれば厚くなるデータ、見込み、動作、きっかけ、今の道具、困りごと、ポータルでこう変わる、が見える。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ホワイトボード・付箋・Excelとの違い。発言の趣旨に基づく。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一般的な会議との比較イメージ。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営業AIポータル以外の会議にも応用できる考え方。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まとめ。梅津さんが説明する場合は『営業AIポータルの構想整理・優先順位付けをする意思決定支援ツール』という表現が一番近い。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普段の会議で動くホワイトボードがあれば、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こんなに良いことがある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営業AIポータル検討会で使った「今のデータでできること」アプリの活用ガイド</a:t>
            </a:r>
            <a:endParaRPr lang="en-US" sz="1800" dirty="0"/>
          </a:p>
        </p:txBody>
      </p:sp>
      <p:pic>
        <p:nvPicPr>
          <p:cNvPr id="4" name="title-shot" descr="/tmp/claude-0/-home-user-claude-code-on-the-web-html/53f94a46-e6d8-54d1-8e1a-6ddfddcfcfed/scratchpad/shots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566160"/>
            <a:ext cx="5303520" cy="266850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frame"/>
          <p:cNvSpPr/>
          <p:nvPr/>
        </p:nvSpPr>
        <p:spPr>
          <a:xfrm>
            <a:off x="6309360" y="3566160"/>
            <a:ext cx="5303520" cy="2668508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営業AIポータル検討会(対面)＠東支73会議室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6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このアプリは、会議で“動くホワイトボード”として使われた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CE9D4"/>
          </a:solidFill>
          <a:ln w="12700">
            <a:solidFill>
              <a:srgbClr val="FCE9D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「AIで何をやりたいか」ではなく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57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「今あるデータから、どの営業AIシナリオなら実現できるか」を、その場で議論する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32918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使えるか／いつ使えるか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 rot="10800000">
            <a:off x="2971800" y="4023360"/>
            <a:ext cx="274320" cy="137160"/>
          </a:xfrm>
          <a:prstGeom prst="triangl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548640" y="416052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60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実現可能性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4160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赤・緑で一目で分かる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 rot="10800000">
            <a:off x="2971800" y="4892040"/>
            <a:ext cx="274320" cy="137160"/>
          </a:xfrm>
          <a:prstGeom prst="triangl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548640" y="50292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029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営業シナリオ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どれが今できるか絞れる</a:t>
            </a:r>
            <a:endParaRPr lang="en-US" sz="1400" dirty="0"/>
          </a:p>
        </p:txBody>
      </p:sp>
      <p:pic>
        <p:nvPicPr>
          <p:cNvPr id="18" name="overview-shot" descr="/tmp/claude-0/-home-user-claude-code-on-the-web-html/53f94a46-e6d8-54d1-8e1a-6ddfddcfcfed/scratchpad/sho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5486400" cy="276052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9" name="frame"/>
          <p:cNvSpPr/>
          <p:nvPr/>
        </p:nvSpPr>
        <p:spPr>
          <a:xfrm>
            <a:off x="6126480" y="1463040"/>
            <a:ext cx="5486400" cy="2760525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12648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実際の会議画面：データ(左)とシナリオ(右)が1画面に並ぶ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126480" y="4937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一言でいうと「営業AIポータルの構想整理・優先順位付けをする意思決定支援ツール」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会議中、参加者から出た声：「ホワイトボードいらず」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打ち合わせする時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すごいいいですね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使ってすぐに価値が伝わった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297680" y="13716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280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ホワイトボード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いらず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書き写す・描き直す手間がない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8046720" y="13716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1280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関係性まで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 → 実現可能性 → シナリオ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単なる一覧表ではなく、依存関係を見ながら会議を前に進めるために使われていた</a:t>
            </a:r>
            <a:endParaRPr lang="en-US" sz="1800" dirty="0"/>
          </a:p>
        </p:txBody>
      </p:sp>
      <p:pic>
        <p:nvPicPr>
          <p:cNvPr id="17" name="voice-shot1" descr="/tmp/claude-0/-home-user-claude-code-on-the-web-html/53f94a46-e6d8-54d1-8e1a-6ddfddcfcfed/scratchpad/shot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94760"/>
            <a:ext cx="5029200" cy="253048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8" name="frame"/>
          <p:cNvSpPr/>
          <p:nvPr/>
        </p:nvSpPr>
        <p:spPr>
          <a:xfrm>
            <a:off x="548640" y="3794760"/>
            <a:ext cx="5029200" cy="2530482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pic>
        <p:nvPicPr>
          <p:cNvPr id="19" name="voice-shot2" descr="/tmp/claude-0/-home-user-claude-code-on-the-web-html/53f94a46-e6d8-54d1-8e1a-6ddfddcfcfed/scratchpad/shots/detail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794760"/>
            <a:ext cx="5029200" cy="253048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0" name="frame"/>
          <p:cNvSpPr/>
          <p:nvPr/>
        </p:nvSpPr>
        <p:spPr>
          <a:xfrm>
            <a:off x="6583680" y="3794760"/>
            <a:ext cx="5029200" cy="2530482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会議での使い方は、4ステップ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tep-circle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tep-num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データを並べる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使いたいデータ候補を一覧にする</a:t>
            </a:r>
            <a:endParaRPr lang="en-US" sz="1400" dirty="0"/>
          </a:p>
        </p:txBody>
      </p:sp>
      <p:pic>
        <p:nvPicPr>
          <p:cNvPr id="9" name="step-shot" descr="/tmp/claude-0/-home-user-claude-code-on-the-web-html/53f94a46-e6d8-54d1-8e1a-6ddfddcfcfed/scratchpad/sho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60520"/>
            <a:ext cx="2240280" cy="112721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0" name="frame"/>
          <p:cNvSpPr/>
          <p:nvPr/>
        </p:nvSpPr>
        <p:spPr>
          <a:xfrm>
            <a:off x="731520" y="4160520"/>
            <a:ext cx="2240280" cy="1127215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11" name="flow-arrow"/>
          <p:cNvSpPr/>
          <p:nvPr/>
        </p:nvSpPr>
        <p:spPr>
          <a:xfrm>
            <a:off x="3172968" y="3474720"/>
            <a:ext cx="210312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338328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step-circle"/>
          <p:cNvSpPr/>
          <p:nvPr/>
        </p:nvSpPr>
        <p:spPr>
          <a:xfrm>
            <a:off x="3611880" y="17830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step-num"/>
          <p:cNvSpPr txBox="1"/>
          <p:nvPr/>
        </p:nvSpPr>
        <p:spPr>
          <a:xfrm>
            <a:off x="36118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動かして見る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3017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利用可否を変えるとシナリオが変わる</a:t>
            </a:r>
            <a:endParaRPr lang="en-US" sz="1400" dirty="0"/>
          </a:p>
        </p:txBody>
      </p:sp>
      <p:pic>
        <p:nvPicPr>
          <p:cNvPr id="17" name="step-shot" descr="/tmp/claude-0/-home-user-claude-code-on-the-web-html/53f94a46-e6d8-54d1-8e1a-6ddfddcfcfed/scratchpad/shot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60520"/>
            <a:ext cx="2240280" cy="112721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8" name="frame"/>
          <p:cNvSpPr/>
          <p:nvPr/>
        </p:nvSpPr>
        <p:spPr>
          <a:xfrm>
            <a:off x="3566160" y="4160520"/>
            <a:ext cx="2240280" cy="1127215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19" name="flow-arrow"/>
          <p:cNvSpPr/>
          <p:nvPr/>
        </p:nvSpPr>
        <p:spPr>
          <a:xfrm>
            <a:off x="6007608" y="3474720"/>
            <a:ext cx="210312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card"/>
          <p:cNvSpPr/>
          <p:nvPr/>
        </p:nvSpPr>
        <p:spPr>
          <a:xfrm>
            <a:off x="621792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step-circle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step-num"/>
          <p:cNvSpPr txBox="1"/>
          <p:nvPr/>
        </p:nvSpPr>
        <p:spPr>
          <a:xfrm>
            <a:off x="6446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644652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今使えるものに絞る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3017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3月末までに使えるデータを前提に</a:t>
            </a:r>
            <a:endParaRPr lang="en-US" sz="1400" dirty="0"/>
          </a:p>
        </p:txBody>
      </p:sp>
      <p:pic>
        <p:nvPicPr>
          <p:cNvPr id="25" name="step-shot" descr="/tmp/claude-0/-home-user-claude-code-on-the-web-html/53f94a46-e6d8-54d1-8e1a-6ddfddcfcfed/scratchpad/shots/ho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60520"/>
            <a:ext cx="2240280" cy="112721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6" name="frame"/>
          <p:cNvSpPr/>
          <p:nvPr/>
        </p:nvSpPr>
        <p:spPr>
          <a:xfrm>
            <a:off x="6400800" y="4160520"/>
            <a:ext cx="2240280" cy="1127215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27" name="flow-arrow"/>
          <p:cNvSpPr/>
          <p:nvPr/>
        </p:nvSpPr>
        <p:spPr>
          <a:xfrm>
            <a:off x="8842248" y="3474720"/>
            <a:ext cx="210312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card"/>
          <p:cNvSpPr/>
          <p:nvPr/>
        </p:nvSpPr>
        <p:spPr>
          <a:xfrm>
            <a:off x="905256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step-circle"/>
          <p:cNvSpPr/>
          <p:nvPr/>
        </p:nvSpPr>
        <p:spPr>
          <a:xfrm>
            <a:off x="9281160" y="17830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0" name="step-num"/>
          <p:cNvSpPr txBox="1"/>
          <p:nvPr/>
        </p:nvSpPr>
        <p:spPr>
          <a:xfrm>
            <a:off x="92811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928116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シナリオを絞る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9281160" y="3017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実現可能な営業シナリオを選ぶ</a:t>
            </a:r>
            <a:endParaRPr lang="en-US" sz="1400" dirty="0"/>
          </a:p>
        </p:txBody>
      </p:sp>
      <p:pic>
        <p:nvPicPr>
          <p:cNvPr id="33" name="step-shot" descr="/tmp/claude-0/-home-user-claude-code-on-the-web-html/53f94a46-e6d8-54d1-8e1a-6ddfddcfcfed/scratchpad/shots/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4160520"/>
            <a:ext cx="2240280" cy="112721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34" name="frame"/>
          <p:cNvSpPr/>
          <p:nvPr/>
        </p:nvSpPr>
        <p:spPr>
          <a:xfrm>
            <a:off x="9235440" y="4160520"/>
            <a:ext cx="2240280" cy="1127215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使いたいデータを、1画面に並べる</a:t>
            </a:r>
            <a:endParaRPr lang="en-US" sz="2800" dirty="0"/>
          </a:p>
        </p:txBody>
      </p:sp>
      <p:pic>
        <p:nvPicPr>
          <p:cNvPr id="4" name="step1-shot" descr="/tmp/claude-0/-home-user-claude-code-on-the-web-html/53f94a46-e6d8-54d1-8e1a-6ddfddcfcfed/scratchpad/sho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955280" cy="400276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frame"/>
          <p:cNvSpPr/>
          <p:nvPr/>
        </p:nvSpPr>
        <p:spPr>
          <a:xfrm>
            <a:off x="548640" y="1371600"/>
            <a:ext cx="7955280" cy="4002762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6" name="highlight"/>
          <p:cNvSpPr/>
          <p:nvPr/>
        </p:nvSpPr>
        <p:spPr>
          <a:xfrm>
            <a:off x="657502" y="2334608"/>
            <a:ext cx="4203737" cy="2361462"/>
          </a:xfrm>
          <a:prstGeom prst="roundRect">
            <a:avLst>
              <a:gd name="adj" fmla="val 1936"/>
            </a:avLst>
          </a:prstGeom>
          <a:ln w="31750">
            <a:solidFill>
              <a:srgbClr val="F28C28"/>
            </a:solidFill>
            <a:prstDash val="solid"/>
          </a:ln>
        </p:spPr>
      </p:sp>
      <p:sp>
        <p:nvSpPr>
          <p:cNvPr id="7" name="badge"/>
          <p:cNvSpPr/>
          <p:nvPr/>
        </p:nvSpPr>
        <p:spPr>
          <a:xfrm>
            <a:off x="502054" y="2179160"/>
            <a:ext cx="310896" cy="310896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badge-num"/>
          <p:cNvSpPr txBox="1"/>
          <p:nvPr/>
        </p:nvSpPr>
        <p:spPr>
          <a:xfrm>
            <a:off x="502054" y="217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highlight"/>
          <p:cNvSpPr/>
          <p:nvPr/>
        </p:nvSpPr>
        <p:spPr>
          <a:xfrm>
            <a:off x="657502" y="1706559"/>
            <a:ext cx="3366340" cy="368455"/>
          </a:xfrm>
          <a:prstGeom prst="roundRect">
            <a:avLst>
              <a:gd name="adj" fmla="val 12409"/>
            </a:avLst>
          </a:prstGeom>
          <a:ln w="31750">
            <a:solidFill>
              <a:srgbClr val="3B6FB6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502054" y="1551111"/>
            <a:ext cx="310896" cy="310896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badge-num"/>
          <p:cNvSpPr txBox="1"/>
          <p:nvPr/>
        </p:nvSpPr>
        <p:spPr>
          <a:xfrm>
            <a:off x="502054" y="15511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440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実際の会議画面：データを「いつ使えるか」で4つの段に整理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778240" y="1417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 データの段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778240" y="187452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3月末に使える（9）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GETの案件・納入実績・アプリケーションニュース・外部Web検索・製造中止の日 など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条件つき（4）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許可が取れれば取り込める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入るが、たまるのは先（5）／後で足す（10）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次の一歩で足すデータ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778240" y="4389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 シナリオの件数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778240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「今すぐできる 16」「条件つき 7」など、状態ごとの件数が常に見える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データの使える・使えないを変えると、シナリオが変わる</a:t>
            </a:r>
            <a:endParaRPr lang="en-US" sz="2800" dirty="0"/>
          </a:p>
        </p:txBody>
      </p:sp>
      <p:pic>
        <p:nvPicPr>
          <p:cNvPr id="4" name="step2-shot" descr="/tmp/claude-0/-home-user-claude-code-on-the-web-html/53f94a46-e6d8-54d1-8e1a-6ddfddcfcfed/scratchpad/shot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955280" cy="400276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frame"/>
          <p:cNvSpPr/>
          <p:nvPr/>
        </p:nvSpPr>
        <p:spPr>
          <a:xfrm>
            <a:off x="548640" y="1371600"/>
            <a:ext cx="7955280" cy="4002762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6" name="highlight"/>
          <p:cNvSpPr/>
          <p:nvPr/>
        </p:nvSpPr>
        <p:spPr>
          <a:xfrm>
            <a:off x="716120" y="1815421"/>
            <a:ext cx="921138" cy="368455"/>
          </a:xfrm>
          <a:prstGeom prst="roundRect">
            <a:avLst>
              <a:gd name="adj" fmla="val 12409"/>
            </a:avLst>
          </a:prstGeom>
          <a:ln w="31750">
            <a:solidFill>
              <a:srgbClr val="F28C28"/>
            </a:solidFill>
            <a:prstDash val="solid"/>
          </a:ln>
        </p:spPr>
      </p:sp>
      <p:sp>
        <p:nvSpPr>
          <p:cNvPr id="7" name="highlight"/>
          <p:cNvSpPr/>
          <p:nvPr/>
        </p:nvSpPr>
        <p:spPr>
          <a:xfrm>
            <a:off x="3889858" y="2401599"/>
            <a:ext cx="937886" cy="184228"/>
          </a:xfrm>
          <a:prstGeom prst="roundRect">
            <a:avLst>
              <a:gd name="adj" fmla="val 24817"/>
            </a:avLst>
          </a:prstGeom>
          <a:ln w="31750">
            <a:solidFill>
              <a:srgbClr val="F28C28"/>
            </a:solidFill>
            <a:prstDash val="solid"/>
          </a:ln>
        </p:spPr>
      </p:sp>
      <p:sp>
        <p:nvSpPr>
          <p:cNvPr id="8" name="highlight"/>
          <p:cNvSpPr/>
          <p:nvPr/>
        </p:nvSpPr>
        <p:spPr>
          <a:xfrm>
            <a:off x="4961727" y="2610949"/>
            <a:ext cx="1021625" cy="770406"/>
          </a:xfrm>
          <a:prstGeom prst="roundRect">
            <a:avLst>
              <a:gd name="adj" fmla="val 5935"/>
            </a:avLst>
          </a:prstGeom>
          <a:ln w="31750">
            <a:solidFill>
              <a:srgbClr val="2E9E6B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560672" y="1659973"/>
            <a:ext cx="310896" cy="310896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badge-num"/>
          <p:cNvSpPr txBox="1"/>
          <p:nvPr/>
        </p:nvSpPr>
        <p:spPr>
          <a:xfrm>
            <a:off x="560672" y="165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badge"/>
          <p:cNvSpPr/>
          <p:nvPr/>
        </p:nvSpPr>
        <p:spPr>
          <a:xfrm>
            <a:off x="3734410" y="2246151"/>
            <a:ext cx="310896" cy="310896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badge-num"/>
          <p:cNvSpPr txBox="1"/>
          <p:nvPr/>
        </p:nvSpPr>
        <p:spPr>
          <a:xfrm>
            <a:off x="3734410" y="2246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badge"/>
          <p:cNvSpPr/>
          <p:nvPr/>
        </p:nvSpPr>
        <p:spPr>
          <a:xfrm>
            <a:off x="4806279" y="2455501"/>
            <a:ext cx="310896" cy="310896"/>
          </a:xfrm>
          <a:prstGeom prst="ellipse">
            <a:avLst/>
          </a:prstGeom>
          <a:solidFill>
            <a:srgbClr val="2E9E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badge-num"/>
          <p:cNvSpPr txBox="1"/>
          <p:nvPr/>
        </p:nvSpPr>
        <p:spPr>
          <a:xfrm>
            <a:off x="4806279" y="24555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440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実際の会議画面：データにカーソルを乗せると、関係するシナリオが分かる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78240" y="1371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ここが違う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192024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「このデータが使えないと、このシナリオはできない」が線を引かなくても見える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表示が赤・緑などに変わり、状況が一目で分かる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「初めの並びから変わったシナリオ」が自動で一覧になる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「今使えるデータ」だけに絞って、できることを棚卸しする</a:t>
            </a:r>
            <a:endParaRPr lang="en-US" sz="2800" dirty="0"/>
          </a:p>
        </p:txBody>
      </p:sp>
      <p:pic>
        <p:nvPicPr>
          <p:cNvPr id="4" name="step3-shot" descr="/tmp/claude-0/-home-user-claude-code-on-the-web-html/53f94a46-e6d8-54d1-8e1a-6ddfddcfcfed/scratchpad/shots/h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955280" cy="400276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frame"/>
          <p:cNvSpPr/>
          <p:nvPr/>
        </p:nvSpPr>
        <p:spPr>
          <a:xfrm>
            <a:off x="548640" y="1371600"/>
            <a:ext cx="7955280" cy="4002762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6" name="highlight"/>
          <p:cNvSpPr/>
          <p:nvPr/>
        </p:nvSpPr>
        <p:spPr>
          <a:xfrm>
            <a:off x="657502" y="1706559"/>
            <a:ext cx="753658" cy="368455"/>
          </a:xfrm>
          <a:prstGeom prst="roundRect">
            <a:avLst>
              <a:gd name="adj" fmla="val 12409"/>
            </a:avLst>
          </a:prstGeom>
          <a:ln w="31750">
            <a:solidFill>
              <a:srgbClr val="F28C28"/>
            </a:solidFill>
            <a:prstDash val="solid"/>
          </a:ln>
        </p:spPr>
      </p:sp>
      <p:sp>
        <p:nvSpPr>
          <p:cNvPr id="7" name="highlight"/>
          <p:cNvSpPr/>
          <p:nvPr/>
        </p:nvSpPr>
        <p:spPr>
          <a:xfrm>
            <a:off x="657502" y="2334608"/>
            <a:ext cx="1591056" cy="2361462"/>
          </a:xfrm>
          <a:prstGeom prst="roundRect">
            <a:avLst>
              <a:gd name="adj" fmla="val 2874"/>
            </a:avLst>
          </a:prstGeom>
          <a:ln w="31750">
            <a:solidFill>
              <a:srgbClr val="2E9E6B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502054" y="1551111"/>
            <a:ext cx="310896" cy="310896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badge-num"/>
          <p:cNvSpPr txBox="1"/>
          <p:nvPr/>
        </p:nvSpPr>
        <p:spPr>
          <a:xfrm>
            <a:off x="502054" y="15511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badge"/>
          <p:cNvSpPr/>
          <p:nvPr/>
        </p:nvSpPr>
        <p:spPr>
          <a:xfrm>
            <a:off x="502054" y="2179160"/>
            <a:ext cx="310896" cy="310896"/>
          </a:xfrm>
          <a:prstGeom prst="ellipse">
            <a:avLst/>
          </a:prstGeom>
          <a:solidFill>
            <a:srgbClr val="2E9E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badge-num"/>
          <p:cNvSpPr txBox="1"/>
          <p:nvPr/>
        </p:nvSpPr>
        <p:spPr>
          <a:xfrm>
            <a:off x="502054" y="217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440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実際の会議画面：「今すぐできる 16」を選ぶと、使えるデータと対応シナリオだけが残る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778240" y="14173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CE9D4"/>
          </a:solidFill>
          <a:ln w="12700">
            <a:solidFill>
              <a:srgbClr val="FCE9D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96112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961120" y="1965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やりたいことを全部並べるのではなく、3月末までに使えるデータを前提にする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77824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その結果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406908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夢物語の議論になりにくい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「何が実現可能か」で話せる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実現できる営業シナリオが、15個程度に絞られた</a:t>
            </a:r>
            <a:endParaRPr lang="en-US" sz="2800" dirty="0"/>
          </a:p>
        </p:txBody>
      </p:sp>
      <p:pic>
        <p:nvPicPr>
          <p:cNvPr id="4" name="step4-shot" descr="/tmp/claude-0/-home-user-claude-code-on-the-web-html/53f94a46-e6d8-54d1-8e1a-6ddfddcfcfed/scratchpad/shot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955280" cy="400276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frame"/>
          <p:cNvSpPr/>
          <p:nvPr/>
        </p:nvSpPr>
        <p:spPr>
          <a:xfrm>
            <a:off x="548640" y="1371600"/>
            <a:ext cx="7955280" cy="4002762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6" name="highlight"/>
          <p:cNvSpPr/>
          <p:nvPr/>
        </p:nvSpPr>
        <p:spPr>
          <a:xfrm>
            <a:off x="4961727" y="1396722"/>
            <a:ext cx="3349592" cy="3600811"/>
          </a:xfrm>
          <a:prstGeom prst="roundRect">
            <a:avLst>
              <a:gd name="adj" fmla="val 1365"/>
            </a:avLst>
          </a:prstGeom>
          <a:ln w="31750">
            <a:solidFill>
              <a:srgbClr val="F28C2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440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実際の会議画面：36のシナリオが、状態ごとに色分けされて並ぶ</a:t>
            </a:r>
            <a:endParaRPr lang="en-US" sz="1200" dirty="0"/>
          </a:p>
        </p:txBody>
      </p:sp>
      <p:sp>
        <p:nvSpPr>
          <p:cNvPr id="8" name="funnel"/>
          <p:cNvSpPr/>
          <p:nvPr/>
        </p:nvSpPr>
        <p:spPr>
          <a:xfrm>
            <a:off x="8778240" y="14173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869680" y="141732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9738360" y="1417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ポータルで扱うシナリオ</a:t>
            </a:r>
            <a:endParaRPr lang="en-US" sz="1300" dirty="0"/>
          </a:p>
        </p:txBody>
      </p:sp>
      <p:sp>
        <p:nvSpPr>
          <p:cNvPr id="11" name="funnel"/>
          <p:cNvSpPr/>
          <p:nvPr/>
        </p:nvSpPr>
        <p:spPr>
          <a:xfrm>
            <a:off x="8778240" y="27432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869680" y="274320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738360" y="2743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今のデータで実現可能</a:t>
            </a:r>
            <a:endParaRPr lang="en-US" sz="1300" dirty="0"/>
          </a:p>
        </p:txBody>
      </p:sp>
      <p:sp>
        <p:nvSpPr>
          <p:cNvPr id="14" name="funnel"/>
          <p:cNvSpPr/>
          <p:nvPr/>
        </p:nvSpPr>
        <p:spPr>
          <a:xfrm>
            <a:off x="8778240" y="406908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869680" y="4069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9738360" y="4069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営業全体の需要で選別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5440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「15個程度」は会議中の発言。最終的な件数は今後のスクリーニングで決まる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シナリオを開くと、その場で中身まで議論できる</a:t>
            </a:r>
            <a:endParaRPr lang="en-US" sz="2800" dirty="0"/>
          </a:p>
        </p:txBody>
      </p:sp>
      <p:pic>
        <p:nvPicPr>
          <p:cNvPr id="4" name="step5-shot" descr="/tmp/claude-0/-home-user-claude-code-on-the-web-html/53f94a46-e6d8-54d1-8e1a-6ddfddcfcfed/scratchpad/shots/detail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955280" cy="400276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frame"/>
          <p:cNvSpPr/>
          <p:nvPr/>
        </p:nvSpPr>
        <p:spPr>
          <a:xfrm>
            <a:off x="548640" y="1371600"/>
            <a:ext cx="7955280" cy="4002762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  <p:sp>
        <p:nvSpPr>
          <p:cNvPr id="6" name="highlight"/>
          <p:cNvSpPr/>
          <p:nvPr/>
        </p:nvSpPr>
        <p:spPr>
          <a:xfrm>
            <a:off x="2566769" y="2527209"/>
            <a:ext cx="3852030" cy="301463"/>
          </a:xfrm>
          <a:prstGeom prst="roundRect">
            <a:avLst>
              <a:gd name="adj" fmla="val 15166"/>
            </a:avLst>
          </a:prstGeom>
          <a:ln w="31750">
            <a:solidFill>
              <a:srgbClr val="F28C28"/>
            </a:solidFill>
            <a:prstDash val="solid"/>
          </a:ln>
        </p:spPr>
      </p:sp>
      <p:sp>
        <p:nvSpPr>
          <p:cNvPr id="7" name="highlight"/>
          <p:cNvSpPr/>
          <p:nvPr/>
        </p:nvSpPr>
        <p:spPr>
          <a:xfrm>
            <a:off x="2566769" y="2912412"/>
            <a:ext cx="3852030" cy="334959"/>
          </a:xfrm>
          <a:prstGeom prst="roundRect">
            <a:avLst>
              <a:gd name="adj" fmla="val 13649"/>
            </a:avLst>
          </a:prstGeom>
          <a:ln w="31750">
            <a:solidFill>
              <a:srgbClr val="2E9E6B"/>
            </a:solidFill>
            <a:prstDash val="solid"/>
          </a:ln>
        </p:spPr>
      </p:sp>
      <p:sp>
        <p:nvSpPr>
          <p:cNvPr id="8" name="highlight"/>
          <p:cNvSpPr/>
          <p:nvPr/>
        </p:nvSpPr>
        <p:spPr>
          <a:xfrm>
            <a:off x="2566769" y="3950786"/>
            <a:ext cx="3852030" cy="569431"/>
          </a:xfrm>
          <a:prstGeom prst="roundRect">
            <a:avLst>
              <a:gd name="adj" fmla="val 8029"/>
            </a:avLst>
          </a:prstGeom>
          <a:ln w="31750">
            <a:solidFill>
              <a:srgbClr val="3B6FB6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2411321" y="2371761"/>
            <a:ext cx="310896" cy="310896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badge-num"/>
          <p:cNvSpPr txBox="1"/>
          <p:nvPr/>
        </p:nvSpPr>
        <p:spPr>
          <a:xfrm>
            <a:off x="2411321" y="23717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badge"/>
          <p:cNvSpPr/>
          <p:nvPr/>
        </p:nvSpPr>
        <p:spPr>
          <a:xfrm>
            <a:off x="2411321" y="2756964"/>
            <a:ext cx="310896" cy="310896"/>
          </a:xfrm>
          <a:prstGeom prst="ellipse">
            <a:avLst/>
          </a:prstGeom>
          <a:solidFill>
            <a:srgbClr val="2E9E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badge-num"/>
          <p:cNvSpPr txBox="1"/>
          <p:nvPr/>
        </p:nvSpPr>
        <p:spPr>
          <a:xfrm>
            <a:off x="2411321" y="27569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badge"/>
          <p:cNvSpPr/>
          <p:nvPr/>
        </p:nvSpPr>
        <p:spPr>
          <a:xfrm>
            <a:off x="2411321" y="3795338"/>
            <a:ext cx="310896" cy="310896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badge-num"/>
          <p:cNvSpPr txBox="1"/>
          <p:nvPr/>
        </p:nvSpPr>
        <p:spPr>
          <a:xfrm>
            <a:off x="2411321" y="3795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440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実際の会議画面：「#14 銅のリードから大事な顧客を見つける」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7824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 利用シーン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どんな場面で営業が使うか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7782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 無いと動かないデータ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77824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必須データと、あれば厚くなるデータ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77824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6F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 今の道具・困りごと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877824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今の運用と、ポータルでこう変わる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8778240" y="448056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CE9D4"/>
          </a:solidFill>
          <a:ln w="12700">
            <a:solidFill>
              <a:srgbClr val="FCE9D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961120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 → 詳細 まで1画面で行き来でき、資料を探しに行かなくて済む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普段の会議にあると、こんなに良いことがある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tep-circl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tep-num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前提が見える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94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「何のデータが使えるか」を最初に揃えてから議論できる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1463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step-circle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step-num"/>
          <p:cNvSpPr txBox="1"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関係性が見える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2194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データとシナリオの依存関係が、描かなくても出てくる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2918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step-circle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6" name="step-num"/>
          <p:cNvSpPr txBox="1"/>
          <p:nvPr/>
        </p:nvSpPr>
        <p:spPr>
          <a:xfrm>
            <a:off x="8229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64592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その場で結論に近づく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4023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切り替えるとすぐ結果が変わるので、議論が止まらない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72200" y="32918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step-circle"/>
          <p:cNvSpPr/>
          <p:nvPr/>
        </p:nvSpPr>
        <p:spPr>
          <a:xfrm>
            <a:off x="6446520" y="3611880"/>
            <a:ext cx="640080" cy="6400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step-num"/>
          <p:cNvSpPr txBox="1"/>
          <p:nvPr/>
        </p:nvSpPr>
        <p:spPr>
          <a:xfrm>
            <a:off x="644652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現実的に絞れる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4023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今使えるデータで実現可能なものだけに絞り込める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ホワイトボードの「書く・消す・写す」の手間をなくし、議論そのものに時間を使える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ホワイトボードで議論した場合と、動くホワイトボードの違い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DDE2E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6355080" y="141732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ホワイトボード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4173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動くホワイトボード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224028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6355080" y="224028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CE9D4"/>
          </a:solidFill>
          <a:ln w="12700">
            <a:solidFill>
              <a:srgbClr val="FCE9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やりたいことを書き出す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使えるデータを先に並べる</a:t>
            </a:r>
            <a:endParaRPr lang="en-US" sz="1500" dirty="0"/>
          </a:p>
        </p:txBody>
      </p:sp>
      <p:sp>
        <p:nvSpPr>
          <p:cNvPr id="12" name="vs-arrow"/>
          <p:cNvSpPr/>
          <p:nvPr/>
        </p:nvSpPr>
        <p:spPr>
          <a:xfrm>
            <a:off x="5897880" y="2487168"/>
            <a:ext cx="365760" cy="329184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548640" y="320040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card"/>
          <p:cNvSpPr/>
          <p:nvPr/>
        </p:nvSpPr>
        <p:spPr>
          <a:xfrm>
            <a:off x="6355080" y="320040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CE9D4"/>
          </a:solidFill>
          <a:ln w="12700">
            <a:solidFill>
              <a:srgbClr val="FCE9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実現できるか、人に聞いて回る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データの使える・使えないで、その場で判定</a:t>
            </a:r>
            <a:endParaRPr lang="en-US" sz="1500" dirty="0"/>
          </a:p>
        </p:txBody>
      </p:sp>
      <p:sp>
        <p:nvSpPr>
          <p:cNvPr id="17" name="vs-arrow"/>
          <p:cNvSpPr/>
          <p:nvPr/>
        </p:nvSpPr>
        <p:spPr>
          <a:xfrm>
            <a:off x="5897880" y="3447288"/>
            <a:ext cx="365760" cy="329184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548640" y="416052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card"/>
          <p:cNvSpPr/>
          <p:nvPr/>
        </p:nvSpPr>
        <p:spPr>
          <a:xfrm>
            <a:off x="6355080" y="416052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CE9D4"/>
          </a:solidFill>
          <a:ln w="12700">
            <a:solidFill>
              <a:srgbClr val="FCE9D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依存関係は頭の中・口頭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関係性が画面に出る</a:t>
            </a:r>
            <a:endParaRPr lang="en-US" sz="1500" dirty="0"/>
          </a:p>
        </p:txBody>
      </p:sp>
      <p:sp>
        <p:nvSpPr>
          <p:cNvPr id="22" name="vs-arrow"/>
          <p:cNvSpPr/>
          <p:nvPr/>
        </p:nvSpPr>
        <p:spPr>
          <a:xfrm>
            <a:off x="5897880" y="4407408"/>
            <a:ext cx="365760" cy="329184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card"/>
          <p:cNvSpPr/>
          <p:nvPr/>
        </p:nvSpPr>
        <p:spPr>
          <a:xfrm>
            <a:off x="548640" y="512064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card"/>
          <p:cNvSpPr/>
          <p:nvPr/>
        </p:nvSpPr>
        <p:spPr>
          <a:xfrm>
            <a:off x="6355080" y="512064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CE9D4"/>
          </a:solidFill>
          <a:ln w="12700">
            <a:solidFill>
              <a:srgbClr val="FCE9D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写真・書き写しで議事に残す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同じ画面を共有して、そのまま次へ</a:t>
            </a:r>
            <a:endParaRPr lang="en-US" sz="1500" dirty="0"/>
          </a:p>
        </p:txBody>
      </p:sp>
      <p:sp>
        <p:nvSpPr>
          <p:cNvPr id="27" name="vs-arrow"/>
          <p:cNvSpPr/>
          <p:nvPr/>
        </p:nvSpPr>
        <p:spPr>
          <a:xfrm>
            <a:off x="5897880" y="5367528"/>
            <a:ext cx="365760" cy="329184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あなたの会議でも使える：作り方の型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tep-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tep-num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要素を並べる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4173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議論したい「材料」(データ・条件・選択肢)と「結果」(施策・案)を画面の左右に置く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step-circle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step-num"/>
          <p:cNvSpPr txBox="1"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06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切り替えて見る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6060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材料の状態(使える／使えない)を変えると、結果が連動して変わるようにする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794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step-circle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step-num"/>
          <p:cNvSpPr txBox="1"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645920" y="37947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現実に絞る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37947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「今できること」の条件を決めて、候補を実現可能なものだけに絞る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step-circle"/>
          <p:cNvSpPr/>
          <p:nvPr/>
        </p:nvSpPr>
        <p:spPr>
          <a:xfrm>
            <a:off x="822960" y="52120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step-num"/>
          <p:cNvSpPr txBox="1"/>
          <p:nvPr/>
        </p:nvSpPr>
        <p:spPr>
          <a:xfrm>
            <a:off x="82296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4983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詳細を開く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4983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候補を開けば、前提・効果・困りごとが見える。優先順位を付けて次へ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営業AIポータルの構想整理・優先順位付けをする、意思決定支援ツール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AIで何をやりたいかではなく、今あるデータで何ができるかを、その場で議論する。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 → 実現可能性 → 営業シナリオ</a:t>
            </a:r>
            <a:endParaRPr lang="en-US" sz="1800" dirty="0"/>
          </a:p>
        </p:txBody>
      </p:sp>
      <p:pic>
        <p:nvPicPr>
          <p:cNvPr id="4" name="closing-shot" descr="/tmp/claude-0/-home-user-claude-code-on-the-web-html/53f94a46-e6d8-54d1-8e1a-6ddfddcfcfed/scratchpad/sho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200400"/>
            <a:ext cx="5303520" cy="266850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frame"/>
          <p:cNvSpPr/>
          <p:nvPr/>
        </p:nvSpPr>
        <p:spPr>
          <a:xfrm>
            <a:off x="6309360" y="3200400"/>
            <a:ext cx="5303520" cy="2668508"/>
          </a:xfrm>
          <a:prstGeom prst="rect">
            <a:avLst/>
          </a:prstGeom>
          <a:ln w="9525">
            <a:solidFill>
              <a:srgbClr val="C9D0D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Whiteboard">
  <a:themeElements>
    <a:clrScheme name="Whiteboard">
      <a:dk1>
        <a:srgbClr val="1B2A41"/>
      </a:dk1>
      <a:lt1>
        <a:srgbClr val="FFFFFF"/>
      </a:lt1>
      <a:dk2>
        <a:srgbClr val="0F1B2D"/>
      </a:dk2>
      <a:lt2>
        <a:srgbClr val="F3F5F8"/>
      </a:lt2>
      <a:accent1>
        <a:srgbClr val="F28C28"/>
      </a:accent1>
      <a:accent2>
        <a:srgbClr val="2E9E6B"/>
      </a:accent2>
      <a:accent3>
        <a:srgbClr val="D64545"/>
      </a:accent3>
      <a:accent4>
        <a:srgbClr val="3B6FB6"/>
      </a:accent4>
      <a:accent5>
        <a:srgbClr val="7A8699"/>
      </a:accent5>
      <a:accent6>
        <a:srgbClr val="FCE9D4"/>
      </a:accent6>
      <a:hlink>
        <a:srgbClr val="3B6FB6"/>
      </a:hlink>
      <a:folHlink>
        <a:srgbClr val="7A8699"/>
      </a:folHlink>
    </a:clrScheme>
    <a:fontScheme name="Whiteboard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普段の会議で動くホワイトボードがあれば、こんなに良いことがある</dc:title>
  <dc:subject>PptxGenJS Presentation</dc:subject>
  <dc:creator>PptxGenJS</dc:creator>
  <cp:lastModifiedBy>PptxGenJS</cp:lastModifiedBy>
  <cp:revision>1</cp:revision>
  <dcterms:created xsi:type="dcterms:W3CDTF">2026-10-21T05:10:19Z</dcterms:created>
  <dcterms:modified xsi:type="dcterms:W3CDTF">2026-10-21T05:10:19Z</dcterms:modified>
</cp:coreProperties>
</file>
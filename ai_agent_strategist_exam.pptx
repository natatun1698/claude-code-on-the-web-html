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12188952" cy="1371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12188952" cy="1371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91440" cy="411480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1097280"/>
          </a:xfrm>
          <a:prstGeom prst="rect">
            <a:avLst/>
          </a:prstGeom>
          <a:noFill/>
        </p:spPr>
        <p:txBody>
          <a:bodyPr wrap="square">
            <a:spAutoFit/>
          </a:bodyPr>
          <a:lstStyle/>
          <a:p>
            <a:r>
              <a:rPr sz="4000" b="1">
                <a:solidFill>
                  <a:srgbClr val="F57F17"/>
                </a:solidFill>
                <a:latin typeface="Meiryo"/>
              </a:rPr>
              <a:t>AIエージェント・ストラテジスト</a:t>
            </a:r>
          </a:p>
        </p:txBody>
      </p:sp>
      <p:sp>
        <p:nvSpPr>
          <p:cNvPr id="6" name="TextBox 5"/>
          <p:cNvSpPr txBox="1"/>
          <p:nvPr/>
        </p:nvSpPr>
        <p:spPr>
          <a:xfrm>
            <a:off x="731520" y="2560320"/>
            <a:ext cx="10515600" cy="731520"/>
          </a:xfrm>
          <a:prstGeom prst="rect">
            <a:avLst/>
          </a:prstGeom>
          <a:noFill/>
        </p:spPr>
        <p:txBody>
          <a:bodyPr wrap="none">
            <a:spAutoFit/>
          </a:bodyPr>
          <a:lstStyle/>
          <a:p>
            <a:r>
              <a:rPr sz="3000" b="1">
                <a:solidFill>
                  <a:srgbClr val="FFFFFF"/>
                </a:solidFill>
                <a:latin typeface="Meiryo"/>
              </a:rPr>
              <a:t>認定試験 完全対策テキスト</a:t>
            </a:r>
          </a:p>
        </p:txBody>
      </p:sp>
      <p:sp>
        <p:nvSpPr>
          <p:cNvPr id="7" name="TextBox 6"/>
          <p:cNvSpPr txBox="1"/>
          <p:nvPr/>
        </p:nvSpPr>
        <p:spPr>
          <a:xfrm>
            <a:off x="731520" y="3474720"/>
            <a:ext cx="10515600" cy="548640"/>
          </a:xfrm>
          <a:prstGeom prst="rect">
            <a:avLst/>
          </a:prstGeom>
          <a:noFill/>
        </p:spPr>
        <p:txBody>
          <a:bodyPr wrap="none">
            <a:spAutoFit/>
          </a:bodyPr>
          <a:lstStyle/>
          <a:p>
            <a:r>
              <a:rPr sz="2200">
                <a:solidFill>
                  <a:srgbClr val="FFB300"/>
                </a:solidFill>
                <a:latin typeface="Meiryo"/>
              </a:rPr>
              <a:t>一般社団法人 AICX協会</a:t>
            </a:r>
          </a:p>
        </p:txBody>
      </p:sp>
      <p:sp>
        <p:nvSpPr>
          <p:cNvPr id="8" name="TextBox 7"/>
          <p:cNvSpPr txBox="1"/>
          <p:nvPr/>
        </p:nvSpPr>
        <p:spPr>
          <a:xfrm>
            <a:off x="731520" y="4206240"/>
            <a:ext cx="10515600" cy="365760"/>
          </a:xfrm>
          <a:prstGeom prst="rect">
            <a:avLst/>
          </a:prstGeom>
          <a:noFill/>
        </p:spPr>
        <p:txBody>
          <a:bodyPr wrap="none">
            <a:spAutoFit/>
          </a:bodyPr>
          <a:lstStyle/>
          <a:p>
            <a:r>
              <a:rPr sz="1600">
                <a:solidFill>
                  <a:srgbClr val="B0BEC5"/>
                </a:solidFill>
                <a:latin typeface="Meiryo"/>
              </a:rPr>
              <a:t>• 初回試験: 2026年7月実施（オンライン・4択ケーススタディ形式）</a:t>
            </a:r>
          </a:p>
        </p:txBody>
      </p:sp>
      <p:sp>
        <p:nvSpPr>
          <p:cNvPr id="9" name="TextBox 8"/>
          <p:cNvSpPr txBox="1"/>
          <p:nvPr/>
        </p:nvSpPr>
        <p:spPr>
          <a:xfrm>
            <a:off x="731520" y="4617720"/>
            <a:ext cx="10515600" cy="365760"/>
          </a:xfrm>
          <a:prstGeom prst="rect">
            <a:avLst/>
          </a:prstGeom>
          <a:noFill/>
        </p:spPr>
        <p:txBody>
          <a:bodyPr wrap="none">
            <a:spAutoFit/>
          </a:bodyPr>
          <a:lstStyle/>
          <a:p>
            <a:r>
              <a:rPr sz="1600">
                <a:solidFill>
                  <a:srgbClr val="B0BEC5"/>
                </a:solidFill>
                <a:latin typeface="Meiryo"/>
              </a:rPr>
              <a:t>• 受験料: ¥14,800（税込）</a:t>
            </a:r>
          </a:p>
        </p:txBody>
      </p:sp>
      <p:sp>
        <p:nvSpPr>
          <p:cNvPr id="10" name="TextBox 9"/>
          <p:cNvSpPr txBox="1"/>
          <p:nvPr/>
        </p:nvSpPr>
        <p:spPr>
          <a:xfrm>
            <a:off x="731520" y="5029200"/>
            <a:ext cx="10515600" cy="365760"/>
          </a:xfrm>
          <a:prstGeom prst="rect">
            <a:avLst/>
          </a:prstGeom>
          <a:noFill/>
        </p:spPr>
        <p:txBody>
          <a:bodyPr wrap="none">
            <a:spAutoFit/>
          </a:bodyPr>
          <a:lstStyle/>
          <a:p>
            <a:r>
              <a:rPr sz="1600">
                <a:solidFill>
                  <a:srgbClr val="B0BEC5"/>
                </a:solidFill>
                <a:latin typeface="Meiryo"/>
              </a:rPr>
              <a:t>• 対象者: DX/AI推進担当者、業務改革担当者、IT企画担当者、コンサルタント、経営層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430000" cy="822960"/>
          </a:xfrm>
          <a:prstGeom prst="rect">
            <a:avLst/>
          </a:prstGeom>
          <a:noFill/>
        </p:spPr>
        <p:txBody>
          <a:bodyPr wrap="square">
            <a:spAutoFit/>
          </a:bodyPr>
          <a:lstStyle/>
          <a:p>
            <a:pPr algn="l"/>
            <a:r>
              <a:rPr sz="2600" b="1">
                <a:solidFill>
                  <a:srgbClr val="FFFFFF"/>
                </a:solidFill>
                <a:latin typeface="Meiryo"/>
              </a:rPr>
              <a:t>資格概要：AIエージェント・ストラテジスト</a:t>
            </a:r>
          </a:p>
        </p:txBody>
      </p:sp>
      <p:sp>
        <p:nvSpPr>
          <p:cNvPr id="5" name="Rectangle 4"/>
          <p:cNvSpPr/>
          <p:nvPr/>
        </p:nvSpPr>
        <p:spPr>
          <a:xfrm>
            <a:off x="365760" y="1371600"/>
            <a:ext cx="2651760" cy="36576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389888"/>
            <a:ext cx="2651760" cy="329184"/>
          </a:xfrm>
          <a:prstGeom prst="rect">
            <a:avLst/>
          </a:prstGeom>
          <a:noFill/>
        </p:spPr>
        <p:txBody>
          <a:bodyPr wrap="square">
            <a:spAutoFit/>
          </a:bodyPr>
          <a:lstStyle/>
          <a:p>
            <a:pPr algn="ctr"/>
            <a:r>
              <a:rPr sz="1400" b="1">
                <a:solidFill>
                  <a:srgbClr val="FFFFFF"/>
                </a:solidFill>
                <a:latin typeface="Meiryo"/>
              </a:rPr>
              <a:t>発行機関</a:t>
            </a:r>
          </a:p>
        </p:txBody>
      </p:sp>
      <p:sp>
        <p:nvSpPr>
          <p:cNvPr id="7" name="Rectangle 6"/>
          <p:cNvSpPr/>
          <p:nvPr/>
        </p:nvSpPr>
        <p:spPr>
          <a:xfrm>
            <a:off x="365760" y="1737360"/>
            <a:ext cx="2651760" cy="6400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783080"/>
            <a:ext cx="2651760" cy="594360"/>
          </a:xfrm>
          <a:prstGeom prst="rect">
            <a:avLst/>
          </a:prstGeom>
          <a:noFill/>
        </p:spPr>
        <p:txBody>
          <a:bodyPr wrap="square">
            <a:spAutoFit/>
          </a:bodyPr>
          <a:lstStyle/>
          <a:p>
            <a:pPr algn="ctr"/>
            <a:r>
              <a:rPr sz="1500" b="1">
                <a:solidFill>
                  <a:srgbClr val="1A237E"/>
                </a:solidFill>
                <a:latin typeface="Meiryo"/>
              </a:rPr>
              <a:t>一般社団法人 AICX協会</a:t>
            </a:r>
          </a:p>
        </p:txBody>
      </p:sp>
      <p:sp>
        <p:nvSpPr>
          <p:cNvPr id="9" name="Rectangle 8"/>
          <p:cNvSpPr/>
          <p:nvPr/>
        </p:nvSpPr>
        <p:spPr>
          <a:xfrm>
            <a:off x="3200400" y="1371600"/>
            <a:ext cx="2651760" cy="365760"/>
          </a:xfrm>
          <a:prstGeom prst="rect">
            <a:avLst/>
          </a:prstGeom>
          <a:solidFill>
            <a:srgbClr val="3F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1389888"/>
            <a:ext cx="2651760" cy="329184"/>
          </a:xfrm>
          <a:prstGeom prst="rect">
            <a:avLst/>
          </a:prstGeom>
          <a:noFill/>
        </p:spPr>
        <p:txBody>
          <a:bodyPr wrap="square">
            <a:spAutoFit/>
          </a:bodyPr>
          <a:lstStyle/>
          <a:p>
            <a:pPr algn="ctr"/>
            <a:r>
              <a:rPr sz="1400" b="1">
                <a:solidFill>
                  <a:srgbClr val="FFFFFF"/>
                </a:solidFill>
                <a:latin typeface="Meiryo"/>
              </a:rPr>
              <a:t>初回試験</a:t>
            </a:r>
          </a:p>
        </p:txBody>
      </p:sp>
      <p:sp>
        <p:nvSpPr>
          <p:cNvPr id="11" name="Rectangle 10"/>
          <p:cNvSpPr/>
          <p:nvPr/>
        </p:nvSpPr>
        <p:spPr>
          <a:xfrm>
            <a:off x="3200400" y="1737360"/>
            <a:ext cx="2651760" cy="6400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0" y="1783080"/>
            <a:ext cx="2651760" cy="594360"/>
          </a:xfrm>
          <a:prstGeom prst="rect">
            <a:avLst/>
          </a:prstGeom>
          <a:noFill/>
        </p:spPr>
        <p:txBody>
          <a:bodyPr wrap="square">
            <a:spAutoFit/>
          </a:bodyPr>
          <a:lstStyle/>
          <a:p>
            <a:pPr algn="ctr"/>
            <a:r>
              <a:rPr sz="1500" b="1">
                <a:solidFill>
                  <a:srgbClr val="1A237E"/>
                </a:solidFill>
                <a:latin typeface="Meiryo"/>
              </a:rPr>
              <a:t>2026年7月（オンライン実施）</a:t>
            </a:r>
          </a:p>
        </p:txBody>
      </p:sp>
      <p:sp>
        <p:nvSpPr>
          <p:cNvPr id="13" name="Rectangle 12"/>
          <p:cNvSpPr/>
          <p:nvPr/>
        </p:nvSpPr>
        <p:spPr>
          <a:xfrm>
            <a:off x="6035040" y="1371600"/>
            <a:ext cx="2651760" cy="36576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1389888"/>
            <a:ext cx="2651760" cy="329184"/>
          </a:xfrm>
          <a:prstGeom prst="rect">
            <a:avLst/>
          </a:prstGeom>
          <a:noFill/>
        </p:spPr>
        <p:txBody>
          <a:bodyPr wrap="square">
            <a:spAutoFit/>
          </a:bodyPr>
          <a:lstStyle/>
          <a:p>
            <a:pPr algn="ctr"/>
            <a:r>
              <a:rPr sz="1400" b="1">
                <a:solidFill>
                  <a:srgbClr val="FFFFFF"/>
                </a:solidFill>
                <a:latin typeface="Meiryo"/>
              </a:rPr>
              <a:t>試験形式</a:t>
            </a:r>
          </a:p>
        </p:txBody>
      </p:sp>
      <p:sp>
        <p:nvSpPr>
          <p:cNvPr id="15" name="Rectangle 14"/>
          <p:cNvSpPr/>
          <p:nvPr/>
        </p:nvSpPr>
        <p:spPr>
          <a:xfrm>
            <a:off x="6035040" y="1737360"/>
            <a:ext cx="2651760" cy="6400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1783080"/>
            <a:ext cx="2651760" cy="594360"/>
          </a:xfrm>
          <a:prstGeom prst="rect">
            <a:avLst/>
          </a:prstGeom>
          <a:noFill/>
        </p:spPr>
        <p:txBody>
          <a:bodyPr wrap="square">
            <a:spAutoFit/>
          </a:bodyPr>
          <a:lstStyle/>
          <a:p>
            <a:pPr algn="ctr"/>
            <a:r>
              <a:rPr sz="1500" b="1">
                <a:solidFill>
                  <a:srgbClr val="1A237E"/>
                </a:solidFill>
                <a:latin typeface="Meiryo"/>
              </a:rPr>
              <a:t>4択式・ケーススタディ形式</a:t>
            </a:r>
          </a:p>
        </p:txBody>
      </p:sp>
      <p:sp>
        <p:nvSpPr>
          <p:cNvPr id="17" name="Rectangle 16"/>
          <p:cNvSpPr/>
          <p:nvPr/>
        </p:nvSpPr>
        <p:spPr>
          <a:xfrm>
            <a:off x="8869680" y="1371600"/>
            <a:ext cx="2651760" cy="365760"/>
          </a:xfrm>
          <a:prstGeom prst="rect">
            <a:avLst/>
          </a:prstGeom>
          <a:solidFill>
            <a:srgbClr val="3F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0" y="1389888"/>
            <a:ext cx="2651760" cy="329184"/>
          </a:xfrm>
          <a:prstGeom prst="rect">
            <a:avLst/>
          </a:prstGeom>
          <a:noFill/>
        </p:spPr>
        <p:txBody>
          <a:bodyPr wrap="square">
            <a:spAutoFit/>
          </a:bodyPr>
          <a:lstStyle/>
          <a:p>
            <a:pPr algn="ctr"/>
            <a:r>
              <a:rPr sz="1400" b="1">
                <a:solidFill>
                  <a:srgbClr val="FFFFFF"/>
                </a:solidFill>
                <a:latin typeface="Meiryo"/>
              </a:rPr>
              <a:t>受験料</a:t>
            </a:r>
          </a:p>
        </p:txBody>
      </p:sp>
      <p:sp>
        <p:nvSpPr>
          <p:cNvPr id="19" name="Rectangle 18"/>
          <p:cNvSpPr/>
          <p:nvPr/>
        </p:nvSpPr>
        <p:spPr>
          <a:xfrm>
            <a:off x="8869680" y="1737360"/>
            <a:ext cx="2651760" cy="6400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0" y="1783080"/>
            <a:ext cx="2651760" cy="594360"/>
          </a:xfrm>
          <a:prstGeom prst="rect">
            <a:avLst/>
          </a:prstGeom>
          <a:noFill/>
        </p:spPr>
        <p:txBody>
          <a:bodyPr wrap="square">
            <a:spAutoFit/>
          </a:bodyPr>
          <a:lstStyle/>
          <a:p>
            <a:pPr algn="ctr"/>
            <a:r>
              <a:rPr sz="1500" b="1">
                <a:solidFill>
                  <a:srgbClr val="1A237E"/>
                </a:solidFill>
                <a:latin typeface="Meiryo"/>
              </a:rPr>
              <a:t>¥14,800（税込）</a:t>
            </a:r>
          </a:p>
        </p:txBody>
      </p:sp>
      <p:sp>
        <p:nvSpPr>
          <p:cNvPr id="21" name="Rectangle 20"/>
          <p:cNvSpPr/>
          <p:nvPr/>
        </p:nvSpPr>
        <p:spPr>
          <a:xfrm>
            <a:off x="274320" y="2606040"/>
            <a:ext cx="11612880" cy="3657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633472"/>
            <a:ext cx="11247120" cy="320040"/>
          </a:xfrm>
          <a:prstGeom prst="rect">
            <a:avLst/>
          </a:prstGeom>
          <a:noFill/>
        </p:spPr>
        <p:txBody>
          <a:bodyPr wrap="square">
            <a:spAutoFit/>
          </a:bodyPr>
          <a:lstStyle/>
          <a:p>
            <a:pPr algn="l"/>
            <a:r>
              <a:rPr sz="1600" b="1">
                <a:solidFill>
                  <a:srgbClr val="1A237E"/>
                </a:solidFill>
                <a:latin typeface="Meiryo"/>
              </a:rPr>
              <a:t>対象者</a:t>
            </a:r>
          </a:p>
        </p:txBody>
      </p:sp>
      <p:sp>
        <p:nvSpPr>
          <p:cNvPr id="23" name="TextBox 22"/>
          <p:cNvSpPr txBox="1"/>
          <p:nvPr/>
        </p:nvSpPr>
        <p:spPr>
          <a:xfrm>
            <a:off x="365760" y="3063240"/>
            <a:ext cx="11430000" cy="457200"/>
          </a:xfrm>
          <a:prstGeom prst="rect">
            <a:avLst/>
          </a:prstGeom>
          <a:noFill/>
        </p:spPr>
        <p:txBody>
          <a:bodyPr wrap="square">
            <a:spAutoFit/>
          </a:bodyPr>
          <a:lstStyle/>
          <a:p>
            <a:pPr algn="l"/>
            <a:r>
              <a:rPr sz="1600" b="0">
                <a:solidFill>
                  <a:srgbClr val="37474F"/>
                </a:solidFill>
                <a:latin typeface="Meiryo"/>
              </a:rPr>
              <a:t>✓ DX/AI推進担当者　　✓ 業務改革担当者　　✓ IT企画担当者　　✓ コンサルタント　　✓ 経営層</a:t>
            </a:r>
          </a:p>
        </p:txBody>
      </p:sp>
      <p:sp>
        <p:nvSpPr>
          <p:cNvPr id="24" name="Rectangle 23"/>
          <p:cNvSpPr/>
          <p:nvPr/>
        </p:nvSpPr>
        <p:spPr>
          <a:xfrm>
            <a:off x="274320" y="3657600"/>
            <a:ext cx="11612880" cy="4114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703320"/>
            <a:ext cx="11247120" cy="365760"/>
          </a:xfrm>
          <a:prstGeom prst="rect">
            <a:avLst/>
          </a:prstGeom>
          <a:noFill/>
        </p:spPr>
        <p:txBody>
          <a:bodyPr wrap="square">
            <a:spAutoFit/>
          </a:bodyPr>
          <a:lstStyle/>
          <a:p>
            <a:pPr algn="l"/>
            <a:r>
              <a:rPr sz="1800" b="1">
                <a:solidFill>
                  <a:srgbClr val="FFFFFF"/>
                </a:solidFill>
                <a:latin typeface="Meiryo"/>
              </a:rPr>
              <a:t>3つのコアスキル領域</a:t>
            </a:r>
          </a:p>
        </p:txBody>
      </p:sp>
      <p:sp>
        <p:nvSpPr>
          <p:cNvPr id="26" name="Rectangle 25"/>
          <p:cNvSpPr/>
          <p:nvPr/>
        </p:nvSpPr>
        <p:spPr>
          <a:xfrm>
            <a:off x="365760" y="4160520"/>
            <a:ext cx="3566160" cy="411480"/>
          </a:xfrm>
          <a:prstGeom prst="rect">
            <a:avLst/>
          </a:prstGeom>
          <a:solidFill>
            <a:srgbClr val="3F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187952"/>
            <a:ext cx="3383280" cy="365760"/>
          </a:xfrm>
          <a:prstGeom prst="rect">
            <a:avLst/>
          </a:prstGeom>
          <a:noFill/>
        </p:spPr>
        <p:txBody>
          <a:bodyPr wrap="square">
            <a:spAutoFit/>
          </a:bodyPr>
          <a:lstStyle/>
          <a:p>
            <a:pPr algn="l"/>
            <a:r>
              <a:rPr sz="1400" b="1">
                <a:solidFill>
                  <a:srgbClr val="FFFFFF"/>
                </a:solidFill>
                <a:latin typeface="Meiryo"/>
              </a:rPr>
              <a:t>1. AIエージェント領域</a:t>
            </a:r>
          </a:p>
        </p:txBody>
      </p:sp>
      <p:sp>
        <p:nvSpPr>
          <p:cNvPr id="28" name="Rectangle 27"/>
          <p:cNvSpPr/>
          <p:nvPr/>
        </p:nvSpPr>
        <p:spPr>
          <a:xfrm>
            <a:off x="365760" y="4572000"/>
            <a:ext cx="356616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617720"/>
            <a:ext cx="3383280" cy="1005840"/>
          </a:xfrm>
          <a:prstGeom prst="rect">
            <a:avLst/>
          </a:prstGeom>
          <a:noFill/>
        </p:spPr>
        <p:txBody>
          <a:bodyPr wrap="square">
            <a:spAutoFit/>
          </a:bodyPr>
          <a:lstStyle/>
          <a:p>
            <a:pPr algn="l"/>
            <a:r>
              <a:rPr sz="1300" b="0">
                <a:solidFill>
                  <a:srgbClr val="37474F"/>
                </a:solidFill>
                <a:latin typeface="Meiryo"/>
              </a:rPr>
              <a:t>生成AI・AIエージェントの特性理解、業務適合の自動化設計</a:t>
            </a:r>
          </a:p>
        </p:txBody>
      </p:sp>
      <p:sp>
        <p:nvSpPr>
          <p:cNvPr id="30" name="Rectangle 29"/>
          <p:cNvSpPr/>
          <p:nvPr/>
        </p:nvSpPr>
        <p:spPr>
          <a:xfrm>
            <a:off x="4114799" y="4160520"/>
            <a:ext cx="3566160" cy="411480"/>
          </a:xfrm>
          <a:prstGeom prst="rect">
            <a:avLst/>
          </a:prstGeom>
          <a:solidFill>
            <a:srgbClr val="3F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06239" y="4187952"/>
            <a:ext cx="3383280" cy="365760"/>
          </a:xfrm>
          <a:prstGeom prst="rect">
            <a:avLst/>
          </a:prstGeom>
          <a:noFill/>
        </p:spPr>
        <p:txBody>
          <a:bodyPr wrap="square">
            <a:spAutoFit/>
          </a:bodyPr>
          <a:lstStyle/>
          <a:p>
            <a:pPr algn="l"/>
            <a:r>
              <a:rPr sz="1400" b="1">
                <a:solidFill>
                  <a:srgbClr val="FFFFFF"/>
                </a:solidFill>
                <a:latin typeface="Meiryo"/>
              </a:rPr>
              <a:t>2. 業務設計領域</a:t>
            </a:r>
          </a:p>
        </p:txBody>
      </p:sp>
      <p:sp>
        <p:nvSpPr>
          <p:cNvPr id="32" name="Rectangle 31"/>
          <p:cNvSpPr/>
          <p:nvPr/>
        </p:nvSpPr>
        <p:spPr>
          <a:xfrm>
            <a:off x="4114799" y="4572000"/>
            <a:ext cx="356616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39" y="4617720"/>
            <a:ext cx="3383280" cy="1005840"/>
          </a:xfrm>
          <a:prstGeom prst="rect">
            <a:avLst/>
          </a:prstGeom>
          <a:noFill/>
        </p:spPr>
        <p:txBody>
          <a:bodyPr wrap="square">
            <a:spAutoFit/>
          </a:bodyPr>
          <a:lstStyle/>
          <a:p>
            <a:pPr algn="l"/>
            <a:r>
              <a:rPr sz="1300" b="0">
                <a:solidFill>
                  <a:srgbClr val="37474F"/>
                </a:solidFill>
                <a:latin typeface="Meiryo"/>
              </a:rPr>
              <a:t>暗黙知の形式知化、ワークフロー再構築</a:t>
            </a:r>
          </a:p>
        </p:txBody>
      </p:sp>
      <p:sp>
        <p:nvSpPr>
          <p:cNvPr id="34" name="Rectangle 33"/>
          <p:cNvSpPr/>
          <p:nvPr/>
        </p:nvSpPr>
        <p:spPr>
          <a:xfrm>
            <a:off x="7863838" y="4160520"/>
            <a:ext cx="3566160" cy="411480"/>
          </a:xfrm>
          <a:prstGeom prst="rect">
            <a:avLst/>
          </a:prstGeom>
          <a:solidFill>
            <a:srgbClr val="3F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78" y="4187952"/>
            <a:ext cx="3383280" cy="365760"/>
          </a:xfrm>
          <a:prstGeom prst="rect">
            <a:avLst/>
          </a:prstGeom>
          <a:noFill/>
        </p:spPr>
        <p:txBody>
          <a:bodyPr wrap="square">
            <a:spAutoFit/>
          </a:bodyPr>
          <a:lstStyle/>
          <a:p>
            <a:pPr algn="l"/>
            <a:r>
              <a:rPr sz="1400" b="1">
                <a:solidFill>
                  <a:srgbClr val="FFFFFF"/>
                </a:solidFill>
                <a:latin typeface="Meiryo"/>
              </a:rPr>
              <a:t>3. 組織設計領域</a:t>
            </a:r>
          </a:p>
        </p:txBody>
      </p:sp>
      <p:sp>
        <p:nvSpPr>
          <p:cNvPr id="36" name="Rectangle 35"/>
          <p:cNvSpPr/>
          <p:nvPr/>
        </p:nvSpPr>
        <p:spPr>
          <a:xfrm>
            <a:off x="7863838" y="4572000"/>
            <a:ext cx="356616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78" y="4617720"/>
            <a:ext cx="3383280" cy="1005840"/>
          </a:xfrm>
          <a:prstGeom prst="rect">
            <a:avLst/>
          </a:prstGeom>
          <a:noFill/>
        </p:spPr>
        <p:txBody>
          <a:bodyPr wrap="square">
            <a:spAutoFit/>
          </a:bodyPr>
          <a:lstStyle/>
          <a:p>
            <a:pPr algn="l"/>
            <a:r>
              <a:rPr sz="1300" b="0">
                <a:solidFill>
                  <a:srgbClr val="37474F"/>
                </a:solidFill>
                <a:latin typeface="Meiryo"/>
              </a:rPr>
              <a:t>AIとの協働文化醸成、評価制度の変革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0972800" cy="731520"/>
          </a:xfrm>
          <a:prstGeom prst="rect">
            <a:avLst/>
          </a:prstGeom>
          <a:noFill/>
        </p:spPr>
        <p:txBody>
          <a:bodyPr wrap="square">
            <a:spAutoFit/>
          </a:bodyPr>
          <a:lstStyle/>
          <a:p>
            <a:pPr algn="l"/>
            <a:r>
              <a:rPr sz="3200" b="1">
                <a:solidFill>
                  <a:srgbClr val="FFFFFF"/>
                </a:solidFill>
                <a:latin typeface="Meiryo"/>
              </a:rPr>
              <a:t>目次</a:t>
            </a:r>
          </a:p>
        </p:txBody>
      </p:sp>
      <p:sp>
        <p:nvSpPr>
          <p:cNvPr id="5" name="Rectangle 4"/>
          <p:cNvSpPr/>
          <p:nvPr/>
        </p:nvSpPr>
        <p:spPr>
          <a:xfrm>
            <a:off x="365760" y="1371600"/>
            <a:ext cx="548640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457200"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645920"/>
            <a:ext cx="457200" cy="548640"/>
          </a:xfrm>
          <a:prstGeom prst="rect">
            <a:avLst/>
          </a:prstGeom>
          <a:noFill/>
        </p:spPr>
        <p:txBody>
          <a:bodyPr wrap="square">
            <a:spAutoFit/>
          </a:bodyPr>
          <a:lstStyle/>
          <a:p>
            <a:pPr algn="ctr"/>
            <a:r>
              <a:rPr sz="2200" b="1">
                <a:solidFill>
                  <a:srgbClr val="F57F17"/>
                </a:solidFill>
                <a:latin typeface="Meiryo"/>
              </a:rPr>
              <a:t>A</a:t>
            </a:r>
          </a:p>
        </p:txBody>
      </p:sp>
      <p:sp>
        <p:nvSpPr>
          <p:cNvPr id="8" name="TextBox 7"/>
          <p:cNvSpPr txBox="1"/>
          <p:nvPr/>
        </p:nvSpPr>
        <p:spPr>
          <a:xfrm>
            <a:off x="914400" y="1417320"/>
            <a:ext cx="4846320" cy="457200"/>
          </a:xfrm>
          <a:prstGeom prst="rect">
            <a:avLst/>
          </a:prstGeom>
          <a:noFill/>
        </p:spPr>
        <p:txBody>
          <a:bodyPr wrap="square">
            <a:spAutoFit/>
          </a:bodyPr>
          <a:lstStyle/>
          <a:p>
            <a:pPr algn="l"/>
            <a:r>
              <a:rPr sz="1600" b="1">
                <a:solidFill>
                  <a:srgbClr val="1A237E"/>
                </a:solidFill>
                <a:latin typeface="Meiryo"/>
              </a:rPr>
              <a:t>業務の構造的理解</a:t>
            </a:r>
          </a:p>
        </p:txBody>
      </p:sp>
      <p:sp>
        <p:nvSpPr>
          <p:cNvPr id="9" name="TextBox 8"/>
          <p:cNvSpPr txBox="1"/>
          <p:nvPr/>
        </p:nvSpPr>
        <p:spPr>
          <a:xfrm>
            <a:off x="914400" y="1874520"/>
            <a:ext cx="4846320" cy="457200"/>
          </a:xfrm>
          <a:prstGeom prst="rect">
            <a:avLst/>
          </a:prstGeom>
          <a:noFill/>
        </p:spPr>
        <p:txBody>
          <a:bodyPr wrap="square">
            <a:spAutoFit/>
          </a:bodyPr>
          <a:lstStyle/>
          <a:p>
            <a:pPr algn="l"/>
            <a:r>
              <a:rPr sz="1200" b="0">
                <a:solidFill>
                  <a:srgbClr val="37474F"/>
                </a:solidFill>
                <a:latin typeface="Meiryo"/>
              </a:rPr>
              <a:t>As-Is/To-Be分析、IPO、ECRS、スイムレーン図</a:t>
            </a:r>
          </a:p>
        </p:txBody>
      </p:sp>
      <p:sp>
        <p:nvSpPr>
          <p:cNvPr id="10" name="Rectangle 9"/>
          <p:cNvSpPr/>
          <p:nvPr/>
        </p:nvSpPr>
        <p:spPr>
          <a:xfrm>
            <a:off x="6035040" y="1371600"/>
            <a:ext cx="548640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71600"/>
            <a:ext cx="457200"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645920"/>
            <a:ext cx="457200" cy="548640"/>
          </a:xfrm>
          <a:prstGeom prst="rect">
            <a:avLst/>
          </a:prstGeom>
          <a:noFill/>
        </p:spPr>
        <p:txBody>
          <a:bodyPr wrap="square">
            <a:spAutoFit/>
          </a:bodyPr>
          <a:lstStyle/>
          <a:p>
            <a:pPr algn="ctr"/>
            <a:r>
              <a:rPr sz="2200" b="1">
                <a:solidFill>
                  <a:srgbClr val="F57F17"/>
                </a:solidFill>
                <a:latin typeface="Meiryo"/>
              </a:rPr>
              <a:t>B</a:t>
            </a:r>
          </a:p>
        </p:txBody>
      </p:sp>
      <p:sp>
        <p:nvSpPr>
          <p:cNvPr id="13" name="TextBox 12"/>
          <p:cNvSpPr txBox="1"/>
          <p:nvPr/>
        </p:nvSpPr>
        <p:spPr>
          <a:xfrm>
            <a:off x="6583680" y="1417320"/>
            <a:ext cx="4846320" cy="457200"/>
          </a:xfrm>
          <a:prstGeom prst="rect">
            <a:avLst/>
          </a:prstGeom>
          <a:noFill/>
        </p:spPr>
        <p:txBody>
          <a:bodyPr wrap="square">
            <a:spAutoFit/>
          </a:bodyPr>
          <a:lstStyle/>
          <a:p>
            <a:pPr algn="l"/>
            <a:r>
              <a:rPr sz="1600" b="1">
                <a:solidFill>
                  <a:srgbClr val="1A237E"/>
                </a:solidFill>
                <a:latin typeface="Meiryo"/>
              </a:rPr>
              <a:t>AIエージェント基礎知識</a:t>
            </a:r>
          </a:p>
        </p:txBody>
      </p:sp>
      <p:sp>
        <p:nvSpPr>
          <p:cNvPr id="14" name="TextBox 13"/>
          <p:cNvSpPr txBox="1"/>
          <p:nvPr/>
        </p:nvSpPr>
        <p:spPr>
          <a:xfrm>
            <a:off x="6583680" y="1874520"/>
            <a:ext cx="4846320" cy="457200"/>
          </a:xfrm>
          <a:prstGeom prst="rect">
            <a:avLst/>
          </a:prstGeom>
          <a:noFill/>
        </p:spPr>
        <p:txBody>
          <a:bodyPr wrap="square">
            <a:spAutoFit/>
          </a:bodyPr>
          <a:lstStyle/>
          <a:p>
            <a:pPr algn="l"/>
            <a:r>
              <a:rPr sz="1200" b="0">
                <a:solidFill>
                  <a:srgbClr val="37474F"/>
                </a:solidFill>
                <a:latin typeface="Meiryo"/>
              </a:rPr>
              <a:t>生成AI・LLM・プロンプトエンジニアリング</a:t>
            </a:r>
          </a:p>
        </p:txBody>
      </p:sp>
      <p:sp>
        <p:nvSpPr>
          <p:cNvPr id="15" name="Rectangle 14"/>
          <p:cNvSpPr/>
          <p:nvPr/>
        </p:nvSpPr>
        <p:spPr>
          <a:xfrm>
            <a:off x="365760" y="2606040"/>
            <a:ext cx="548640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2606040"/>
            <a:ext cx="457200"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880360"/>
            <a:ext cx="457200" cy="548640"/>
          </a:xfrm>
          <a:prstGeom prst="rect">
            <a:avLst/>
          </a:prstGeom>
          <a:noFill/>
        </p:spPr>
        <p:txBody>
          <a:bodyPr wrap="square">
            <a:spAutoFit/>
          </a:bodyPr>
          <a:lstStyle/>
          <a:p>
            <a:pPr algn="ctr"/>
            <a:r>
              <a:rPr sz="2200" b="1">
                <a:solidFill>
                  <a:srgbClr val="F57F17"/>
                </a:solidFill>
                <a:latin typeface="Meiryo"/>
              </a:rPr>
              <a:t>C</a:t>
            </a:r>
          </a:p>
        </p:txBody>
      </p:sp>
      <p:sp>
        <p:nvSpPr>
          <p:cNvPr id="18" name="TextBox 17"/>
          <p:cNvSpPr txBox="1"/>
          <p:nvPr/>
        </p:nvSpPr>
        <p:spPr>
          <a:xfrm>
            <a:off x="914400" y="2651760"/>
            <a:ext cx="4846320" cy="457200"/>
          </a:xfrm>
          <a:prstGeom prst="rect">
            <a:avLst/>
          </a:prstGeom>
          <a:noFill/>
        </p:spPr>
        <p:txBody>
          <a:bodyPr wrap="square">
            <a:spAutoFit/>
          </a:bodyPr>
          <a:lstStyle/>
          <a:p>
            <a:pPr algn="l"/>
            <a:r>
              <a:rPr sz="1600" b="1">
                <a:solidFill>
                  <a:srgbClr val="1A237E"/>
                </a:solidFill>
                <a:latin typeface="Meiryo"/>
              </a:rPr>
              <a:t>RAG（検索拡張生成）</a:t>
            </a:r>
          </a:p>
        </p:txBody>
      </p:sp>
      <p:sp>
        <p:nvSpPr>
          <p:cNvPr id="19" name="TextBox 18"/>
          <p:cNvSpPr txBox="1"/>
          <p:nvPr/>
        </p:nvSpPr>
        <p:spPr>
          <a:xfrm>
            <a:off x="914400" y="3108960"/>
            <a:ext cx="4846320" cy="457200"/>
          </a:xfrm>
          <a:prstGeom prst="rect">
            <a:avLst/>
          </a:prstGeom>
          <a:noFill/>
        </p:spPr>
        <p:txBody>
          <a:bodyPr wrap="square">
            <a:spAutoFit/>
          </a:bodyPr>
          <a:lstStyle/>
          <a:p>
            <a:pPr algn="l"/>
            <a:r>
              <a:rPr sz="1200" b="0">
                <a:solidFill>
                  <a:srgbClr val="37474F"/>
                </a:solidFill>
                <a:latin typeface="Meiryo"/>
              </a:rPr>
              <a:t>保存フェーズ・検索生成フェーズ・精度設計</a:t>
            </a:r>
          </a:p>
        </p:txBody>
      </p:sp>
      <p:sp>
        <p:nvSpPr>
          <p:cNvPr id="20" name="Rectangle 19"/>
          <p:cNvSpPr/>
          <p:nvPr/>
        </p:nvSpPr>
        <p:spPr>
          <a:xfrm>
            <a:off x="6035040" y="2606040"/>
            <a:ext cx="548640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35040" y="2606040"/>
            <a:ext cx="457200"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2880360"/>
            <a:ext cx="457200" cy="548640"/>
          </a:xfrm>
          <a:prstGeom prst="rect">
            <a:avLst/>
          </a:prstGeom>
          <a:noFill/>
        </p:spPr>
        <p:txBody>
          <a:bodyPr wrap="square">
            <a:spAutoFit/>
          </a:bodyPr>
          <a:lstStyle/>
          <a:p>
            <a:pPr algn="ctr"/>
            <a:r>
              <a:rPr sz="2200" b="1">
                <a:solidFill>
                  <a:srgbClr val="F57F17"/>
                </a:solidFill>
                <a:latin typeface="Meiryo"/>
              </a:rPr>
              <a:t>D</a:t>
            </a:r>
          </a:p>
        </p:txBody>
      </p:sp>
      <p:sp>
        <p:nvSpPr>
          <p:cNvPr id="23" name="TextBox 22"/>
          <p:cNvSpPr txBox="1"/>
          <p:nvPr/>
        </p:nvSpPr>
        <p:spPr>
          <a:xfrm>
            <a:off x="6583680" y="2651760"/>
            <a:ext cx="4846320" cy="457200"/>
          </a:xfrm>
          <a:prstGeom prst="rect">
            <a:avLst/>
          </a:prstGeom>
          <a:noFill/>
        </p:spPr>
        <p:txBody>
          <a:bodyPr wrap="square">
            <a:spAutoFit/>
          </a:bodyPr>
          <a:lstStyle/>
          <a:p>
            <a:pPr algn="l"/>
            <a:r>
              <a:rPr sz="1600" b="1">
                <a:solidFill>
                  <a:srgbClr val="1A237E"/>
                </a:solidFill>
                <a:latin typeface="Meiryo"/>
              </a:rPr>
              <a:t>AI実装プロセス：実装5Dモデル</a:t>
            </a:r>
          </a:p>
        </p:txBody>
      </p:sp>
      <p:sp>
        <p:nvSpPr>
          <p:cNvPr id="24" name="TextBox 23"/>
          <p:cNvSpPr txBox="1"/>
          <p:nvPr/>
        </p:nvSpPr>
        <p:spPr>
          <a:xfrm>
            <a:off x="6583680" y="3108960"/>
            <a:ext cx="4846320" cy="457200"/>
          </a:xfrm>
          <a:prstGeom prst="rect">
            <a:avLst/>
          </a:prstGeom>
          <a:noFill/>
        </p:spPr>
        <p:txBody>
          <a:bodyPr wrap="square">
            <a:spAutoFit/>
          </a:bodyPr>
          <a:lstStyle/>
          <a:p>
            <a:pPr algn="l"/>
            <a:r>
              <a:rPr sz="1200" b="0">
                <a:solidFill>
                  <a:srgbClr val="37474F"/>
                </a:solidFill>
                <a:latin typeface="Meiryo"/>
              </a:rPr>
              <a:t>Discovery→Definition→Design→Development→Deployment</a:t>
            </a:r>
          </a:p>
        </p:txBody>
      </p:sp>
      <p:sp>
        <p:nvSpPr>
          <p:cNvPr id="25" name="Rectangle 24"/>
          <p:cNvSpPr/>
          <p:nvPr/>
        </p:nvSpPr>
        <p:spPr>
          <a:xfrm>
            <a:off x="365760" y="3840480"/>
            <a:ext cx="548640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3840480"/>
            <a:ext cx="457200"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4114800"/>
            <a:ext cx="457200" cy="548640"/>
          </a:xfrm>
          <a:prstGeom prst="rect">
            <a:avLst/>
          </a:prstGeom>
          <a:noFill/>
        </p:spPr>
        <p:txBody>
          <a:bodyPr wrap="square">
            <a:spAutoFit/>
          </a:bodyPr>
          <a:lstStyle/>
          <a:p>
            <a:pPr algn="ctr"/>
            <a:r>
              <a:rPr sz="2200" b="1">
                <a:solidFill>
                  <a:srgbClr val="F57F17"/>
                </a:solidFill>
                <a:latin typeface="Meiryo"/>
              </a:rPr>
              <a:t>E</a:t>
            </a:r>
          </a:p>
        </p:txBody>
      </p:sp>
      <p:sp>
        <p:nvSpPr>
          <p:cNvPr id="28" name="TextBox 27"/>
          <p:cNvSpPr txBox="1"/>
          <p:nvPr/>
        </p:nvSpPr>
        <p:spPr>
          <a:xfrm>
            <a:off x="914400" y="3886200"/>
            <a:ext cx="4846320" cy="457200"/>
          </a:xfrm>
          <a:prstGeom prst="rect">
            <a:avLst/>
          </a:prstGeom>
          <a:noFill/>
        </p:spPr>
        <p:txBody>
          <a:bodyPr wrap="square">
            <a:spAutoFit/>
          </a:bodyPr>
          <a:lstStyle/>
          <a:p>
            <a:pPr algn="l"/>
            <a:r>
              <a:rPr sz="1600" b="1">
                <a:solidFill>
                  <a:srgbClr val="1A237E"/>
                </a:solidFill>
                <a:latin typeface="Meiryo"/>
              </a:rPr>
              <a:t>業務設計・プロセスリエンジニアリング</a:t>
            </a:r>
          </a:p>
        </p:txBody>
      </p:sp>
      <p:sp>
        <p:nvSpPr>
          <p:cNvPr id="29" name="TextBox 28"/>
          <p:cNvSpPr txBox="1"/>
          <p:nvPr/>
        </p:nvSpPr>
        <p:spPr>
          <a:xfrm>
            <a:off x="914400" y="4343400"/>
            <a:ext cx="4846320" cy="457200"/>
          </a:xfrm>
          <a:prstGeom prst="rect">
            <a:avLst/>
          </a:prstGeom>
          <a:noFill/>
        </p:spPr>
        <p:txBody>
          <a:bodyPr wrap="square">
            <a:spAutoFit/>
          </a:bodyPr>
          <a:lstStyle/>
          <a:p>
            <a:pPr algn="l"/>
            <a:r>
              <a:rPr sz="1200" b="0">
                <a:solidFill>
                  <a:srgbClr val="37474F"/>
                </a:solidFill>
                <a:latin typeface="Meiryo"/>
              </a:rPr>
              <a:t>業務分解・委任判断・MVP・KPI/ROI</a:t>
            </a:r>
          </a:p>
        </p:txBody>
      </p:sp>
      <p:sp>
        <p:nvSpPr>
          <p:cNvPr id="30" name="Rectangle 29"/>
          <p:cNvSpPr/>
          <p:nvPr/>
        </p:nvSpPr>
        <p:spPr>
          <a:xfrm>
            <a:off x="6035040" y="3840480"/>
            <a:ext cx="548640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3840480"/>
            <a:ext cx="457200"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35040" y="4114800"/>
            <a:ext cx="457200" cy="548640"/>
          </a:xfrm>
          <a:prstGeom prst="rect">
            <a:avLst/>
          </a:prstGeom>
          <a:noFill/>
        </p:spPr>
        <p:txBody>
          <a:bodyPr wrap="square">
            <a:spAutoFit/>
          </a:bodyPr>
          <a:lstStyle/>
          <a:p>
            <a:pPr algn="ctr"/>
            <a:r>
              <a:rPr sz="2200" b="1">
                <a:solidFill>
                  <a:srgbClr val="F57F17"/>
                </a:solidFill>
                <a:latin typeface="Meiryo"/>
              </a:rPr>
              <a:t>F</a:t>
            </a:r>
          </a:p>
        </p:txBody>
      </p:sp>
      <p:sp>
        <p:nvSpPr>
          <p:cNvPr id="33" name="TextBox 32"/>
          <p:cNvSpPr txBox="1"/>
          <p:nvPr/>
        </p:nvSpPr>
        <p:spPr>
          <a:xfrm>
            <a:off x="6583680" y="3886200"/>
            <a:ext cx="4846320" cy="457200"/>
          </a:xfrm>
          <a:prstGeom prst="rect">
            <a:avLst/>
          </a:prstGeom>
          <a:noFill/>
        </p:spPr>
        <p:txBody>
          <a:bodyPr wrap="square">
            <a:spAutoFit/>
          </a:bodyPr>
          <a:lstStyle/>
          <a:p>
            <a:pPr algn="l"/>
            <a:r>
              <a:rPr sz="1600" b="1">
                <a:solidFill>
                  <a:srgbClr val="1A237E"/>
                </a:solidFill>
                <a:latin typeface="Meiryo"/>
              </a:rPr>
              <a:t>AI推進の組織設計</a:t>
            </a:r>
          </a:p>
        </p:txBody>
      </p:sp>
      <p:sp>
        <p:nvSpPr>
          <p:cNvPr id="34" name="TextBox 33"/>
          <p:cNvSpPr txBox="1"/>
          <p:nvPr/>
        </p:nvSpPr>
        <p:spPr>
          <a:xfrm>
            <a:off x="6583680" y="4343400"/>
            <a:ext cx="4846320" cy="457200"/>
          </a:xfrm>
          <a:prstGeom prst="rect">
            <a:avLst/>
          </a:prstGeom>
          <a:noFill/>
        </p:spPr>
        <p:txBody>
          <a:bodyPr wrap="square">
            <a:spAutoFit/>
          </a:bodyPr>
          <a:lstStyle/>
          <a:p>
            <a:pPr algn="l"/>
            <a:r>
              <a:rPr sz="1200" b="0">
                <a:solidFill>
                  <a:srgbClr val="37474F"/>
                </a:solidFill>
                <a:latin typeface="Meiryo"/>
              </a:rPr>
              <a:t>CoE・人材役割・チェンジマネジメント</a:t>
            </a:r>
          </a:p>
        </p:txBody>
      </p:sp>
      <p:sp>
        <p:nvSpPr>
          <p:cNvPr id="35" name="Rectangle 34"/>
          <p:cNvSpPr/>
          <p:nvPr/>
        </p:nvSpPr>
        <p:spPr>
          <a:xfrm>
            <a:off x="365760" y="5074920"/>
            <a:ext cx="548640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5074920"/>
            <a:ext cx="457200"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5349240"/>
            <a:ext cx="457200" cy="548640"/>
          </a:xfrm>
          <a:prstGeom prst="rect">
            <a:avLst/>
          </a:prstGeom>
          <a:noFill/>
        </p:spPr>
        <p:txBody>
          <a:bodyPr wrap="square">
            <a:spAutoFit/>
          </a:bodyPr>
          <a:lstStyle/>
          <a:p>
            <a:pPr algn="ctr"/>
            <a:r>
              <a:rPr sz="2200" b="1">
                <a:solidFill>
                  <a:srgbClr val="F57F17"/>
                </a:solidFill>
                <a:latin typeface="Meiryo"/>
              </a:rPr>
              <a:t>G</a:t>
            </a:r>
          </a:p>
        </p:txBody>
      </p:sp>
      <p:sp>
        <p:nvSpPr>
          <p:cNvPr id="38" name="TextBox 37"/>
          <p:cNvSpPr txBox="1"/>
          <p:nvPr/>
        </p:nvSpPr>
        <p:spPr>
          <a:xfrm>
            <a:off x="914400" y="5120640"/>
            <a:ext cx="4846320" cy="457200"/>
          </a:xfrm>
          <a:prstGeom prst="rect">
            <a:avLst/>
          </a:prstGeom>
          <a:noFill/>
        </p:spPr>
        <p:txBody>
          <a:bodyPr wrap="square">
            <a:spAutoFit/>
          </a:bodyPr>
          <a:lstStyle/>
          <a:p>
            <a:pPr algn="l"/>
            <a:r>
              <a:rPr sz="1600" b="1">
                <a:solidFill>
                  <a:srgbClr val="1A237E"/>
                </a:solidFill>
                <a:latin typeface="Meiryo"/>
              </a:rPr>
              <a:t>ガバナンス・倫理・リスク</a:t>
            </a:r>
          </a:p>
        </p:txBody>
      </p:sp>
      <p:sp>
        <p:nvSpPr>
          <p:cNvPr id="39" name="TextBox 38"/>
          <p:cNvSpPr txBox="1"/>
          <p:nvPr/>
        </p:nvSpPr>
        <p:spPr>
          <a:xfrm>
            <a:off x="914400" y="5577840"/>
            <a:ext cx="4846320" cy="457200"/>
          </a:xfrm>
          <a:prstGeom prst="rect">
            <a:avLst/>
          </a:prstGeom>
          <a:noFill/>
        </p:spPr>
        <p:txBody>
          <a:bodyPr wrap="square">
            <a:spAutoFit/>
          </a:bodyPr>
          <a:lstStyle/>
          <a:p>
            <a:pPr algn="l"/>
            <a:r>
              <a:rPr sz="1200" b="0">
                <a:solidFill>
                  <a:srgbClr val="37474F"/>
                </a:solidFill>
                <a:latin typeface="Meiryo"/>
              </a:rPr>
              <a:t>ハルシネーション・バイアス・EU AI Act</a:t>
            </a:r>
          </a:p>
        </p:txBody>
      </p:sp>
      <p:sp>
        <p:nvSpPr>
          <p:cNvPr id="40" name="Rectangle 39"/>
          <p:cNvSpPr/>
          <p:nvPr/>
        </p:nvSpPr>
        <p:spPr>
          <a:xfrm>
            <a:off x="6035040" y="5074920"/>
            <a:ext cx="548640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035040" y="5074920"/>
            <a:ext cx="457200"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5349240"/>
            <a:ext cx="457200" cy="548640"/>
          </a:xfrm>
          <a:prstGeom prst="rect">
            <a:avLst/>
          </a:prstGeom>
          <a:noFill/>
        </p:spPr>
        <p:txBody>
          <a:bodyPr wrap="square">
            <a:spAutoFit/>
          </a:bodyPr>
          <a:lstStyle/>
          <a:p>
            <a:pPr algn="ctr"/>
            <a:r>
              <a:rPr sz="2200" b="1">
                <a:solidFill>
                  <a:srgbClr val="F57F17"/>
                </a:solidFill>
                <a:latin typeface="Meiryo"/>
              </a:rPr>
              <a:t>H</a:t>
            </a:r>
          </a:p>
        </p:txBody>
      </p:sp>
      <p:sp>
        <p:nvSpPr>
          <p:cNvPr id="43" name="TextBox 42"/>
          <p:cNvSpPr txBox="1"/>
          <p:nvPr/>
        </p:nvSpPr>
        <p:spPr>
          <a:xfrm>
            <a:off x="6583680" y="5120640"/>
            <a:ext cx="4846320" cy="457200"/>
          </a:xfrm>
          <a:prstGeom prst="rect">
            <a:avLst/>
          </a:prstGeom>
          <a:noFill/>
        </p:spPr>
        <p:txBody>
          <a:bodyPr wrap="square">
            <a:spAutoFit/>
          </a:bodyPr>
          <a:lstStyle/>
          <a:p>
            <a:pPr algn="l"/>
            <a:r>
              <a:rPr sz="1600" b="1">
                <a:solidFill>
                  <a:srgbClr val="1A237E"/>
                </a:solidFill>
                <a:latin typeface="Meiryo"/>
              </a:rPr>
              <a:t>導入・運用・継続改善</a:t>
            </a:r>
          </a:p>
        </p:txBody>
      </p:sp>
      <p:sp>
        <p:nvSpPr>
          <p:cNvPr id="44" name="TextBox 43"/>
          <p:cNvSpPr txBox="1"/>
          <p:nvPr/>
        </p:nvSpPr>
        <p:spPr>
          <a:xfrm>
            <a:off x="6583680" y="5577840"/>
            <a:ext cx="4846320" cy="457200"/>
          </a:xfrm>
          <a:prstGeom prst="rect">
            <a:avLst/>
          </a:prstGeom>
          <a:noFill/>
        </p:spPr>
        <p:txBody>
          <a:bodyPr wrap="square">
            <a:spAutoFit/>
          </a:bodyPr>
          <a:lstStyle/>
          <a:p>
            <a:pPr algn="l"/>
            <a:r>
              <a:rPr sz="1200" b="0">
                <a:solidFill>
                  <a:srgbClr val="37474F"/>
                </a:solidFill>
                <a:latin typeface="Meiryo"/>
              </a:rPr>
              <a:t>パイロット・ステークホルダー・KPIモニタリング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828800" cy="2743200"/>
          </a:xfrm>
          <a:prstGeom prst="rect">
            <a:avLst/>
          </a:prstGeom>
          <a:noFill/>
        </p:spPr>
        <p:txBody>
          <a:bodyPr wrap="square">
            <a:spAutoFit/>
          </a:bodyPr>
          <a:lstStyle/>
          <a:p>
            <a:pPr algn="ctr"/>
            <a:r>
              <a:rPr sz="12000" b="1">
                <a:solidFill>
                  <a:srgbClr val="2A35A0"/>
                </a:solidFill>
                <a:latin typeface="Meiryo"/>
              </a:rPr>
              <a:t>A</a:t>
            </a:r>
          </a:p>
        </p:txBody>
      </p:sp>
      <p:sp>
        <p:nvSpPr>
          <p:cNvPr id="5" name="Rectangle 4"/>
          <p:cNvSpPr/>
          <p:nvPr/>
        </p:nvSpPr>
        <p:spPr>
          <a:xfrm>
            <a:off x="2926080" y="1645920"/>
            <a:ext cx="73152" cy="320040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1828800"/>
            <a:ext cx="8229600" cy="548640"/>
          </a:xfrm>
          <a:prstGeom prst="rect">
            <a:avLst/>
          </a:prstGeom>
          <a:noFill/>
        </p:spPr>
        <p:txBody>
          <a:bodyPr wrap="square">
            <a:spAutoFit/>
          </a:bodyPr>
          <a:lstStyle/>
          <a:p>
            <a:pPr algn="l"/>
            <a:r>
              <a:rPr sz="1800" b="0">
                <a:solidFill>
                  <a:srgbClr val="F57F17"/>
                </a:solidFill>
                <a:latin typeface="Meiryo"/>
              </a:rPr>
              <a:t>セクション A</a:t>
            </a:r>
          </a:p>
        </p:txBody>
      </p:sp>
      <p:sp>
        <p:nvSpPr>
          <p:cNvPr id="7" name="TextBox 6"/>
          <p:cNvSpPr txBox="1"/>
          <p:nvPr/>
        </p:nvSpPr>
        <p:spPr>
          <a:xfrm>
            <a:off x="3200400" y="2377440"/>
            <a:ext cx="8229600" cy="1371600"/>
          </a:xfrm>
          <a:prstGeom prst="rect">
            <a:avLst/>
          </a:prstGeom>
          <a:noFill/>
        </p:spPr>
        <p:txBody>
          <a:bodyPr wrap="square">
            <a:spAutoFit/>
          </a:bodyPr>
          <a:lstStyle/>
          <a:p>
            <a:pPr algn="l"/>
            <a:r>
              <a:rPr sz="3200" b="1">
                <a:solidFill>
                  <a:srgbClr val="FFFFFF"/>
                </a:solidFill>
                <a:latin typeface="Meiryo"/>
              </a:rPr>
              <a:t>業務の構造的理解</a:t>
            </a:r>
          </a:p>
        </p:txBody>
      </p:sp>
      <p:sp>
        <p:nvSpPr>
          <p:cNvPr id="8" name="TextBox 7"/>
          <p:cNvSpPr txBox="1"/>
          <p:nvPr/>
        </p:nvSpPr>
        <p:spPr>
          <a:xfrm>
            <a:off x="3200400" y="3840480"/>
            <a:ext cx="8229600" cy="914400"/>
          </a:xfrm>
          <a:prstGeom prst="rect">
            <a:avLst/>
          </a:prstGeom>
          <a:noFill/>
        </p:spPr>
        <p:txBody>
          <a:bodyPr wrap="square">
            <a:spAutoFit/>
          </a:bodyPr>
          <a:lstStyle/>
          <a:p>
            <a:pPr algn="l"/>
            <a:r>
              <a:rPr sz="1800" b="0">
                <a:solidFill>
                  <a:srgbClr val="B0BEC5"/>
                </a:solidFill>
                <a:latin typeface="Meiryo"/>
              </a:rPr>
              <a:t>As-Is分析・To-Be設計・IPO・ECRS・スイムレーン・暗黙知の形式知化</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A</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A-1：As-Is分析とTo-Be設計の基本</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As-Is分析とは</a:t>
            </a:r>
          </a:p>
          <a:p>
            <a:pPr lvl="1">
              <a:spcBef>
                <a:spcPts val="200"/>
              </a:spcBef>
            </a:pPr>
            <a:r>
              <a:rPr sz="1600">
                <a:solidFill>
                  <a:srgbClr val="37474F"/>
                </a:solidFill>
                <a:latin typeface="Meiryo"/>
              </a:rPr>
              <a:t>    ◦ 現状業務の「ありのまま」を可視化・記録する手法</a:t>
            </a:r>
          </a:p>
          <a:p>
            <a:pPr lvl="1">
              <a:spcBef>
                <a:spcPts val="200"/>
              </a:spcBef>
            </a:pPr>
            <a:r>
              <a:rPr sz="1600">
                <a:solidFill>
                  <a:srgbClr val="37474F"/>
                </a:solidFill>
                <a:latin typeface="Meiryo"/>
              </a:rPr>
              <a:t>    ◦ 業務フロー、担当者、所要時間、使用ツール、発生コストを把握</a:t>
            </a:r>
          </a:p>
          <a:p>
            <a:pPr lvl="1">
              <a:spcBef>
                <a:spcPts val="200"/>
              </a:spcBef>
            </a:pPr>
            <a:r>
              <a:rPr sz="1600">
                <a:solidFill>
                  <a:srgbClr val="37474F"/>
                </a:solidFill>
                <a:latin typeface="Meiryo"/>
              </a:rPr>
              <a:t>    ◦ ボトルネック・非効率・重複作業・属人化リスクを特定</a:t>
            </a:r>
          </a:p>
          <a:p>
            <a:pPr lvl="1">
              <a:spcBef>
                <a:spcPts val="200"/>
              </a:spcBef>
            </a:pPr>
            <a:r>
              <a:rPr sz="1600">
                <a:solidFill>
                  <a:srgbClr val="37474F"/>
                </a:solidFill>
                <a:latin typeface="Meiryo"/>
              </a:rPr>
              <a:t>    ◦ インタビュー・ワークショップ・業務観察・ドキュメント分析で実施</a:t>
            </a:r>
          </a:p>
          <a:p>
            <a:pPr>
              <a:spcBef>
                <a:spcPts val="600"/>
              </a:spcBef>
            </a:pPr>
            <a:r>
              <a:rPr sz="1900" b="1">
                <a:solidFill>
                  <a:srgbClr val="1A237E"/>
                </a:solidFill>
                <a:latin typeface="Meiryo"/>
              </a:rPr>
              <a:t>▶ To-Be設計とは</a:t>
            </a:r>
          </a:p>
          <a:p>
            <a:pPr lvl="1">
              <a:spcBef>
                <a:spcPts val="200"/>
              </a:spcBef>
            </a:pPr>
            <a:r>
              <a:rPr sz="1600">
                <a:solidFill>
                  <a:srgbClr val="37474F"/>
                </a:solidFill>
                <a:latin typeface="Meiryo"/>
              </a:rPr>
              <a:t>    ◦ AI導入後の「あるべき姿」を設計する未来の業務フロー</a:t>
            </a:r>
          </a:p>
          <a:p>
            <a:pPr lvl="1">
              <a:spcBef>
                <a:spcPts val="200"/>
              </a:spcBef>
            </a:pPr>
            <a:r>
              <a:rPr sz="1600">
                <a:solidFill>
                  <a:srgbClr val="37474F"/>
                </a:solidFill>
                <a:latin typeface="Meiryo"/>
              </a:rPr>
              <a:t>    ◦ AIが担う業務と人間が担う業務の役割分担を明確化</a:t>
            </a:r>
          </a:p>
          <a:p>
            <a:pPr lvl="1">
              <a:spcBef>
                <a:spcPts val="200"/>
              </a:spcBef>
            </a:pPr>
            <a:r>
              <a:rPr sz="1600">
                <a:solidFill>
                  <a:srgbClr val="37474F"/>
                </a:solidFill>
                <a:latin typeface="Meiryo"/>
              </a:rPr>
              <a:t>    ◦ 自動化・効率化により削減できる工数・コストを数値で示す</a:t>
            </a:r>
          </a:p>
          <a:p>
            <a:pPr lvl="1">
              <a:spcBef>
                <a:spcPts val="200"/>
              </a:spcBef>
            </a:pPr>
            <a:r>
              <a:rPr sz="1600">
                <a:solidFill>
                  <a:srgbClr val="37474F"/>
                </a:solidFill>
                <a:latin typeface="Meiryo"/>
              </a:rPr>
              <a:t>    ◦ 段階的移行計画（ロードマップ）と合わせて策定</a:t>
            </a:r>
          </a:p>
          <a:p>
            <a:pPr>
              <a:spcBef>
                <a:spcPts val="600"/>
              </a:spcBef>
            </a:pPr>
            <a:r>
              <a:rPr sz="1900" b="1">
                <a:solidFill>
                  <a:srgbClr val="1A237E"/>
                </a:solidFill>
                <a:latin typeface="Meiryo"/>
              </a:rPr>
              <a:t>▶ As-Is→To-Beのギャップ分析</a:t>
            </a:r>
          </a:p>
          <a:p>
            <a:pPr lvl="1">
              <a:spcBef>
                <a:spcPts val="200"/>
              </a:spcBef>
            </a:pPr>
            <a:r>
              <a:rPr sz="1600">
                <a:solidFill>
                  <a:srgbClr val="37474F"/>
                </a:solidFill>
                <a:latin typeface="Meiryo"/>
              </a:rPr>
              <a:t>    ◦ 現状と目標の差分（ギャップ）を特定</a:t>
            </a:r>
          </a:p>
          <a:p>
            <a:pPr lvl="1">
              <a:spcBef>
                <a:spcPts val="200"/>
              </a:spcBef>
            </a:pPr>
            <a:r>
              <a:rPr sz="1600">
                <a:solidFill>
                  <a:srgbClr val="37474F"/>
                </a:solidFill>
                <a:latin typeface="Meiryo"/>
              </a:rPr>
              <a:t>    ◦ 解決すべき課題の優先順位付けに活用</a:t>
            </a:r>
          </a:p>
          <a:p>
            <a:pPr lvl="1">
              <a:spcBef>
                <a:spcPts val="200"/>
              </a:spcBef>
            </a:pPr>
            <a:r>
              <a:rPr sz="1600">
                <a:solidFill>
                  <a:srgbClr val="37474F"/>
                </a:solidFill>
                <a:latin typeface="Meiryo"/>
              </a:rPr>
              <a:t>    ◦ 実装5Dモデル（Discovery/Definition）フェーズで使用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A</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A-2：IPOフレームワーク（Input-Process-Output）</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IPOフレームワークとは</a:t>
            </a:r>
          </a:p>
          <a:p>
            <a:pPr lvl="1">
              <a:spcBef>
                <a:spcPts val="200"/>
              </a:spcBef>
            </a:pPr>
            <a:r>
              <a:rPr sz="1600">
                <a:solidFill>
                  <a:srgbClr val="37474F"/>
                </a:solidFill>
                <a:latin typeface="Meiryo"/>
              </a:rPr>
              <a:t>    ◦ 業務を「入力→処理→出力」の3要素で構造化して理解する手法</a:t>
            </a:r>
          </a:p>
          <a:p>
            <a:pPr lvl="1">
              <a:spcBef>
                <a:spcPts val="200"/>
              </a:spcBef>
            </a:pPr>
            <a:r>
              <a:rPr sz="1600">
                <a:solidFill>
                  <a:srgbClr val="37474F"/>
                </a:solidFill>
                <a:latin typeface="Meiryo"/>
              </a:rPr>
              <a:t>    ◦ AIへの業務委任可能性を評価する際の基本ツール</a:t>
            </a:r>
          </a:p>
          <a:p>
            <a:pPr>
              <a:spcBef>
                <a:spcPts val="600"/>
              </a:spcBef>
            </a:pPr>
            <a:r>
              <a:rPr sz="1900" b="1">
                <a:solidFill>
                  <a:srgbClr val="1A237E"/>
                </a:solidFill>
                <a:latin typeface="Meiryo"/>
              </a:rPr>
              <a:t>▶ Input（入力）</a:t>
            </a:r>
          </a:p>
          <a:p>
            <a:pPr lvl="1">
              <a:spcBef>
                <a:spcPts val="200"/>
              </a:spcBef>
            </a:pPr>
            <a:r>
              <a:rPr sz="1600">
                <a:solidFill>
                  <a:srgbClr val="37474F"/>
                </a:solidFill>
                <a:latin typeface="Meiryo"/>
              </a:rPr>
              <a:t>    ◦ 業務が始まるために必要なデータ・情報・指示・トリガー</a:t>
            </a:r>
          </a:p>
          <a:p>
            <a:pPr lvl="1">
              <a:spcBef>
                <a:spcPts val="200"/>
              </a:spcBef>
            </a:pPr>
            <a:r>
              <a:rPr sz="1600">
                <a:solidFill>
                  <a:srgbClr val="37474F"/>
                </a:solidFill>
                <a:latin typeface="Meiryo"/>
              </a:rPr>
              <a:t>    ◦ 例）顧客からのメール、申請書類、センサーデータ、定期スケジュール</a:t>
            </a:r>
          </a:p>
          <a:p>
            <a:pPr lvl="1">
              <a:spcBef>
                <a:spcPts val="200"/>
              </a:spcBef>
            </a:pPr>
            <a:r>
              <a:rPr sz="1600">
                <a:solidFill>
                  <a:srgbClr val="37474F"/>
                </a:solidFill>
                <a:latin typeface="Meiryo"/>
              </a:rPr>
              <a:t>    ◦ AI委任判断：データの形式・品質・量・入力頻度を評価</a:t>
            </a:r>
          </a:p>
          <a:p>
            <a:pPr>
              <a:spcBef>
                <a:spcPts val="600"/>
              </a:spcBef>
            </a:pPr>
            <a:r>
              <a:rPr sz="1900" b="1">
                <a:solidFill>
                  <a:srgbClr val="1A237E"/>
                </a:solidFill>
                <a:latin typeface="Meiryo"/>
              </a:rPr>
              <a:t>▶ Process（処理）</a:t>
            </a:r>
          </a:p>
          <a:p>
            <a:pPr lvl="1">
              <a:spcBef>
                <a:spcPts val="200"/>
              </a:spcBef>
            </a:pPr>
            <a:r>
              <a:rPr sz="1600">
                <a:solidFill>
                  <a:srgbClr val="37474F"/>
                </a:solidFill>
                <a:latin typeface="Meiryo"/>
              </a:rPr>
              <a:t>    ◦ 入力を変換・加工・判断する手順・ロジック・ルール</a:t>
            </a:r>
          </a:p>
          <a:p>
            <a:pPr lvl="1">
              <a:spcBef>
                <a:spcPts val="200"/>
              </a:spcBef>
            </a:pPr>
            <a:r>
              <a:rPr sz="1600">
                <a:solidFill>
                  <a:srgbClr val="37474F"/>
                </a:solidFill>
                <a:latin typeface="Meiryo"/>
              </a:rPr>
              <a:t>    ◦ 例）分類判定、情報抽出、計算、コンテンツ生成、承認フロー</a:t>
            </a:r>
          </a:p>
          <a:p>
            <a:pPr lvl="1">
              <a:spcBef>
                <a:spcPts val="200"/>
              </a:spcBef>
            </a:pPr>
            <a:r>
              <a:rPr sz="1600">
                <a:solidFill>
                  <a:srgbClr val="37474F"/>
                </a:solidFill>
                <a:latin typeface="Meiryo"/>
              </a:rPr>
              <a:t>    ◦ AI委任判断：ルール化・パターン化できるかを評価</a:t>
            </a:r>
          </a:p>
          <a:p>
            <a:pPr>
              <a:spcBef>
                <a:spcPts val="600"/>
              </a:spcBef>
            </a:pPr>
            <a:r>
              <a:rPr sz="1900" b="1">
                <a:solidFill>
                  <a:srgbClr val="1A237E"/>
                </a:solidFill>
                <a:latin typeface="Meiryo"/>
              </a:rPr>
              <a:t>▶ Output（出力）</a:t>
            </a:r>
          </a:p>
          <a:p>
            <a:pPr lvl="1">
              <a:spcBef>
                <a:spcPts val="200"/>
              </a:spcBef>
            </a:pPr>
            <a:r>
              <a:rPr sz="1600">
                <a:solidFill>
                  <a:srgbClr val="37474F"/>
                </a:solidFill>
                <a:latin typeface="Meiryo"/>
              </a:rPr>
              <a:t>    ◦ 処理の結果として生成されるもの・次のアクション・通知</a:t>
            </a:r>
          </a:p>
          <a:p>
            <a:pPr lvl="1">
              <a:spcBef>
                <a:spcPts val="200"/>
              </a:spcBef>
            </a:pPr>
            <a:r>
              <a:rPr sz="1600">
                <a:solidFill>
                  <a:srgbClr val="37474F"/>
                </a:solidFill>
                <a:latin typeface="Meiryo"/>
              </a:rPr>
              <a:t>    ◦ 例）回答メール、レポート、データベース更新、アラート通知</a:t>
            </a:r>
          </a:p>
          <a:p>
            <a:pPr lvl="1">
              <a:spcBef>
                <a:spcPts val="200"/>
              </a:spcBef>
            </a:pPr>
            <a:r>
              <a:rPr sz="1600">
                <a:solidFill>
                  <a:srgbClr val="37474F"/>
                </a:solidFill>
                <a:latin typeface="Meiryo"/>
              </a:rPr>
              <a:t>    ◦ AI委任判断：出力の品質基準・検証方法を設計</a:t>
            </a:r>
          </a:p>
          <a:p>
            <a:pPr>
              <a:spcBef>
                <a:spcPts val="600"/>
              </a:spcBef>
            </a:pPr>
            <a:r>
              <a:rPr sz="1900" b="1">
                <a:solidFill>
                  <a:srgbClr val="1A237E"/>
                </a:solidFill>
                <a:latin typeface="Meiryo"/>
              </a:rPr>
              <a:t>▶ AIエージェント設計でのIPO活用</a:t>
            </a:r>
          </a:p>
          <a:p>
            <a:pPr lvl="1">
              <a:spcBef>
                <a:spcPts val="200"/>
              </a:spcBef>
            </a:pPr>
            <a:r>
              <a:rPr sz="1600">
                <a:solidFill>
                  <a:srgbClr val="37474F"/>
                </a:solidFill>
                <a:latin typeface="Meiryo"/>
              </a:rPr>
              <a:t>    ◦ 各業務ステップをIPOで分解→AIが担えるProcessを特定→適切なエージェント設計に繋げる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A</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A-3：スイムレーン図による業務フロー可視化</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スイムレーン図とは</a:t>
            </a:r>
          </a:p>
          <a:p>
            <a:pPr lvl="1">
              <a:spcBef>
                <a:spcPts val="200"/>
              </a:spcBef>
            </a:pPr>
            <a:r>
              <a:rPr sz="1600">
                <a:solidFill>
                  <a:srgbClr val="37474F"/>
                </a:solidFill>
                <a:latin typeface="Meiryo"/>
              </a:rPr>
              <a:t>    ◦ 複数の担当者・組織・システムが関与する業務フローを、「泳者のレーン」に見立てて可視化する図</a:t>
            </a:r>
          </a:p>
          <a:p>
            <a:pPr lvl="1">
              <a:spcBef>
                <a:spcPts val="200"/>
              </a:spcBef>
            </a:pPr>
            <a:r>
              <a:rPr sz="1600">
                <a:solidFill>
                  <a:srgbClr val="37474F"/>
                </a:solidFill>
                <a:latin typeface="Meiryo"/>
              </a:rPr>
              <a:t>    ◦ 誰が何をいつやるか・どこで情報が受け渡されるかを一目で把握</a:t>
            </a:r>
          </a:p>
          <a:p>
            <a:pPr>
              <a:spcBef>
                <a:spcPts val="600"/>
              </a:spcBef>
            </a:pPr>
            <a:r>
              <a:rPr sz="1900" b="1">
                <a:solidFill>
                  <a:srgbClr val="1A237E"/>
                </a:solidFill>
                <a:latin typeface="Meiryo"/>
              </a:rPr>
              <a:t>▶ スイムレーン図の構成要素</a:t>
            </a:r>
          </a:p>
          <a:p>
            <a:pPr lvl="1">
              <a:spcBef>
                <a:spcPts val="200"/>
              </a:spcBef>
            </a:pPr>
            <a:r>
              <a:rPr sz="1600">
                <a:solidFill>
                  <a:srgbClr val="37474F"/>
                </a:solidFill>
                <a:latin typeface="Meiryo"/>
              </a:rPr>
              <a:t>    ◦ レーン（行/列）：担当者、部門、AIエージェント、外部システムごとに設定</a:t>
            </a:r>
          </a:p>
          <a:p>
            <a:pPr lvl="1">
              <a:spcBef>
                <a:spcPts val="200"/>
              </a:spcBef>
            </a:pPr>
            <a:r>
              <a:rPr sz="1600">
                <a:solidFill>
                  <a:srgbClr val="37474F"/>
                </a:solidFill>
                <a:latin typeface="Meiryo"/>
              </a:rPr>
              <a:t>    ◦ フロー記号：開始・終了（楕円）、処理（矩形）、判断（菱形）、書類（波型矩形）</a:t>
            </a:r>
          </a:p>
          <a:p>
            <a:pPr lvl="1">
              <a:spcBef>
                <a:spcPts val="200"/>
              </a:spcBef>
            </a:pPr>
            <a:r>
              <a:rPr sz="1600">
                <a:solidFill>
                  <a:srgbClr val="37474F"/>
                </a:solidFill>
                <a:latin typeface="Meiryo"/>
              </a:rPr>
              <a:t>    ◦ 矢印：業務の流れ・情報の受け渡し方向</a:t>
            </a:r>
          </a:p>
          <a:p>
            <a:pPr lvl="1">
              <a:spcBef>
                <a:spcPts val="200"/>
              </a:spcBef>
            </a:pPr>
            <a:r>
              <a:rPr sz="1600">
                <a:solidFill>
                  <a:srgbClr val="37474F"/>
                </a:solidFill>
                <a:latin typeface="Meiryo"/>
              </a:rPr>
              <a:t>    ◦ クロス線：レーン間の引き継ぎ・連携ポイント</a:t>
            </a:r>
          </a:p>
          <a:p>
            <a:pPr>
              <a:spcBef>
                <a:spcPts val="600"/>
              </a:spcBef>
            </a:pPr>
            <a:r>
              <a:rPr sz="1900" b="1">
                <a:solidFill>
                  <a:srgbClr val="1A237E"/>
                </a:solidFill>
                <a:latin typeface="Meiryo"/>
              </a:rPr>
              <a:t>▶ AI導入分析での活用</a:t>
            </a:r>
          </a:p>
          <a:p>
            <a:pPr lvl="1">
              <a:spcBef>
                <a:spcPts val="200"/>
              </a:spcBef>
            </a:pPr>
            <a:r>
              <a:rPr sz="1600">
                <a:solidFill>
                  <a:srgbClr val="37474F"/>
                </a:solidFill>
                <a:latin typeface="Meiryo"/>
              </a:rPr>
              <a:t>    ◦ 現状（As-Is）スイムレーン図：属人化・ボトルネック・手戻りを可視化</a:t>
            </a:r>
          </a:p>
          <a:p>
            <a:pPr lvl="1">
              <a:spcBef>
                <a:spcPts val="200"/>
              </a:spcBef>
            </a:pPr>
            <a:r>
              <a:rPr sz="1600">
                <a:solidFill>
                  <a:srgbClr val="37474F"/>
                </a:solidFill>
                <a:latin typeface="Meiryo"/>
              </a:rPr>
              <a:t>    ◦ 将来（To-Be）スイムレーン図：AIエージェントのレーンを追加し役割分担を設計</a:t>
            </a:r>
          </a:p>
          <a:p>
            <a:pPr lvl="1">
              <a:spcBef>
                <a:spcPts val="200"/>
              </a:spcBef>
            </a:pPr>
            <a:r>
              <a:rPr sz="1600">
                <a:solidFill>
                  <a:srgbClr val="37474F"/>
                </a:solidFill>
                <a:latin typeface="Meiryo"/>
              </a:rPr>
              <a:t>    ◦ 判断分岐点の洗い出し：AIが自動判断できる条件を明確化</a:t>
            </a:r>
          </a:p>
          <a:p>
            <a:pPr>
              <a:spcBef>
                <a:spcPts val="600"/>
              </a:spcBef>
            </a:pPr>
            <a:r>
              <a:rPr sz="1900" b="1">
                <a:solidFill>
                  <a:srgbClr val="1A237E"/>
                </a:solidFill>
                <a:latin typeface="Meiryo"/>
              </a:rPr>
              <a:t>▶ ポイント：AI化に適したプロセス特定</a:t>
            </a:r>
          </a:p>
          <a:p>
            <a:pPr lvl="1">
              <a:spcBef>
                <a:spcPts val="200"/>
              </a:spcBef>
            </a:pPr>
            <a:r>
              <a:rPr sz="1600">
                <a:solidFill>
                  <a:srgbClr val="37474F"/>
                </a:solidFill>
                <a:latin typeface="Meiryo"/>
              </a:rPr>
              <a:t>    ◦ 繰り返し頻度が高い・判断基準が明確・データが構造化されている処理がAI化の候補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A</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A-4：ECRS原則による業務改善</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ECRS原則とは</a:t>
            </a:r>
          </a:p>
          <a:p>
            <a:pPr lvl="1">
              <a:spcBef>
                <a:spcPts val="200"/>
              </a:spcBef>
            </a:pPr>
            <a:r>
              <a:rPr sz="1600">
                <a:solidFill>
                  <a:srgbClr val="37474F"/>
                </a:solidFill>
                <a:latin typeface="Meiryo"/>
              </a:rPr>
              <a:t>    ◦ 業務改善・プロセス最適化のための4ステップフレームワーク</a:t>
            </a:r>
          </a:p>
          <a:p>
            <a:pPr lvl="1">
              <a:spcBef>
                <a:spcPts val="200"/>
              </a:spcBef>
            </a:pPr>
            <a:r>
              <a:rPr sz="1600">
                <a:solidFill>
                  <a:srgbClr val="37474F"/>
                </a:solidFill>
                <a:latin typeface="Meiryo"/>
              </a:rPr>
              <a:t>    ◦ AI導入前に「まず無くせないか」を問うことが重要</a:t>
            </a:r>
          </a:p>
          <a:p>
            <a:pPr>
              <a:spcBef>
                <a:spcPts val="600"/>
              </a:spcBef>
            </a:pPr>
            <a:r>
              <a:rPr sz="1900" b="1">
                <a:solidFill>
                  <a:srgbClr val="1A237E"/>
                </a:solidFill>
                <a:latin typeface="Meiryo"/>
              </a:rPr>
              <a:t>▶ E：Eliminate（排除）</a:t>
            </a:r>
          </a:p>
          <a:p>
            <a:pPr lvl="1">
              <a:spcBef>
                <a:spcPts val="200"/>
              </a:spcBef>
            </a:pPr>
            <a:r>
              <a:rPr sz="1600">
                <a:solidFill>
                  <a:srgbClr val="37474F"/>
                </a:solidFill>
                <a:latin typeface="Meiryo"/>
              </a:rPr>
              <a:t>    ◦ その業務を完全に廃止・削除できないかを検討</a:t>
            </a:r>
          </a:p>
          <a:p>
            <a:pPr lvl="1">
              <a:spcBef>
                <a:spcPts val="200"/>
              </a:spcBef>
            </a:pPr>
            <a:r>
              <a:rPr sz="1600">
                <a:solidFill>
                  <a:srgbClr val="37474F"/>
                </a:solidFill>
                <a:latin typeface="Meiryo"/>
              </a:rPr>
              <a:t>    ◦ 例）重複レポートの廃止、承認ステップの削除</a:t>
            </a:r>
          </a:p>
          <a:p>
            <a:pPr lvl="1">
              <a:spcBef>
                <a:spcPts val="200"/>
              </a:spcBef>
            </a:pPr>
            <a:r>
              <a:rPr sz="1600">
                <a:solidFill>
                  <a:srgbClr val="37474F"/>
                </a:solidFill>
                <a:latin typeface="Meiryo"/>
              </a:rPr>
              <a:t>    ◦ 最も大きな効果。AI化より先に検討すべき</a:t>
            </a:r>
          </a:p>
          <a:p>
            <a:pPr>
              <a:spcBef>
                <a:spcPts val="600"/>
              </a:spcBef>
            </a:pPr>
            <a:r>
              <a:rPr sz="1900" b="1">
                <a:solidFill>
                  <a:srgbClr val="1A237E"/>
                </a:solidFill>
                <a:latin typeface="Meiryo"/>
              </a:rPr>
              <a:t>▶ C：Combine（結合）</a:t>
            </a:r>
          </a:p>
          <a:p>
            <a:pPr lvl="1">
              <a:spcBef>
                <a:spcPts val="200"/>
              </a:spcBef>
            </a:pPr>
            <a:r>
              <a:rPr sz="1600">
                <a:solidFill>
                  <a:srgbClr val="37474F"/>
                </a:solidFill>
                <a:latin typeface="Meiryo"/>
              </a:rPr>
              <a:t>    ◦ 複数の業務・ステップを一つにまとめられないかを検討</a:t>
            </a:r>
          </a:p>
          <a:p>
            <a:pPr lvl="1">
              <a:spcBef>
                <a:spcPts val="200"/>
              </a:spcBef>
            </a:pPr>
            <a:r>
              <a:rPr sz="1600">
                <a:solidFill>
                  <a:srgbClr val="37474F"/>
                </a:solidFill>
                <a:latin typeface="Meiryo"/>
              </a:rPr>
              <a:t>    ◦ 例）週次報告と月次報告の統合、複数フォームの一本化</a:t>
            </a:r>
          </a:p>
          <a:p>
            <a:pPr>
              <a:spcBef>
                <a:spcPts val="600"/>
              </a:spcBef>
            </a:pPr>
            <a:r>
              <a:rPr sz="1900" b="1">
                <a:solidFill>
                  <a:srgbClr val="1A237E"/>
                </a:solidFill>
                <a:latin typeface="Meiryo"/>
              </a:rPr>
              <a:t>▶ R：Rearrange（組み替え）</a:t>
            </a:r>
          </a:p>
          <a:p>
            <a:pPr lvl="1">
              <a:spcBef>
                <a:spcPts val="200"/>
              </a:spcBef>
            </a:pPr>
            <a:r>
              <a:rPr sz="1600">
                <a:solidFill>
                  <a:srgbClr val="37474F"/>
                </a:solidFill>
                <a:latin typeface="Meiryo"/>
              </a:rPr>
              <a:t>    ◦ 業務の順序・担当者・場所・タイミングを変更できないかを検討</a:t>
            </a:r>
          </a:p>
          <a:p>
            <a:pPr lvl="1">
              <a:spcBef>
                <a:spcPts val="200"/>
              </a:spcBef>
            </a:pPr>
            <a:r>
              <a:rPr sz="1600">
                <a:solidFill>
                  <a:srgbClr val="37474F"/>
                </a:solidFill>
                <a:latin typeface="Meiryo"/>
              </a:rPr>
              <a:t>    ◦ 例）承認フローの前後入れ替え、担当者変更</a:t>
            </a:r>
          </a:p>
          <a:p>
            <a:pPr>
              <a:spcBef>
                <a:spcPts val="600"/>
              </a:spcBef>
            </a:pPr>
            <a:r>
              <a:rPr sz="1900" b="1">
                <a:solidFill>
                  <a:srgbClr val="1A237E"/>
                </a:solidFill>
                <a:latin typeface="Meiryo"/>
              </a:rPr>
              <a:t>▶ S：Simplify（簡素化）</a:t>
            </a:r>
          </a:p>
          <a:p>
            <a:pPr lvl="1">
              <a:spcBef>
                <a:spcPts val="200"/>
              </a:spcBef>
            </a:pPr>
            <a:r>
              <a:rPr sz="1600">
                <a:solidFill>
                  <a:srgbClr val="37474F"/>
                </a:solidFill>
                <a:latin typeface="Meiryo"/>
              </a:rPr>
              <a:t>    ◦ 業務を単純化・標準化・テンプレート化できないかを検討</a:t>
            </a:r>
          </a:p>
          <a:p>
            <a:pPr lvl="1">
              <a:spcBef>
                <a:spcPts val="200"/>
              </a:spcBef>
            </a:pPr>
            <a:r>
              <a:rPr sz="1600">
                <a:solidFill>
                  <a:srgbClr val="37474F"/>
                </a:solidFill>
                <a:latin typeface="Meiryo"/>
              </a:rPr>
              <a:t>    ◦ 例）入力フォームの選択式化、チェックリスト化</a:t>
            </a:r>
          </a:p>
          <a:p>
            <a:pPr lvl="1">
              <a:spcBef>
                <a:spcPts val="200"/>
              </a:spcBef>
            </a:pPr>
            <a:r>
              <a:rPr sz="1600">
                <a:solidFill>
                  <a:srgbClr val="37474F"/>
                </a:solidFill>
                <a:latin typeface="Meiryo"/>
              </a:rPr>
              <a:t>    ◦ AIはSimplify後の業務を自動化するとより高い効果</a:t>
            </a:r>
          </a:p>
          <a:p>
            <a:pPr>
              <a:spcBef>
                <a:spcPts val="600"/>
              </a:spcBef>
            </a:pPr>
            <a:r>
              <a:rPr sz="1900" b="1">
                <a:solidFill>
                  <a:srgbClr val="1A237E"/>
                </a:solidFill>
                <a:latin typeface="Meiryo"/>
              </a:rPr>
              <a:t>▶ 試験ポイント：ECRS後にAI化</a:t>
            </a:r>
          </a:p>
          <a:p>
            <a:pPr lvl="1">
              <a:spcBef>
                <a:spcPts val="200"/>
              </a:spcBef>
            </a:pPr>
            <a:r>
              <a:rPr sz="1600">
                <a:solidFill>
                  <a:srgbClr val="37474F"/>
                </a:solidFill>
                <a:latin typeface="Meiryo"/>
              </a:rPr>
              <a:t>    ◦ まずECRSで業務最適化→残った標準業務をAIで自動化が正しい順序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A</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A-5：暗黙知の形式知化</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暗黙知と形式知の定義</a:t>
            </a:r>
          </a:p>
          <a:p>
            <a:pPr lvl="1">
              <a:spcBef>
                <a:spcPts val="200"/>
              </a:spcBef>
            </a:pPr>
            <a:r>
              <a:rPr sz="1600">
                <a:solidFill>
                  <a:srgbClr val="37474F"/>
                </a:solidFill>
                <a:latin typeface="Meiryo"/>
              </a:rPr>
              <a:t>    ◦ 暗黙知（Tacit Knowledge）：言語化・文書化されていない経験・勘・コツ・判断基準</a:t>
            </a:r>
          </a:p>
          <a:p>
            <a:pPr lvl="1">
              <a:spcBef>
                <a:spcPts val="200"/>
              </a:spcBef>
            </a:pPr>
            <a:r>
              <a:rPr sz="1600">
                <a:solidFill>
                  <a:srgbClr val="37474F"/>
                </a:solidFill>
                <a:latin typeface="Meiryo"/>
              </a:rPr>
              <a:t>    ◦ 形式知（Explicit Knowledge）：文書・マニュアル・データベースとして共有可能な知識</a:t>
            </a:r>
          </a:p>
          <a:p>
            <a:pPr lvl="1">
              <a:spcBef>
                <a:spcPts val="200"/>
              </a:spcBef>
            </a:pPr>
            <a:r>
              <a:rPr sz="1600">
                <a:solidFill>
                  <a:srgbClr val="37474F"/>
                </a:solidFill>
                <a:latin typeface="Meiryo"/>
              </a:rPr>
              <a:t>    ◦ 野中郁次郎のSECIモデル：知識創造の4プロセス（共同化・表出化・連結化・内面化）</a:t>
            </a:r>
          </a:p>
          <a:p>
            <a:pPr>
              <a:spcBef>
                <a:spcPts val="600"/>
              </a:spcBef>
            </a:pPr>
            <a:r>
              <a:rPr sz="1900" b="1">
                <a:solidFill>
                  <a:srgbClr val="1A237E"/>
                </a:solidFill>
                <a:latin typeface="Meiryo"/>
              </a:rPr>
              <a:t>▶ AIへの業務委任に暗黙知形式知化が必要な理由</a:t>
            </a:r>
          </a:p>
          <a:p>
            <a:pPr lvl="1">
              <a:spcBef>
                <a:spcPts val="200"/>
              </a:spcBef>
            </a:pPr>
            <a:r>
              <a:rPr sz="1600">
                <a:solidFill>
                  <a:srgbClr val="37474F"/>
                </a:solidFill>
                <a:latin typeface="Meiryo"/>
              </a:rPr>
              <a:t>    ◦ AIは形式知のみ学習・活用できる→暗黙知はAIに教えられない</a:t>
            </a:r>
          </a:p>
          <a:p>
            <a:pPr lvl="1">
              <a:spcBef>
                <a:spcPts val="200"/>
              </a:spcBef>
            </a:pPr>
            <a:r>
              <a:rPr sz="1600">
                <a:solidFill>
                  <a:srgbClr val="37474F"/>
                </a:solidFill>
                <a:latin typeface="Meiryo"/>
              </a:rPr>
              <a:t>    ◦ プロンプト・RAGナレッジベース・判断ルールの材料となる</a:t>
            </a:r>
          </a:p>
          <a:p>
            <a:pPr lvl="1">
              <a:spcBef>
                <a:spcPts val="200"/>
              </a:spcBef>
            </a:pPr>
            <a:r>
              <a:rPr sz="1600">
                <a:solidFill>
                  <a:srgbClr val="37474F"/>
                </a:solidFill>
                <a:latin typeface="Meiryo"/>
              </a:rPr>
              <a:t>    ◦ 組織の属人化リスク解消・ナレッジ継承にも貢献</a:t>
            </a:r>
          </a:p>
          <a:p>
            <a:pPr>
              <a:spcBef>
                <a:spcPts val="600"/>
              </a:spcBef>
            </a:pPr>
            <a:r>
              <a:rPr sz="1900" b="1">
                <a:solidFill>
                  <a:srgbClr val="1A237E"/>
                </a:solidFill>
                <a:latin typeface="Meiryo"/>
              </a:rPr>
              <a:t>▶ 形式知化の手法</a:t>
            </a:r>
          </a:p>
          <a:p>
            <a:pPr lvl="1">
              <a:spcBef>
                <a:spcPts val="200"/>
              </a:spcBef>
            </a:pPr>
            <a:r>
              <a:rPr sz="1600">
                <a:solidFill>
                  <a:srgbClr val="37474F"/>
                </a:solidFill>
                <a:latin typeface="Meiryo"/>
              </a:rPr>
              <a:t>    ◦ インタビュー法：熟練者へのヒアリング・思考発話法</a:t>
            </a:r>
          </a:p>
          <a:p>
            <a:pPr lvl="1">
              <a:spcBef>
                <a:spcPts val="200"/>
              </a:spcBef>
            </a:pPr>
            <a:r>
              <a:rPr sz="1600">
                <a:solidFill>
                  <a:srgbClr val="37474F"/>
                </a:solidFill>
                <a:latin typeface="Meiryo"/>
              </a:rPr>
              <a:t>    ◦ 業務観察法：実際の作業を観察・記録・分析</a:t>
            </a:r>
          </a:p>
          <a:p>
            <a:pPr lvl="1">
              <a:spcBef>
                <a:spcPts val="200"/>
              </a:spcBef>
            </a:pPr>
            <a:r>
              <a:rPr sz="1600">
                <a:solidFill>
                  <a:srgbClr val="37474F"/>
                </a:solidFill>
                <a:latin typeface="Meiryo"/>
              </a:rPr>
              <a:t>    ◦ ドキュメント分析：既存マニュアル・議事録・メールから抽出</a:t>
            </a:r>
          </a:p>
          <a:p>
            <a:pPr lvl="1">
              <a:spcBef>
                <a:spcPts val="200"/>
              </a:spcBef>
            </a:pPr>
            <a:r>
              <a:rPr sz="1600">
                <a:solidFill>
                  <a:srgbClr val="37474F"/>
                </a:solidFill>
                <a:latin typeface="Meiryo"/>
              </a:rPr>
              <a:t>    ◦ ケーススタディ整理：過去の判断事例をIF-THEN形式で整理</a:t>
            </a:r>
          </a:p>
          <a:p>
            <a:pPr lvl="1">
              <a:spcBef>
                <a:spcPts val="200"/>
              </a:spcBef>
            </a:pPr>
            <a:r>
              <a:rPr sz="1600">
                <a:solidFill>
                  <a:srgbClr val="37474F"/>
                </a:solidFill>
                <a:latin typeface="Meiryo"/>
              </a:rPr>
              <a:t>    ◦ フローチャート化：判断分岐を図示→AIのロジック設計に活用</a:t>
            </a:r>
          </a:p>
          <a:p>
            <a:pPr>
              <a:spcBef>
                <a:spcPts val="600"/>
              </a:spcBef>
            </a:pPr>
            <a:r>
              <a:rPr sz="1900" b="1">
                <a:solidFill>
                  <a:srgbClr val="1A237E"/>
                </a:solidFill>
                <a:latin typeface="Meiryo"/>
              </a:rPr>
              <a:t>▶ RAGとの連携</a:t>
            </a:r>
          </a:p>
          <a:p>
            <a:pPr lvl="1">
              <a:spcBef>
                <a:spcPts val="200"/>
              </a:spcBef>
            </a:pPr>
            <a:r>
              <a:rPr sz="1600">
                <a:solidFill>
                  <a:srgbClr val="37474F"/>
                </a:solidFill>
                <a:latin typeface="Meiryo"/>
              </a:rPr>
              <a:t>    ◦ 形式知化した知識をドキュメント化→RAGのナレッジベースへ登録</a:t>
            </a:r>
          </a:p>
          <a:p>
            <a:pPr lvl="1">
              <a:spcBef>
                <a:spcPts val="200"/>
              </a:spcBef>
            </a:pPr>
            <a:r>
              <a:rPr sz="1600">
                <a:solidFill>
                  <a:srgbClr val="37474F"/>
                </a:solidFill>
                <a:latin typeface="Meiryo"/>
              </a:rPr>
              <a:t>    ◦ AIエージェントが参照できる「業務知識DB」を構築</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828800" cy="2743200"/>
          </a:xfrm>
          <a:prstGeom prst="rect">
            <a:avLst/>
          </a:prstGeom>
          <a:noFill/>
        </p:spPr>
        <p:txBody>
          <a:bodyPr wrap="square">
            <a:spAutoFit/>
          </a:bodyPr>
          <a:lstStyle/>
          <a:p>
            <a:pPr algn="ctr"/>
            <a:r>
              <a:rPr sz="12000" b="1">
                <a:solidFill>
                  <a:srgbClr val="2A35A0"/>
                </a:solidFill>
                <a:latin typeface="Meiryo"/>
              </a:rPr>
              <a:t>B</a:t>
            </a:r>
          </a:p>
        </p:txBody>
      </p:sp>
      <p:sp>
        <p:nvSpPr>
          <p:cNvPr id="5" name="Rectangle 4"/>
          <p:cNvSpPr/>
          <p:nvPr/>
        </p:nvSpPr>
        <p:spPr>
          <a:xfrm>
            <a:off x="2926080" y="1645920"/>
            <a:ext cx="73152" cy="320040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1828800"/>
            <a:ext cx="8229600" cy="548640"/>
          </a:xfrm>
          <a:prstGeom prst="rect">
            <a:avLst/>
          </a:prstGeom>
          <a:noFill/>
        </p:spPr>
        <p:txBody>
          <a:bodyPr wrap="square">
            <a:spAutoFit/>
          </a:bodyPr>
          <a:lstStyle/>
          <a:p>
            <a:pPr algn="l"/>
            <a:r>
              <a:rPr sz="1800" b="0">
                <a:solidFill>
                  <a:srgbClr val="F57F17"/>
                </a:solidFill>
                <a:latin typeface="Meiryo"/>
              </a:rPr>
              <a:t>セクション B</a:t>
            </a:r>
          </a:p>
        </p:txBody>
      </p:sp>
      <p:sp>
        <p:nvSpPr>
          <p:cNvPr id="7" name="TextBox 6"/>
          <p:cNvSpPr txBox="1"/>
          <p:nvPr/>
        </p:nvSpPr>
        <p:spPr>
          <a:xfrm>
            <a:off x="3200400" y="2377440"/>
            <a:ext cx="8229600" cy="1371600"/>
          </a:xfrm>
          <a:prstGeom prst="rect">
            <a:avLst/>
          </a:prstGeom>
          <a:noFill/>
        </p:spPr>
        <p:txBody>
          <a:bodyPr wrap="square">
            <a:spAutoFit/>
          </a:bodyPr>
          <a:lstStyle/>
          <a:p>
            <a:pPr algn="l"/>
            <a:r>
              <a:rPr sz="3200" b="1">
                <a:solidFill>
                  <a:srgbClr val="FFFFFF"/>
                </a:solidFill>
                <a:latin typeface="Meiryo"/>
              </a:rPr>
              <a:t>AIエージェント基礎知識</a:t>
            </a:r>
          </a:p>
        </p:txBody>
      </p:sp>
      <p:sp>
        <p:nvSpPr>
          <p:cNvPr id="8" name="TextBox 7"/>
          <p:cNvSpPr txBox="1"/>
          <p:nvPr/>
        </p:nvSpPr>
        <p:spPr>
          <a:xfrm>
            <a:off x="3200400" y="3840480"/>
            <a:ext cx="8229600" cy="914400"/>
          </a:xfrm>
          <a:prstGeom prst="rect">
            <a:avLst/>
          </a:prstGeom>
          <a:noFill/>
        </p:spPr>
        <p:txBody>
          <a:bodyPr wrap="square">
            <a:spAutoFit/>
          </a:bodyPr>
          <a:lstStyle/>
          <a:p>
            <a:pPr algn="l"/>
            <a:r>
              <a:rPr sz="1800" b="0">
                <a:solidFill>
                  <a:srgbClr val="B0BEC5"/>
                </a:solidFill>
                <a:latin typeface="Meiryo"/>
              </a:rPr>
              <a:t>生成AI・LLM・プロンプトエンジニアリング・エージェント類型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B</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B-1：生成AIとLLMの基礎</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大規模言語モデル（LLM）とは</a:t>
            </a:r>
          </a:p>
          <a:p>
            <a:pPr lvl="1">
              <a:spcBef>
                <a:spcPts val="200"/>
              </a:spcBef>
            </a:pPr>
            <a:r>
              <a:rPr sz="1600">
                <a:solidFill>
                  <a:srgbClr val="37474F"/>
                </a:solidFill>
                <a:latin typeface="Meiryo"/>
              </a:rPr>
              <a:t>    ◦ 大量のテキストデータで学習した深層学習モデル</a:t>
            </a:r>
          </a:p>
          <a:p>
            <a:pPr lvl="1">
              <a:spcBef>
                <a:spcPts val="200"/>
              </a:spcBef>
            </a:pPr>
            <a:r>
              <a:rPr sz="1600">
                <a:solidFill>
                  <a:srgbClr val="37474F"/>
                </a:solidFill>
                <a:latin typeface="Meiryo"/>
              </a:rPr>
              <a:t>    ◦ テキスト生成・翻訳・要約・質問応答・コード生成が可能</a:t>
            </a:r>
          </a:p>
          <a:p>
            <a:pPr lvl="1">
              <a:spcBef>
                <a:spcPts val="200"/>
              </a:spcBef>
            </a:pPr>
            <a:r>
              <a:rPr sz="1600">
                <a:solidFill>
                  <a:srgbClr val="37474F"/>
                </a:solidFill>
                <a:latin typeface="Meiryo"/>
              </a:rPr>
              <a:t>    ◦ 代表例：GPT-4/4o、Claude、Gemini、Llama等</a:t>
            </a:r>
          </a:p>
          <a:p>
            <a:pPr>
              <a:spcBef>
                <a:spcPts val="600"/>
              </a:spcBef>
            </a:pPr>
            <a:r>
              <a:rPr sz="1900" b="1">
                <a:solidFill>
                  <a:srgbClr val="1A237E"/>
                </a:solidFill>
                <a:latin typeface="Meiryo"/>
              </a:rPr>
              <a:t>▶ トークン（Token）</a:t>
            </a:r>
          </a:p>
          <a:p>
            <a:pPr lvl="1">
              <a:spcBef>
                <a:spcPts val="200"/>
              </a:spcBef>
            </a:pPr>
            <a:r>
              <a:rPr sz="1600">
                <a:solidFill>
                  <a:srgbClr val="37474F"/>
                </a:solidFill>
                <a:latin typeface="Meiryo"/>
              </a:rPr>
              <a:t>    ◦ LLMがテキストを処理する最小単位（単語・部分文字列・文字）</a:t>
            </a:r>
          </a:p>
          <a:p>
            <a:pPr lvl="1">
              <a:spcBef>
                <a:spcPts val="200"/>
              </a:spcBef>
            </a:pPr>
            <a:r>
              <a:rPr sz="1600">
                <a:solidFill>
                  <a:srgbClr val="37474F"/>
                </a:solidFill>
                <a:latin typeface="Meiryo"/>
              </a:rPr>
              <a:t>    ◦ 日本語は英語より1文字あたり多くのトークンを消費する傾向</a:t>
            </a:r>
          </a:p>
          <a:p>
            <a:pPr lvl="1">
              <a:spcBef>
                <a:spcPts val="200"/>
              </a:spcBef>
            </a:pPr>
            <a:r>
              <a:rPr sz="1600">
                <a:solidFill>
                  <a:srgbClr val="37474F"/>
                </a:solidFill>
                <a:latin typeface="Meiryo"/>
              </a:rPr>
              <a:t>    ◦ コスト・速度・コンテキスト容量はトークン数で決まる</a:t>
            </a:r>
          </a:p>
          <a:p>
            <a:pPr>
              <a:spcBef>
                <a:spcPts val="600"/>
              </a:spcBef>
            </a:pPr>
            <a:r>
              <a:rPr sz="1900" b="1">
                <a:solidFill>
                  <a:srgbClr val="1A237E"/>
                </a:solidFill>
                <a:latin typeface="Meiryo"/>
              </a:rPr>
              <a:t>▶ コンテキストウィンドウ</a:t>
            </a:r>
          </a:p>
          <a:p>
            <a:pPr lvl="1">
              <a:spcBef>
                <a:spcPts val="200"/>
              </a:spcBef>
            </a:pPr>
            <a:r>
              <a:rPr sz="1600">
                <a:solidFill>
                  <a:srgbClr val="37474F"/>
                </a:solidFill>
                <a:latin typeface="Meiryo"/>
              </a:rPr>
              <a:t>    ◦ LLMが一度に処理できるトークンの最大量</a:t>
            </a:r>
          </a:p>
          <a:p>
            <a:pPr lvl="1">
              <a:spcBef>
                <a:spcPts val="200"/>
              </a:spcBef>
            </a:pPr>
            <a:r>
              <a:rPr sz="1600">
                <a:solidFill>
                  <a:srgbClr val="37474F"/>
                </a:solidFill>
                <a:latin typeface="Meiryo"/>
              </a:rPr>
              <a:t>    ◦ 大きいほど長い文書・会話履歴を参照できる</a:t>
            </a:r>
          </a:p>
          <a:p>
            <a:pPr lvl="1">
              <a:spcBef>
                <a:spcPts val="200"/>
              </a:spcBef>
            </a:pPr>
            <a:r>
              <a:rPr sz="1600">
                <a:solidFill>
                  <a:srgbClr val="37474F"/>
                </a:solidFill>
                <a:latin typeface="Meiryo"/>
              </a:rPr>
              <a:t>    ◦ 例）GPT-4：128K tokens、Claude 3：200K tokens</a:t>
            </a:r>
          </a:p>
          <a:p>
            <a:pPr lvl="1">
              <a:spcBef>
                <a:spcPts val="200"/>
              </a:spcBef>
            </a:pPr>
            <a:r>
              <a:rPr sz="1600">
                <a:solidFill>
                  <a:srgbClr val="37474F"/>
                </a:solidFill>
                <a:latin typeface="Meiryo"/>
              </a:rPr>
              <a:t>    ◦ 超過した場合は古い情報が切り捨てられる（重要な設計考慮点）</a:t>
            </a:r>
          </a:p>
          <a:p>
            <a:pPr>
              <a:spcBef>
                <a:spcPts val="600"/>
              </a:spcBef>
            </a:pPr>
            <a:r>
              <a:rPr sz="1900" b="1">
                <a:solidFill>
                  <a:srgbClr val="1A237E"/>
                </a:solidFill>
                <a:latin typeface="Meiryo"/>
              </a:rPr>
              <a:t>▶ 温度パラメータ（Temperature）</a:t>
            </a:r>
          </a:p>
          <a:p>
            <a:pPr lvl="1">
              <a:spcBef>
                <a:spcPts val="200"/>
              </a:spcBef>
            </a:pPr>
            <a:r>
              <a:rPr sz="1600">
                <a:solidFill>
                  <a:srgbClr val="37474F"/>
                </a:solidFill>
                <a:latin typeface="Meiryo"/>
              </a:rPr>
              <a:t>    ◦ 出力のランダム性・創造性を制御するパラメータ（0.0〜2.0）</a:t>
            </a:r>
          </a:p>
          <a:p>
            <a:pPr lvl="1">
              <a:spcBef>
                <a:spcPts val="200"/>
              </a:spcBef>
            </a:pPr>
            <a:r>
              <a:rPr sz="1600">
                <a:solidFill>
                  <a:srgbClr val="37474F"/>
                </a:solidFill>
                <a:latin typeface="Meiryo"/>
              </a:rPr>
              <a:t>    ◦ 低い値（0.0〜0.3）：決定論的・一貫性重視→業務処理・正確さが求められるタスクに適切</a:t>
            </a:r>
          </a:p>
          <a:p>
            <a:pPr lvl="1">
              <a:spcBef>
                <a:spcPts val="200"/>
              </a:spcBef>
            </a:pPr>
            <a:r>
              <a:rPr sz="1600">
                <a:solidFill>
                  <a:srgbClr val="37474F"/>
                </a:solidFill>
                <a:latin typeface="Meiryo"/>
              </a:rPr>
              <a:t>    ◦ 高い値（0.7〜1.5）：創造的・多様な出力→アイデア出し・文章生成に活用</a:t>
            </a:r>
          </a:p>
          <a:p>
            <a:pPr lvl="1">
              <a:spcBef>
                <a:spcPts val="200"/>
              </a:spcBef>
            </a:pPr>
            <a:r>
              <a:rPr sz="1600">
                <a:solidFill>
                  <a:srgbClr val="37474F"/>
                </a:solidFill>
                <a:latin typeface="Meiryo"/>
              </a:rPr>
              <a:t>    ◦ ビジネス用途では一般的に低い温度設定を推奨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B</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B-2：生成AI vs 従来型AI の比較</a:t>
            </a:r>
          </a:p>
        </p:txBody>
      </p:sp>
      <p:sp>
        <p:nvSpPr>
          <p:cNvPr id="7" name="Rectangle 6"/>
          <p:cNvSpPr/>
          <p:nvPr/>
        </p:nvSpPr>
        <p:spPr>
          <a:xfrm>
            <a:off x="274320" y="1325880"/>
            <a:ext cx="5486400" cy="457200"/>
          </a:xfrm>
          <a:prstGeom prst="rect">
            <a:avLst/>
          </a:prstGeom>
          <a:solidFill>
            <a:srgbClr val="3F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371600"/>
            <a:ext cx="5303520" cy="365760"/>
          </a:xfrm>
          <a:prstGeom prst="rect">
            <a:avLst/>
          </a:prstGeom>
          <a:noFill/>
        </p:spPr>
        <p:txBody>
          <a:bodyPr wrap="square">
            <a:spAutoFit/>
          </a:bodyPr>
          <a:lstStyle/>
          <a:p>
            <a:pPr algn="l"/>
            <a:r>
              <a:rPr sz="1600" b="1">
                <a:solidFill>
                  <a:srgbClr val="FFFFFF"/>
                </a:solidFill>
                <a:latin typeface="Meiryo"/>
              </a:rPr>
              <a:t>従来型AI（ルールベース・ML）</a:t>
            </a:r>
          </a:p>
        </p:txBody>
      </p:sp>
      <p:sp>
        <p:nvSpPr>
          <p:cNvPr id="9" name="TextBox 8"/>
          <p:cNvSpPr txBox="1"/>
          <p:nvPr/>
        </p:nvSpPr>
        <p:spPr>
          <a:xfrm>
            <a:off x="365760" y="1920240"/>
            <a:ext cx="5303520" cy="4572000"/>
          </a:xfrm>
          <a:prstGeom prst="rect">
            <a:avLst/>
          </a:prstGeom>
          <a:noFill/>
        </p:spPr>
        <p:txBody>
          <a:bodyPr wrap="square">
            <a:spAutoFit/>
          </a:bodyPr>
          <a:lstStyle/>
          <a:p>
            <a:pPr>
              <a:spcBef>
                <a:spcPts val="400"/>
              </a:spcBef>
            </a:pPr>
            <a:r>
              <a:rPr b="1" sz="1600">
                <a:solidFill>
                  <a:srgbClr val="1A237E"/>
                </a:solidFill>
                <a:latin typeface="Meiryo"/>
              </a:rPr>
              <a:t>▶ 特徴</a:t>
            </a:r>
          </a:p>
          <a:p>
            <a:r>
              <a:rPr sz="1400">
                <a:solidFill>
                  <a:srgbClr val="37474F"/>
                </a:solidFill>
                <a:latin typeface="Meiryo"/>
              </a:rPr>
              <a:t>  ◦ 特定タスク向けに設計</a:t>
            </a:r>
          </a:p>
          <a:p>
            <a:r>
              <a:rPr sz="1400">
                <a:solidFill>
                  <a:srgbClr val="37474F"/>
                </a:solidFill>
                <a:latin typeface="Meiryo"/>
              </a:rPr>
              <a:t>  ◦ 大量の教師データが必要</a:t>
            </a:r>
          </a:p>
          <a:p>
            <a:r>
              <a:rPr sz="1400">
                <a:solidFill>
                  <a:srgbClr val="37474F"/>
                </a:solidFill>
                <a:latin typeface="Meiryo"/>
              </a:rPr>
              <a:t>  ◦ 明示的なルール・パターン学習</a:t>
            </a:r>
          </a:p>
          <a:p>
            <a:pPr>
              <a:spcBef>
                <a:spcPts val="400"/>
              </a:spcBef>
            </a:pPr>
            <a:r>
              <a:rPr b="1" sz="1600">
                <a:solidFill>
                  <a:srgbClr val="1A237E"/>
                </a:solidFill>
                <a:latin typeface="Meiryo"/>
              </a:rPr>
              <a:t>▶ 強み</a:t>
            </a:r>
          </a:p>
          <a:p>
            <a:r>
              <a:rPr sz="1400">
                <a:solidFill>
                  <a:srgbClr val="37474F"/>
                </a:solidFill>
                <a:latin typeface="Meiryo"/>
              </a:rPr>
              <a:t>  ◦ 精度が高い（特化タスク）</a:t>
            </a:r>
          </a:p>
          <a:p>
            <a:r>
              <a:rPr sz="1400">
                <a:solidFill>
                  <a:srgbClr val="37474F"/>
                </a:solidFill>
                <a:latin typeface="Meiryo"/>
              </a:rPr>
              <a:t>  ◦ 動作の予測可能性が高い</a:t>
            </a:r>
          </a:p>
          <a:p>
            <a:r>
              <a:rPr sz="1400">
                <a:solidFill>
                  <a:srgbClr val="37474F"/>
                </a:solidFill>
                <a:latin typeface="Meiryo"/>
              </a:rPr>
              <a:t>  ◦ 処理速度が速い</a:t>
            </a:r>
          </a:p>
          <a:p>
            <a:pPr>
              <a:spcBef>
                <a:spcPts val="400"/>
              </a:spcBef>
            </a:pPr>
            <a:r>
              <a:rPr b="1" sz="1600">
                <a:solidFill>
                  <a:srgbClr val="1A237E"/>
                </a:solidFill>
                <a:latin typeface="Meiryo"/>
              </a:rPr>
              <a:t>▶ 弱み</a:t>
            </a:r>
          </a:p>
          <a:p>
            <a:r>
              <a:rPr sz="1400">
                <a:solidFill>
                  <a:srgbClr val="37474F"/>
                </a:solidFill>
                <a:latin typeface="Meiryo"/>
              </a:rPr>
              <a:t>  ◦ 汎用性が低い</a:t>
            </a:r>
          </a:p>
          <a:p>
            <a:r>
              <a:rPr sz="1400">
                <a:solidFill>
                  <a:srgbClr val="37474F"/>
                </a:solidFill>
                <a:latin typeface="Meiryo"/>
              </a:rPr>
              <a:t>  ◦ 新しいタスクには再学習が必要</a:t>
            </a:r>
          </a:p>
          <a:p>
            <a:r>
              <a:rPr sz="1400">
                <a:solidFill>
                  <a:srgbClr val="37474F"/>
                </a:solidFill>
                <a:latin typeface="Meiryo"/>
              </a:rPr>
              <a:t>  ◦ 柔軟な対話・生成が困難</a:t>
            </a:r>
          </a:p>
          <a:p>
            <a:pPr>
              <a:spcBef>
                <a:spcPts val="400"/>
              </a:spcBef>
            </a:pPr>
            <a:r>
              <a:rPr b="1" sz="1600">
                <a:solidFill>
                  <a:srgbClr val="1A237E"/>
                </a:solidFill>
                <a:latin typeface="Meiryo"/>
              </a:rPr>
              <a:t>▶ 例</a:t>
            </a:r>
          </a:p>
          <a:p>
            <a:r>
              <a:rPr sz="1400">
                <a:solidFill>
                  <a:srgbClr val="37474F"/>
                </a:solidFill>
                <a:latin typeface="Meiryo"/>
              </a:rPr>
              <a:t>  ◦ 画像認識、スパムフィルタ、推薦エンジン</a:t>
            </a:r>
          </a:p>
          <a:p>
            <a:r>
              <a:rPr sz="1400">
                <a:solidFill>
                  <a:srgbClr val="37474F"/>
                </a:solidFill>
                <a:latin typeface="Meiryo"/>
              </a:rPr>
              <a:t>  ◦ 異常検知、需要予測</a:t>
            </a:r>
          </a:p>
        </p:txBody>
      </p:sp>
      <p:sp>
        <p:nvSpPr>
          <p:cNvPr id="10" name="Rectangle 9"/>
          <p:cNvSpPr/>
          <p:nvPr/>
        </p:nvSpPr>
        <p:spPr>
          <a:xfrm>
            <a:off x="6126480" y="1325880"/>
            <a:ext cx="5486400" cy="45720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371600"/>
            <a:ext cx="5303520" cy="365760"/>
          </a:xfrm>
          <a:prstGeom prst="rect">
            <a:avLst/>
          </a:prstGeom>
          <a:noFill/>
        </p:spPr>
        <p:txBody>
          <a:bodyPr wrap="square">
            <a:spAutoFit/>
          </a:bodyPr>
          <a:lstStyle/>
          <a:p>
            <a:pPr algn="l"/>
            <a:r>
              <a:rPr sz="1600" b="1">
                <a:solidFill>
                  <a:srgbClr val="1A237E"/>
                </a:solidFill>
                <a:latin typeface="Meiryo"/>
              </a:rPr>
              <a:t>生成AI（LLMベース）</a:t>
            </a:r>
          </a:p>
        </p:txBody>
      </p:sp>
      <p:sp>
        <p:nvSpPr>
          <p:cNvPr id="12" name="TextBox 11"/>
          <p:cNvSpPr txBox="1"/>
          <p:nvPr/>
        </p:nvSpPr>
        <p:spPr>
          <a:xfrm>
            <a:off x="6217920" y="1920240"/>
            <a:ext cx="5303520" cy="4572000"/>
          </a:xfrm>
          <a:prstGeom prst="rect">
            <a:avLst/>
          </a:prstGeom>
          <a:noFill/>
        </p:spPr>
        <p:txBody>
          <a:bodyPr wrap="square">
            <a:spAutoFit/>
          </a:bodyPr>
          <a:lstStyle/>
          <a:p>
            <a:pPr>
              <a:spcBef>
                <a:spcPts val="400"/>
              </a:spcBef>
            </a:pPr>
            <a:r>
              <a:rPr b="1" sz="1600">
                <a:solidFill>
                  <a:srgbClr val="1A237E"/>
                </a:solidFill>
                <a:latin typeface="Meiryo"/>
              </a:rPr>
              <a:t>▶ 特徴</a:t>
            </a:r>
          </a:p>
          <a:p>
            <a:r>
              <a:rPr sz="1400">
                <a:solidFill>
                  <a:srgbClr val="37474F"/>
                </a:solidFill>
                <a:latin typeface="Meiryo"/>
              </a:rPr>
              <a:t>  ◦ 汎用的な言語理解・生成能力</a:t>
            </a:r>
          </a:p>
          <a:p>
            <a:r>
              <a:rPr sz="1400">
                <a:solidFill>
                  <a:srgbClr val="37474F"/>
                </a:solidFill>
                <a:latin typeface="Meiryo"/>
              </a:rPr>
              <a:t>  ◦ プロンプトで動作変更可能</a:t>
            </a:r>
          </a:p>
          <a:p>
            <a:r>
              <a:rPr sz="1400">
                <a:solidFill>
                  <a:srgbClr val="37474F"/>
                </a:solidFill>
                <a:latin typeface="Meiryo"/>
              </a:rPr>
              <a:t>  ◦ ゼロショット・少数ショット学習</a:t>
            </a:r>
          </a:p>
          <a:p>
            <a:pPr>
              <a:spcBef>
                <a:spcPts val="400"/>
              </a:spcBef>
            </a:pPr>
            <a:r>
              <a:rPr b="1" sz="1600">
                <a:solidFill>
                  <a:srgbClr val="1A237E"/>
                </a:solidFill>
                <a:latin typeface="Meiryo"/>
              </a:rPr>
              <a:t>▶ 強み</a:t>
            </a:r>
          </a:p>
          <a:p>
            <a:r>
              <a:rPr sz="1400">
                <a:solidFill>
                  <a:srgbClr val="37474F"/>
                </a:solidFill>
                <a:latin typeface="Meiryo"/>
              </a:rPr>
              <a:t>  ◦ 高い汎用性・柔軟性</a:t>
            </a:r>
          </a:p>
          <a:p>
            <a:r>
              <a:rPr sz="1400">
                <a:solidFill>
                  <a:srgbClr val="37474F"/>
                </a:solidFill>
                <a:latin typeface="Meiryo"/>
              </a:rPr>
              <a:t>  ◦ 自然言語での指示が可能</a:t>
            </a:r>
          </a:p>
          <a:p>
            <a:r>
              <a:rPr sz="1400">
                <a:solidFill>
                  <a:srgbClr val="37474F"/>
                </a:solidFill>
                <a:latin typeface="Meiryo"/>
              </a:rPr>
              <a:t>  ◦ マルチタスク対応</a:t>
            </a:r>
          </a:p>
          <a:p>
            <a:pPr>
              <a:spcBef>
                <a:spcPts val="400"/>
              </a:spcBef>
            </a:pPr>
            <a:r>
              <a:rPr b="1" sz="1600">
                <a:solidFill>
                  <a:srgbClr val="1A237E"/>
                </a:solidFill>
                <a:latin typeface="Meiryo"/>
              </a:rPr>
              <a:t>▶ 弱み</a:t>
            </a:r>
          </a:p>
          <a:p>
            <a:r>
              <a:rPr sz="1400">
                <a:solidFill>
                  <a:srgbClr val="37474F"/>
                </a:solidFill>
                <a:latin typeface="Meiryo"/>
              </a:rPr>
              <a:t>  ◦ ハルシネーション（幻覚）リスク</a:t>
            </a:r>
          </a:p>
          <a:p>
            <a:r>
              <a:rPr sz="1400">
                <a:solidFill>
                  <a:srgbClr val="37474F"/>
                </a:solidFill>
                <a:latin typeface="Meiryo"/>
              </a:rPr>
              <a:t>  ◦ 最新情報の欠如（カットオフ）</a:t>
            </a:r>
          </a:p>
          <a:p>
            <a:r>
              <a:rPr sz="1400">
                <a:solidFill>
                  <a:srgbClr val="37474F"/>
                </a:solidFill>
                <a:latin typeface="Meiryo"/>
              </a:rPr>
              <a:t>  ◦ 高コスト・遅延</a:t>
            </a:r>
          </a:p>
          <a:p>
            <a:pPr>
              <a:spcBef>
                <a:spcPts val="400"/>
              </a:spcBef>
            </a:pPr>
            <a:r>
              <a:rPr b="1" sz="1600">
                <a:solidFill>
                  <a:srgbClr val="1A237E"/>
                </a:solidFill>
                <a:latin typeface="Meiryo"/>
              </a:rPr>
              <a:t>▶ 例</a:t>
            </a:r>
          </a:p>
          <a:p>
            <a:r>
              <a:rPr sz="1400">
                <a:solidFill>
                  <a:srgbClr val="37474F"/>
                </a:solidFill>
                <a:latin typeface="Meiryo"/>
              </a:rPr>
              <a:t>  ◦ 文書生成、対話、要約、翻訳</a:t>
            </a:r>
          </a:p>
          <a:p>
            <a:r>
              <a:rPr sz="1400">
                <a:solidFill>
                  <a:srgbClr val="37474F"/>
                </a:solidFill>
                <a:latin typeface="Meiryo"/>
              </a:rPr>
              <a:t>  ◦ コード生成、分析支援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B</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B-3：AIエージェントの定義と特性</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AIエージェントとは</a:t>
            </a:r>
          </a:p>
          <a:p>
            <a:pPr lvl="1">
              <a:spcBef>
                <a:spcPts val="200"/>
              </a:spcBef>
            </a:pPr>
            <a:r>
              <a:rPr sz="1600">
                <a:solidFill>
                  <a:srgbClr val="37474F"/>
                </a:solidFill>
                <a:latin typeface="Meiryo"/>
              </a:rPr>
              <a:t>    ◦ 目標を与えられると、自律的に計画を立て、ツール・APIを使い、行動を繰り返しながら目標達成を目指すAIシステム</a:t>
            </a:r>
          </a:p>
          <a:p>
            <a:pPr lvl="1">
              <a:spcBef>
                <a:spcPts val="200"/>
              </a:spcBef>
            </a:pPr>
            <a:r>
              <a:rPr sz="1600">
                <a:solidFill>
                  <a:srgbClr val="37474F"/>
                </a:solidFill>
                <a:latin typeface="Meiryo"/>
              </a:rPr>
              <a:t>    ◦ 単純な「質問→回答」の生成AIとは異なり、「計画→実行→観察→修正」のループで動作</a:t>
            </a:r>
          </a:p>
          <a:p>
            <a:pPr>
              <a:spcBef>
                <a:spcPts val="600"/>
              </a:spcBef>
            </a:pPr>
            <a:r>
              <a:rPr sz="1900" b="1">
                <a:solidFill>
                  <a:srgbClr val="1A237E"/>
                </a:solidFill>
                <a:latin typeface="Meiryo"/>
              </a:rPr>
              <a:t>▶ 自律性（Autonomy）</a:t>
            </a:r>
          </a:p>
          <a:p>
            <a:pPr lvl="1">
              <a:spcBef>
                <a:spcPts val="200"/>
              </a:spcBef>
            </a:pPr>
            <a:r>
              <a:rPr sz="1600">
                <a:solidFill>
                  <a:srgbClr val="37474F"/>
                </a:solidFill>
                <a:latin typeface="Meiryo"/>
              </a:rPr>
              <a:t>    ◦ 人間の逐一指示なしに、自らの判断でアクションを選択・実行</a:t>
            </a:r>
          </a:p>
          <a:p>
            <a:pPr lvl="1">
              <a:spcBef>
                <a:spcPts val="200"/>
              </a:spcBef>
            </a:pPr>
            <a:r>
              <a:rPr sz="1600">
                <a:solidFill>
                  <a:srgbClr val="37474F"/>
                </a:solidFill>
                <a:latin typeface="Meiryo"/>
              </a:rPr>
              <a:t>    ◦ 外部ツール（検索、コード実行、API）の呼び出しを自ら判断</a:t>
            </a:r>
          </a:p>
          <a:p>
            <a:pPr>
              <a:spcBef>
                <a:spcPts val="600"/>
              </a:spcBef>
            </a:pPr>
            <a:r>
              <a:rPr sz="1900" b="1">
                <a:solidFill>
                  <a:srgbClr val="1A237E"/>
                </a:solidFill>
                <a:latin typeface="Meiryo"/>
              </a:rPr>
              <a:t>▶ 目標指向性（Goal-Oriented）</a:t>
            </a:r>
          </a:p>
          <a:p>
            <a:pPr lvl="1">
              <a:spcBef>
                <a:spcPts val="200"/>
              </a:spcBef>
            </a:pPr>
            <a:r>
              <a:rPr sz="1600">
                <a:solidFill>
                  <a:srgbClr val="37474F"/>
                </a:solidFill>
                <a:latin typeface="Meiryo"/>
              </a:rPr>
              <a:t>    ◦ 与えられた最終目標に向けてサブゴールを分解・順次達成</a:t>
            </a:r>
          </a:p>
          <a:p>
            <a:pPr lvl="1">
              <a:spcBef>
                <a:spcPts val="200"/>
              </a:spcBef>
            </a:pPr>
            <a:r>
              <a:rPr sz="1600">
                <a:solidFill>
                  <a:srgbClr val="37474F"/>
                </a:solidFill>
                <a:latin typeface="Meiryo"/>
              </a:rPr>
              <a:t>    ◦ ReAct（Reasoning + Acting）パターン：推論と行動を交互に実行</a:t>
            </a:r>
          </a:p>
          <a:p>
            <a:pPr>
              <a:spcBef>
                <a:spcPts val="600"/>
              </a:spcBef>
            </a:pPr>
            <a:r>
              <a:rPr sz="1900" b="1">
                <a:solidFill>
                  <a:srgbClr val="1A237E"/>
                </a:solidFill>
                <a:latin typeface="Meiryo"/>
              </a:rPr>
              <a:t>▶ ループ処理（Agentic Loop）</a:t>
            </a:r>
          </a:p>
          <a:p>
            <a:pPr lvl="1">
              <a:spcBef>
                <a:spcPts val="200"/>
              </a:spcBef>
            </a:pPr>
            <a:r>
              <a:rPr sz="1600">
                <a:solidFill>
                  <a:srgbClr val="37474F"/>
                </a:solidFill>
                <a:latin typeface="Meiryo"/>
              </a:rPr>
              <a:t>    ◦ Observe（観察）→ Think（推論・計画）→ Act（実行）→ Observe...のサイクル</a:t>
            </a:r>
          </a:p>
          <a:p>
            <a:pPr lvl="1">
              <a:spcBef>
                <a:spcPts val="200"/>
              </a:spcBef>
            </a:pPr>
            <a:r>
              <a:rPr sz="1600">
                <a:solidFill>
                  <a:srgbClr val="37474F"/>
                </a:solidFill>
                <a:latin typeface="Meiryo"/>
              </a:rPr>
              <a:t>    ◦ エラーや予期しない結果に対して自動的に軌道修正</a:t>
            </a:r>
          </a:p>
          <a:p>
            <a:pPr lvl="1">
              <a:spcBef>
                <a:spcPts val="200"/>
              </a:spcBef>
            </a:pPr>
            <a:r>
              <a:rPr sz="1600">
                <a:solidFill>
                  <a:srgbClr val="37474F"/>
                </a:solidFill>
                <a:latin typeface="Meiryo"/>
              </a:rPr>
              <a:t>    ◦ Multi-Agent：複数エージェントが協調してタスクを分担</a:t>
            </a:r>
          </a:p>
          <a:p>
            <a:pPr>
              <a:spcBef>
                <a:spcPts val="600"/>
              </a:spcBef>
            </a:pPr>
            <a:r>
              <a:rPr sz="1900" b="1">
                <a:solidFill>
                  <a:srgbClr val="1A237E"/>
                </a:solidFill>
                <a:latin typeface="Meiryo"/>
              </a:rPr>
              <a:t>▶ AIエージェントの主要コンポーネント</a:t>
            </a:r>
          </a:p>
          <a:p>
            <a:pPr lvl="1">
              <a:spcBef>
                <a:spcPts val="200"/>
              </a:spcBef>
            </a:pPr>
            <a:r>
              <a:rPr sz="1600">
                <a:solidFill>
                  <a:srgbClr val="37474F"/>
                </a:solidFill>
                <a:latin typeface="Meiryo"/>
              </a:rPr>
              <a:t>    ◦ LLM（脳）：推論・計画・言語理解</a:t>
            </a:r>
          </a:p>
          <a:p>
            <a:pPr lvl="1">
              <a:spcBef>
                <a:spcPts val="200"/>
              </a:spcBef>
            </a:pPr>
            <a:r>
              <a:rPr sz="1600">
                <a:solidFill>
                  <a:srgbClr val="37474F"/>
                </a:solidFill>
                <a:latin typeface="Meiryo"/>
              </a:rPr>
              <a:t>    ◦ ツール（手）：Web検索・コード実行・DB操作・API連携</a:t>
            </a:r>
          </a:p>
          <a:p>
            <a:pPr lvl="1">
              <a:spcBef>
                <a:spcPts val="200"/>
              </a:spcBef>
            </a:pPr>
            <a:r>
              <a:rPr sz="1600">
                <a:solidFill>
                  <a:srgbClr val="37474F"/>
                </a:solidFill>
                <a:latin typeface="Meiryo"/>
              </a:rPr>
              <a:t>    ◦ メモリ（記憶）：短期（会話履歴）・長期（ベクトルDB）</a:t>
            </a:r>
          </a:p>
          <a:p>
            <a:pPr lvl="1">
              <a:spcBef>
                <a:spcPts val="200"/>
              </a:spcBef>
            </a:pPr>
            <a:r>
              <a:rPr sz="1600">
                <a:solidFill>
                  <a:srgbClr val="37474F"/>
                </a:solidFill>
                <a:latin typeface="Meiryo"/>
              </a:rPr>
              <a:t>    ◦ オーケストレーター（指揮者）：エージェント間の調整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B</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B-4：AIエージェントの類型</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①カスタム型チャットボット（GPTs・Gems等）</a:t>
            </a:r>
          </a:p>
          <a:p>
            <a:pPr lvl="1">
              <a:spcBef>
                <a:spcPts val="200"/>
              </a:spcBef>
            </a:pPr>
            <a:r>
              <a:rPr sz="1600">
                <a:solidFill>
                  <a:srgbClr val="37474F"/>
                </a:solidFill>
                <a:latin typeface="Meiryo"/>
              </a:rPr>
              <a:t>    ◦ 特定の指示・ナレッジ・ペルソナを持つカスタムAIアシスタント</a:t>
            </a:r>
          </a:p>
          <a:p>
            <a:pPr lvl="1">
              <a:spcBef>
                <a:spcPts val="200"/>
              </a:spcBef>
            </a:pPr>
            <a:r>
              <a:rPr sz="1600">
                <a:solidFill>
                  <a:srgbClr val="37474F"/>
                </a:solidFill>
                <a:latin typeface="Meiryo"/>
              </a:rPr>
              <a:t>    ◦ OpenAI GPTs、Google Gems、Claude Projects等で構築</a:t>
            </a:r>
          </a:p>
          <a:p>
            <a:pPr lvl="1">
              <a:spcBef>
                <a:spcPts val="200"/>
              </a:spcBef>
            </a:pPr>
            <a:r>
              <a:rPr sz="1600">
                <a:solidFill>
                  <a:srgbClr val="37474F"/>
                </a:solidFill>
                <a:latin typeface="Meiryo"/>
              </a:rPr>
              <a:t>    ◦ システムプロンプト・知識ファイル・ツール権限を設定</a:t>
            </a:r>
          </a:p>
          <a:p>
            <a:pPr lvl="1">
              <a:spcBef>
                <a:spcPts val="200"/>
              </a:spcBef>
            </a:pPr>
            <a:r>
              <a:rPr sz="1600">
                <a:solidFill>
                  <a:srgbClr val="37474F"/>
                </a:solidFill>
                <a:latin typeface="Meiryo"/>
              </a:rPr>
              <a:t>    ◦ 適用場面：社内FAQ、特定ドメイン質問応答、コンシェルジュ</a:t>
            </a:r>
          </a:p>
          <a:p>
            <a:pPr lvl="1">
              <a:spcBef>
                <a:spcPts val="200"/>
              </a:spcBef>
            </a:pPr>
            <a:r>
              <a:rPr sz="1600">
                <a:solidFill>
                  <a:srgbClr val="37474F"/>
                </a:solidFill>
                <a:latin typeface="Meiryo"/>
              </a:rPr>
              <a:t>    ◦ 限界：単一会話内での対応・複雑な外部連携には制限</a:t>
            </a:r>
          </a:p>
          <a:p>
            <a:pPr>
              <a:spcBef>
                <a:spcPts val="600"/>
              </a:spcBef>
            </a:pPr>
            <a:r>
              <a:rPr sz="1900" b="1">
                <a:solidFill>
                  <a:srgbClr val="1A237E"/>
                </a:solidFill>
                <a:latin typeface="Meiryo"/>
              </a:rPr>
              <a:t>▶ ②ワークフロー型AIエージェント</a:t>
            </a:r>
          </a:p>
          <a:p>
            <a:pPr lvl="1">
              <a:spcBef>
                <a:spcPts val="200"/>
              </a:spcBef>
            </a:pPr>
            <a:r>
              <a:rPr sz="1600">
                <a:solidFill>
                  <a:srgbClr val="37474F"/>
                </a:solidFill>
                <a:latin typeface="Meiryo"/>
              </a:rPr>
              <a:t>    ◦ 事前定義されたフローに沿って複数のAI処理・ツール呼び出しを自動実行</a:t>
            </a:r>
          </a:p>
          <a:p>
            <a:pPr lvl="1">
              <a:spcBef>
                <a:spcPts val="200"/>
              </a:spcBef>
            </a:pPr>
            <a:r>
              <a:rPr sz="1600">
                <a:solidFill>
                  <a:srgbClr val="37474F"/>
                </a:solidFill>
                <a:latin typeface="Meiryo"/>
              </a:rPr>
              <a:t>    ◦ n8n、Zapier、Make、Azure Logic Appsなどで構築</a:t>
            </a:r>
          </a:p>
          <a:p>
            <a:pPr lvl="1">
              <a:spcBef>
                <a:spcPts val="200"/>
              </a:spcBef>
            </a:pPr>
            <a:r>
              <a:rPr sz="1600">
                <a:solidFill>
                  <a:srgbClr val="37474F"/>
                </a:solidFill>
                <a:latin typeface="Meiryo"/>
              </a:rPr>
              <a:t>    ◦ トリガー（起動条件）→ステップ（処理）→条件分岐→アクション</a:t>
            </a:r>
          </a:p>
          <a:p>
            <a:pPr lvl="1">
              <a:spcBef>
                <a:spcPts val="200"/>
              </a:spcBef>
            </a:pPr>
            <a:r>
              <a:rPr sz="1600">
                <a:solidFill>
                  <a:srgbClr val="37474F"/>
                </a:solidFill>
                <a:latin typeface="Meiryo"/>
              </a:rPr>
              <a:t>    ◦ 適用場面：定型業務自動化、データパイプライン、通知フロー</a:t>
            </a:r>
          </a:p>
          <a:p>
            <a:pPr lvl="1">
              <a:spcBef>
                <a:spcPts val="200"/>
              </a:spcBef>
            </a:pPr>
            <a:r>
              <a:rPr sz="1600">
                <a:solidFill>
                  <a:srgbClr val="37474F"/>
                </a:solidFill>
                <a:latin typeface="Meiryo"/>
              </a:rPr>
              <a:t>    ◦ 特徴：予測可能・安定・監視しやすい（ガバナンス管理が容易）</a:t>
            </a:r>
          </a:p>
          <a:p>
            <a:pPr>
              <a:spcBef>
                <a:spcPts val="600"/>
              </a:spcBef>
            </a:pPr>
            <a:r>
              <a:rPr sz="1900" b="1">
                <a:solidFill>
                  <a:srgbClr val="1A237E"/>
                </a:solidFill>
                <a:latin typeface="Meiryo"/>
              </a:rPr>
              <a:t>▶ ③汎用型AIエージェント</a:t>
            </a:r>
          </a:p>
          <a:p>
            <a:pPr lvl="1">
              <a:spcBef>
                <a:spcPts val="200"/>
              </a:spcBef>
            </a:pPr>
            <a:r>
              <a:rPr sz="1600">
                <a:solidFill>
                  <a:srgbClr val="37474F"/>
                </a:solidFill>
                <a:latin typeface="Meiryo"/>
              </a:rPr>
              <a:t>    ◦ 高い自律性を持ち、複雑な非定型タスクを動的に計画・実行</a:t>
            </a:r>
          </a:p>
          <a:p>
            <a:pPr lvl="1">
              <a:spcBef>
                <a:spcPts val="200"/>
              </a:spcBef>
            </a:pPr>
            <a:r>
              <a:rPr sz="1600">
                <a:solidFill>
                  <a:srgbClr val="37474F"/>
                </a:solidFill>
                <a:latin typeface="Meiryo"/>
              </a:rPr>
              <a:t>    ◦ LangChain、LangGraph、AutoGen、CrewAI等で構築</a:t>
            </a:r>
          </a:p>
          <a:p>
            <a:pPr lvl="1">
              <a:spcBef>
                <a:spcPts val="200"/>
              </a:spcBef>
            </a:pPr>
            <a:r>
              <a:rPr sz="1600">
                <a:solidFill>
                  <a:srgbClr val="37474F"/>
                </a:solidFill>
                <a:latin typeface="Meiryo"/>
              </a:rPr>
              <a:t>    ◦ ツール選択・サブタスク分解・エラー回復を自律的に実施</a:t>
            </a:r>
          </a:p>
          <a:p>
            <a:pPr lvl="1">
              <a:spcBef>
                <a:spcPts val="200"/>
              </a:spcBef>
            </a:pPr>
            <a:r>
              <a:rPr sz="1600">
                <a:solidFill>
                  <a:srgbClr val="37474F"/>
                </a:solidFill>
                <a:latin typeface="Meiryo"/>
              </a:rPr>
              <a:t>    ◦ 適用場面：調査・分析・複数システム横断処理・意思決定支援</a:t>
            </a:r>
          </a:p>
          <a:p>
            <a:pPr lvl="1">
              <a:spcBef>
                <a:spcPts val="200"/>
              </a:spcBef>
            </a:pPr>
            <a:r>
              <a:rPr sz="1600">
                <a:solidFill>
                  <a:srgbClr val="37474F"/>
                </a:solidFill>
                <a:latin typeface="Meiryo"/>
              </a:rPr>
              <a:t>    ◦ 特徴：強力だが監視・ガバナンス設計が重要</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B</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B-5：プロンプトエンジニアリング</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プロンプトエンジニアリングとは</a:t>
            </a:r>
          </a:p>
          <a:p>
            <a:pPr lvl="1">
              <a:spcBef>
                <a:spcPts val="200"/>
              </a:spcBef>
            </a:pPr>
            <a:r>
              <a:rPr sz="1600">
                <a:solidFill>
                  <a:srgbClr val="37474F"/>
                </a:solidFill>
                <a:latin typeface="Meiryo"/>
              </a:rPr>
              <a:t>    ◦ LLMから望ましい出力を引き出すための入力文（プロンプト）設計技術</a:t>
            </a:r>
          </a:p>
          <a:p>
            <a:pPr lvl="1">
              <a:spcBef>
                <a:spcPts val="200"/>
              </a:spcBef>
            </a:pPr>
            <a:r>
              <a:rPr sz="1600">
                <a:solidFill>
                  <a:srgbClr val="37474F"/>
                </a:solidFill>
                <a:latin typeface="Meiryo"/>
              </a:rPr>
              <a:t>    ◦ AI活用の質は「どう指示するか」で大きく変わる</a:t>
            </a:r>
          </a:p>
          <a:p>
            <a:pPr>
              <a:spcBef>
                <a:spcPts val="600"/>
              </a:spcBef>
            </a:pPr>
            <a:r>
              <a:rPr sz="1900" b="1">
                <a:solidFill>
                  <a:srgbClr val="1A237E"/>
                </a:solidFill>
                <a:latin typeface="Meiryo"/>
              </a:rPr>
              <a:t>▶ 基本構成要素</a:t>
            </a:r>
          </a:p>
          <a:p>
            <a:pPr lvl="1">
              <a:spcBef>
                <a:spcPts val="200"/>
              </a:spcBef>
            </a:pPr>
            <a:r>
              <a:rPr sz="1600">
                <a:solidFill>
                  <a:srgbClr val="37474F"/>
                </a:solidFill>
                <a:latin typeface="Meiryo"/>
              </a:rPr>
              <a:t>    ◦ 役割（Role）：AIに演じさせるペルソナ「あなたは〇〇の専門家です」</a:t>
            </a:r>
          </a:p>
          <a:p>
            <a:pPr lvl="1">
              <a:spcBef>
                <a:spcPts val="200"/>
              </a:spcBef>
            </a:pPr>
            <a:r>
              <a:rPr sz="1600">
                <a:solidFill>
                  <a:srgbClr val="37474F"/>
                </a:solidFill>
                <a:latin typeface="Meiryo"/>
              </a:rPr>
              <a:t>    ◦ 文脈（Context）：背景情報・目的・制約条件の提供</a:t>
            </a:r>
          </a:p>
          <a:p>
            <a:pPr lvl="1">
              <a:spcBef>
                <a:spcPts val="200"/>
              </a:spcBef>
            </a:pPr>
            <a:r>
              <a:rPr sz="1600">
                <a:solidFill>
                  <a:srgbClr val="37474F"/>
                </a:solidFill>
                <a:latin typeface="Meiryo"/>
              </a:rPr>
              <a:t>    ◦ 指示（Instruction）：具体的な実行タスク・形式・出力長の指定</a:t>
            </a:r>
          </a:p>
          <a:p>
            <a:pPr lvl="1">
              <a:spcBef>
                <a:spcPts val="200"/>
              </a:spcBef>
            </a:pPr>
            <a:r>
              <a:rPr sz="1600">
                <a:solidFill>
                  <a:srgbClr val="37474F"/>
                </a:solidFill>
                <a:latin typeface="Meiryo"/>
              </a:rPr>
              <a:t>    ◦ 例示（Examples）：期待する入出力の例を提示</a:t>
            </a:r>
          </a:p>
          <a:p>
            <a:pPr>
              <a:spcBef>
                <a:spcPts val="600"/>
              </a:spcBef>
            </a:pPr>
            <a:r>
              <a:rPr sz="1900" b="1">
                <a:solidFill>
                  <a:srgbClr val="1A237E"/>
                </a:solidFill>
                <a:latin typeface="Meiryo"/>
              </a:rPr>
              <a:t>▶ Few-shot プロンプティング</a:t>
            </a:r>
          </a:p>
          <a:p>
            <a:pPr lvl="1">
              <a:spcBef>
                <a:spcPts val="200"/>
              </a:spcBef>
            </a:pPr>
            <a:r>
              <a:rPr sz="1600">
                <a:solidFill>
                  <a:srgbClr val="37474F"/>
                </a:solidFill>
                <a:latin typeface="Meiryo"/>
              </a:rPr>
              <a:t>    ◦ 入出力例を複数示してLLMにパターンを学習させる手法</a:t>
            </a:r>
          </a:p>
          <a:p>
            <a:pPr lvl="1">
              <a:spcBef>
                <a:spcPts val="200"/>
              </a:spcBef>
            </a:pPr>
            <a:r>
              <a:rPr sz="1600">
                <a:solidFill>
                  <a:srgbClr val="37474F"/>
                </a:solidFill>
                <a:latin typeface="Meiryo"/>
              </a:rPr>
              <a:t>    ◦ 例）「以下の形式でメールを分類してください→例1...例2...→本番データ」</a:t>
            </a:r>
          </a:p>
          <a:p>
            <a:pPr lvl="1">
              <a:spcBef>
                <a:spcPts val="200"/>
              </a:spcBef>
            </a:pPr>
            <a:r>
              <a:rPr sz="1600">
                <a:solidFill>
                  <a:srgbClr val="37474F"/>
                </a:solidFill>
                <a:latin typeface="Meiryo"/>
              </a:rPr>
              <a:t>    ◦ ゼロショット（例なし）より精度向上。コスト増とのトレードオフ</a:t>
            </a:r>
          </a:p>
          <a:p>
            <a:pPr>
              <a:spcBef>
                <a:spcPts val="600"/>
              </a:spcBef>
            </a:pPr>
            <a:r>
              <a:rPr sz="1900" b="1">
                <a:solidFill>
                  <a:srgbClr val="1A237E"/>
                </a:solidFill>
                <a:latin typeface="Meiryo"/>
              </a:rPr>
              <a:t>▶ Chain-of-Thought（CoT）プロンプティング</a:t>
            </a:r>
          </a:p>
          <a:p>
            <a:pPr lvl="1">
              <a:spcBef>
                <a:spcPts val="200"/>
              </a:spcBef>
            </a:pPr>
            <a:r>
              <a:rPr sz="1600">
                <a:solidFill>
                  <a:srgbClr val="37474F"/>
                </a:solidFill>
                <a:latin typeface="Meiryo"/>
              </a:rPr>
              <a:t>    ◦ 「ステップごとに考えてください」と推論プロセスを明示させる手法</a:t>
            </a:r>
          </a:p>
          <a:p>
            <a:pPr lvl="1">
              <a:spcBef>
                <a:spcPts val="200"/>
              </a:spcBef>
            </a:pPr>
            <a:r>
              <a:rPr sz="1600">
                <a:solidFill>
                  <a:srgbClr val="37474F"/>
                </a:solidFill>
                <a:latin typeface="Meiryo"/>
              </a:rPr>
              <a:t>    ◦ 複雑な論理問題・計算・多段階判断で精度向上</a:t>
            </a:r>
          </a:p>
          <a:p>
            <a:pPr lvl="1">
              <a:spcBef>
                <a:spcPts val="200"/>
              </a:spcBef>
            </a:pPr>
            <a:r>
              <a:rPr sz="1600">
                <a:solidFill>
                  <a:srgbClr val="37474F"/>
                </a:solidFill>
                <a:latin typeface="Meiryo"/>
              </a:rPr>
              <a:t>    ◦ 例）「まず〇〇を確認し、次に△△を検討し、最後に結論を出してください」</a:t>
            </a:r>
          </a:p>
          <a:p>
            <a:pPr>
              <a:spcBef>
                <a:spcPts val="600"/>
              </a:spcBef>
            </a:pPr>
            <a:r>
              <a:rPr sz="1900" b="1">
                <a:solidFill>
                  <a:srgbClr val="1A237E"/>
                </a:solidFill>
                <a:latin typeface="Meiryo"/>
              </a:rPr>
              <a:t>▶ 業務プロンプト設計のベストプラクティス</a:t>
            </a:r>
          </a:p>
          <a:p>
            <a:pPr lvl="1">
              <a:spcBef>
                <a:spcPts val="200"/>
              </a:spcBef>
            </a:pPr>
            <a:r>
              <a:rPr sz="1600">
                <a:solidFill>
                  <a:srgbClr val="37474F"/>
                </a:solidFill>
                <a:latin typeface="Meiryo"/>
              </a:rPr>
              <a:t>    ◦ 具体的・明確・構造化された指示を心がける</a:t>
            </a:r>
          </a:p>
          <a:p>
            <a:pPr lvl="1">
              <a:spcBef>
                <a:spcPts val="200"/>
              </a:spcBef>
            </a:pPr>
            <a:r>
              <a:rPr sz="1600">
                <a:solidFill>
                  <a:srgbClr val="37474F"/>
                </a:solidFill>
                <a:latin typeface="Meiryo"/>
              </a:rPr>
              <a:t>    ◦ 出力フォーマット（JSON・箇条書き・テーブル等）を明示</a:t>
            </a:r>
          </a:p>
          <a:p>
            <a:pPr lvl="1">
              <a:spcBef>
                <a:spcPts val="200"/>
              </a:spcBef>
            </a:pPr>
            <a:r>
              <a:rPr sz="1600">
                <a:solidFill>
                  <a:srgbClr val="37474F"/>
                </a:solidFill>
                <a:latin typeface="Meiryo"/>
              </a:rPr>
              <a:t>    ◦ 制約条件（文字数・禁止事項・トーン）を含める</a:t>
            </a:r>
          </a:p>
          <a:p>
            <a:pPr lvl="1">
              <a:spcBef>
                <a:spcPts val="200"/>
              </a:spcBef>
            </a:pPr>
            <a:r>
              <a:rPr sz="1600">
                <a:solidFill>
                  <a:srgbClr val="37474F"/>
                </a:solidFill>
                <a:latin typeface="Meiryo"/>
              </a:rPr>
              <a:t>    ◦ バージョン管理・A/Bテストで継続的に改善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828800" cy="2743200"/>
          </a:xfrm>
          <a:prstGeom prst="rect">
            <a:avLst/>
          </a:prstGeom>
          <a:noFill/>
        </p:spPr>
        <p:txBody>
          <a:bodyPr wrap="square">
            <a:spAutoFit/>
          </a:bodyPr>
          <a:lstStyle/>
          <a:p>
            <a:pPr algn="ctr"/>
            <a:r>
              <a:rPr sz="12000" b="1">
                <a:solidFill>
                  <a:srgbClr val="2A35A0"/>
                </a:solidFill>
                <a:latin typeface="Meiryo"/>
              </a:rPr>
              <a:t>C</a:t>
            </a:r>
          </a:p>
        </p:txBody>
      </p:sp>
      <p:sp>
        <p:nvSpPr>
          <p:cNvPr id="5" name="Rectangle 4"/>
          <p:cNvSpPr/>
          <p:nvPr/>
        </p:nvSpPr>
        <p:spPr>
          <a:xfrm>
            <a:off x="2926080" y="1645920"/>
            <a:ext cx="73152" cy="320040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1828800"/>
            <a:ext cx="8229600" cy="548640"/>
          </a:xfrm>
          <a:prstGeom prst="rect">
            <a:avLst/>
          </a:prstGeom>
          <a:noFill/>
        </p:spPr>
        <p:txBody>
          <a:bodyPr wrap="square">
            <a:spAutoFit/>
          </a:bodyPr>
          <a:lstStyle/>
          <a:p>
            <a:pPr algn="l"/>
            <a:r>
              <a:rPr sz="1800" b="0">
                <a:solidFill>
                  <a:srgbClr val="F57F17"/>
                </a:solidFill>
                <a:latin typeface="Meiryo"/>
              </a:rPr>
              <a:t>セクション C</a:t>
            </a:r>
          </a:p>
        </p:txBody>
      </p:sp>
      <p:sp>
        <p:nvSpPr>
          <p:cNvPr id="7" name="TextBox 6"/>
          <p:cNvSpPr txBox="1"/>
          <p:nvPr/>
        </p:nvSpPr>
        <p:spPr>
          <a:xfrm>
            <a:off x="3200400" y="2377440"/>
            <a:ext cx="8229600" cy="1371600"/>
          </a:xfrm>
          <a:prstGeom prst="rect">
            <a:avLst/>
          </a:prstGeom>
          <a:noFill/>
        </p:spPr>
        <p:txBody>
          <a:bodyPr wrap="square">
            <a:spAutoFit/>
          </a:bodyPr>
          <a:lstStyle/>
          <a:p>
            <a:pPr algn="l"/>
            <a:r>
              <a:rPr sz="3200" b="1">
                <a:solidFill>
                  <a:srgbClr val="FFFFFF"/>
                </a:solidFill>
                <a:latin typeface="Meiryo"/>
              </a:rPr>
              <a:t>RAG（検索拡張生成）</a:t>
            </a:r>
          </a:p>
        </p:txBody>
      </p:sp>
      <p:sp>
        <p:nvSpPr>
          <p:cNvPr id="8" name="TextBox 7"/>
          <p:cNvSpPr txBox="1"/>
          <p:nvPr/>
        </p:nvSpPr>
        <p:spPr>
          <a:xfrm>
            <a:off x="3200400" y="3840480"/>
            <a:ext cx="8229600" cy="914400"/>
          </a:xfrm>
          <a:prstGeom prst="rect">
            <a:avLst/>
          </a:prstGeom>
          <a:noFill/>
        </p:spPr>
        <p:txBody>
          <a:bodyPr wrap="square">
            <a:spAutoFit/>
          </a:bodyPr>
          <a:lstStyle/>
          <a:p>
            <a:pPr algn="l"/>
            <a:r>
              <a:rPr sz="1800" b="0">
                <a:solidFill>
                  <a:srgbClr val="B0BEC5"/>
                </a:solidFill>
                <a:latin typeface="Meiryo"/>
              </a:rPr>
              <a:t>保存フェーズ・検索生成フェーズ・RAG精度設計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C</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C-1：RAGの定義と目的</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RAG（Retrieval-Augmented Generation）とは</a:t>
            </a:r>
          </a:p>
          <a:p>
            <a:pPr lvl="1">
              <a:spcBef>
                <a:spcPts val="200"/>
              </a:spcBef>
            </a:pPr>
            <a:r>
              <a:rPr sz="1600">
                <a:solidFill>
                  <a:srgbClr val="37474F"/>
                </a:solidFill>
                <a:latin typeface="Meiryo"/>
              </a:rPr>
              <a:t>    ◦ LLMの回答生成時に、外部知識ベースから関連情報を動的に検索し、コンテキストとして注入する技術</a:t>
            </a:r>
          </a:p>
          <a:p>
            <a:pPr lvl="1">
              <a:spcBef>
                <a:spcPts val="200"/>
              </a:spcBef>
            </a:pPr>
            <a:r>
              <a:rPr sz="1600">
                <a:solidFill>
                  <a:srgbClr val="37474F"/>
                </a:solidFill>
                <a:latin typeface="Meiryo"/>
              </a:rPr>
              <a:t>    ◦ 「検索（Retrieval）」と「生成（Generation）」を組み合わせたアーキテクチャ</a:t>
            </a:r>
          </a:p>
          <a:p>
            <a:pPr>
              <a:spcBef>
                <a:spcPts val="600"/>
              </a:spcBef>
            </a:pPr>
            <a:r>
              <a:rPr sz="1900" b="1">
                <a:solidFill>
                  <a:srgbClr val="1A237E"/>
                </a:solidFill>
                <a:latin typeface="Meiryo"/>
              </a:rPr>
              <a:t>▶ RAGが解決する3つの課題</a:t>
            </a:r>
          </a:p>
          <a:p>
            <a:pPr lvl="1">
              <a:spcBef>
                <a:spcPts val="200"/>
              </a:spcBef>
            </a:pPr>
            <a:r>
              <a:rPr sz="1600">
                <a:solidFill>
                  <a:srgbClr val="37474F"/>
                </a:solidFill>
                <a:latin typeface="Meiryo"/>
              </a:rPr>
              <a:t>    ◦ ①ハルシネーション（幻覚）の抑制：根拠となる文書を参照させることで事実と異なる生成を抑制</a:t>
            </a:r>
          </a:p>
          <a:p>
            <a:pPr lvl="1">
              <a:spcBef>
                <a:spcPts val="200"/>
              </a:spcBef>
            </a:pPr>
            <a:r>
              <a:rPr sz="1600">
                <a:solidFill>
                  <a:srgbClr val="37474F"/>
                </a:solidFill>
                <a:latin typeface="Meiryo"/>
              </a:rPr>
              <a:t>    ◦ ②最新性の確保：LLMの学習データカットオフ後の情報もリアルタイム参照可能</a:t>
            </a:r>
          </a:p>
          <a:p>
            <a:pPr lvl="1">
              <a:spcBef>
                <a:spcPts val="200"/>
              </a:spcBef>
            </a:pPr>
            <a:r>
              <a:rPr sz="1600">
                <a:solidFill>
                  <a:srgbClr val="37474F"/>
                </a:solidFill>
                <a:latin typeface="Meiryo"/>
              </a:rPr>
              <a:t>    ◦ ③根拠・引用の提示：「どの文書に基づいているか」を明示し信頼性・透明性を確保</a:t>
            </a:r>
          </a:p>
          <a:p>
            <a:pPr>
              <a:spcBef>
                <a:spcPts val="600"/>
              </a:spcBef>
            </a:pPr>
            <a:r>
              <a:rPr sz="1900" b="1">
                <a:solidFill>
                  <a:srgbClr val="1A237E"/>
                </a:solidFill>
                <a:latin typeface="Meiryo"/>
              </a:rPr>
              <a:t>▶ RAGが特に有効なユースケース</a:t>
            </a:r>
          </a:p>
          <a:p>
            <a:pPr lvl="1">
              <a:spcBef>
                <a:spcPts val="200"/>
              </a:spcBef>
            </a:pPr>
            <a:r>
              <a:rPr sz="1600">
                <a:solidFill>
                  <a:srgbClr val="37474F"/>
                </a:solidFill>
                <a:latin typeface="Meiryo"/>
              </a:rPr>
              <a:t>    ◦ 社内規程・製品マニュアル・法令に基づく質問応答</a:t>
            </a:r>
          </a:p>
          <a:p>
            <a:pPr lvl="1">
              <a:spcBef>
                <a:spcPts val="200"/>
              </a:spcBef>
            </a:pPr>
            <a:r>
              <a:rPr sz="1600">
                <a:solidFill>
                  <a:srgbClr val="37474F"/>
                </a:solidFill>
                <a:latin typeface="Meiryo"/>
              </a:rPr>
              <a:t>    ◦ 最新ニュース・市場情報・業績データを使った分析支援</a:t>
            </a:r>
          </a:p>
          <a:p>
            <a:pPr lvl="1">
              <a:spcBef>
                <a:spcPts val="200"/>
              </a:spcBef>
            </a:pPr>
            <a:r>
              <a:rPr sz="1600">
                <a:solidFill>
                  <a:srgbClr val="37474F"/>
                </a:solidFill>
                <a:latin typeface="Meiryo"/>
              </a:rPr>
              <a:t>    ◦ カスタマーサポート・ヘルプデスクの自動応答</a:t>
            </a:r>
          </a:p>
          <a:p>
            <a:pPr>
              <a:spcBef>
                <a:spcPts val="600"/>
              </a:spcBef>
            </a:pPr>
            <a:r>
              <a:rPr sz="1900" b="1">
                <a:solidFill>
                  <a:srgbClr val="1A237E"/>
                </a:solidFill>
                <a:latin typeface="Meiryo"/>
              </a:rPr>
              <a:t>▶ RAGとファインチューニングの使い分け</a:t>
            </a:r>
          </a:p>
          <a:p>
            <a:pPr lvl="1">
              <a:spcBef>
                <a:spcPts val="200"/>
              </a:spcBef>
            </a:pPr>
            <a:r>
              <a:rPr sz="1600">
                <a:solidFill>
                  <a:srgbClr val="37474F"/>
                </a:solidFill>
                <a:latin typeface="Meiryo"/>
              </a:rPr>
              <a:t>    ◦ RAG：知識の追加・更新が頻繁、引用が重要、コスト重視の場合</a:t>
            </a:r>
          </a:p>
          <a:p>
            <a:pPr lvl="1">
              <a:spcBef>
                <a:spcPts val="200"/>
              </a:spcBef>
            </a:pPr>
            <a:r>
              <a:rPr sz="1600">
                <a:solidFill>
                  <a:srgbClr val="37474F"/>
                </a:solidFill>
                <a:latin typeface="Meiryo"/>
              </a:rPr>
              <a:t>    ◦ ファインチューニング：特定スタイル・形式への適応、推論時コスト削減が目的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C</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C-2：RAG 保存フェーズ（インデックス構築）</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STEP 1：ドキュメント分割（チャンキング）</a:t>
            </a:r>
          </a:p>
          <a:p>
            <a:pPr lvl="1">
              <a:spcBef>
                <a:spcPts val="200"/>
              </a:spcBef>
            </a:pPr>
            <a:r>
              <a:rPr sz="1600">
                <a:solidFill>
                  <a:srgbClr val="37474F"/>
                </a:solidFill>
                <a:latin typeface="Meiryo"/>
              </a:rPr>
              <a:t>    ◦ 大きな文書を検索しやすい小さなチャンク（断片）に分割</a:t>
            </a:r>
          </a:p>
          <a:p>
            <a:pPr lvl="1">
              <a:spcBef>
                <a:spcPts val="200"/>
              </a:spcBef>
            </a:pPr>
            <a:r>
              <a:rPr sz="1600">
                <a:solidFill>
                  <a:srgbClr val="37474F"/>
                </a:solidFill>
                <a:latin typeface="Meiryo"/>
              </a:rPr>
              <a:t>    ◦ 固定サイズ分割：一定文字数/トークン数で機械的に分割（シンプルだが文脈が途切れるリスク）</a:t>
            </a:r>
          </a:p>
          <a:p>
            <a:pPr lvl="1">
              <a:spcBef>
                <a:spcPts val="200"/>
              </a:spcBef>
            </a:pPr>
            <a:r>
              <a:rPr sz="1600">
                <a:solidFill>
                  <a:srgbClr val="37474F"/>
                </a:solidFill>
                <a:latin typeface="Meiryo"/>
              </a:rPr>
              <a:t>    ◦ 意味単位分割：段落・セクション・文書構造に基づいて分割（精度向上）</a:t>
            </a:r>
          </a:p>
          <a:p>
            <a:pPr lvl="1">
              <a:spcBef>
                <a:spcPts val="200"/>
              </a:spcBef>
            </a:pPr>
            <a:r>
              <a:rPr sz="1600">
                <a:solidFill>
                  <a:srgbClr val="37474F"/>
                </a:solidFill>
                <a:latin typeface="Meiryo"/>
              </a:rPr>
              <a:t>    ◦ チャンクサイズの設計が精度に大きく影響（詳細はC-4）</a:t>
            </a:r>
          </a:p>
          <a:p>
            <a:pPr>
              <a:spcBef>
                <a:spcPts val="600"/>
              </a:spcBef>
            </a:pPr>
            <a:r>
              <a:rPr sz="1900" b="1">
                <a:solidFill>
                  <a:srgbClr val="1A237E"/>
                </a:solidFill>
                <a:latin typeface="Meiryo"/>
              </a:rPr>
              <a:t>▶ STEP 2：埋め込みベクトル化（Embedding）</a:t>
            </a:r>
          </a:p>
          <a:p>
            <a:pPr lvl="1">
              <a:spcBef>
                <a:spcPts val="200"/>
              </a:spcBef>
            </a:pPr>
            <a:r>
              <a:rPr sz="1600">
                <a:solidFill>
                  <a:srgbClr val="37474F"/>
                </a:solidFill>
                <a:latin typeface="Meiryo"/>
              </a:rPr>
              <a:t>    ◦ テキストを多次元ベクトル（数値配列）に変換する処理</a:t>
            </a:r>
          </a:p>
          <a:p>
            <a:pPr lvl="1">
              <a:spcBef>
                <a:spcPts val="200"/>
              </a:spcBef>
            </a:pPr>
            <a:r>
              <a:rPr sz="1600">
                <a:solidFill>
                  <a:srgbClr val="37474F"/>
                </a:solidFill>
                <a:latin typeface="Meiryo"/>
              </a:rPr>
              <a:t>    ◦ 埋め込みモデル：OpenAI text-embedding-3、Cohere Embed等</a:t>
            </a:r>
          </a:p>
          <a:p>
            <a:pPr lvl="1">
              <a:spcBef>
                <a:spcPts val="200"/>
              </a:spcBef>
            </a:pPr>
            <a:r>
              <a:rPr sz="1600">
                <a:solidFill>
                  <a:srgbClr val="37474F"/>
                </a:solidFill>
                <a:latin typeface="Meiryo"/>
              </a:rPr>
              <a:t>    ◦ 意味的に近いテキストはベクトル空間上で近い位置に配置される</a:t>
            </a:r>
          </a:p>
          <a:p>
            <a:pPr lvl="1">
              <a:spcBef>
                <a:spcPts val="200"/>
              </a:spcBef>
            </a:pPr>
            <a:r>
              <a:rPr sz="1600">
                <a:solidFill>
                  <a:srgbClr val="37474F"/>
                </a:solidFill>
                <a:latin typeface="Meiryo"/>
              </a:rPr>
              <a:t>    ◦ 日本語対応モデルの選定が精度のカギ</a:t>
            </a:r>
          </a:p>
          <a:p>
            <a:pPr>
              <a:spcBef>
                <a:spcPts val="600"/>
              </a:spcBef>
            </a:pPr>
            <a:r>
              <a:rPr sz="1900" b="1">
                <a:solidFill>
                  <a:srgbClr val="1A237E"/>
                </a:solidFill>
                <a:latin typeface="Meiryo"/>
              </a:rPr>
              <a:t>▶ STEP 3：ベクトルデータベースへの格納</a:t>
            </a:r>
          </a:p>
          <a:p>
            <a:pPr lvl="1">
              <a:spcBef>
                <a:spcPts val="200"/>
              </a:spcBef>
            </a:pPr>
            <a:r>
              <a:rPr sz="1600">
                <a:solidFill>
                  <a:srgbClr val="37474F"/>
                </a:solidFill>
                <a:latin typeface="Meiryo"/>
              </a:rPr>
              <a:t>    ◦ 変換したベクトルを高速検索に最適化したDBに保存</a:t>
            </a:r>
          </a:p>
          <a:p>
            <a:pPr lvl="1">
              <a:spcBef>
                <a:spcPts val="200"/>
              </a:spcBef>
            </a:pPr>
            <a:r>
              <a:rPr sz="1600">
                <a:solidFill>
                  <a:srgbClr val="37474F"/>
                </a:solidFill>
                <a:latin typeface="Meiryo"/>
              </a:rPr>
              <a:t>    ◦ 代表的なベクトルDB：Pinecone、Weaviate、Chroma、pgvector</a:t>
            </a:r>
          </a:p>
          <a:p>
            <a:pPr lvl="1">
              <a:spcBef>
                <a:spcPts val="200"/>
              </a:spcBef>
            </a:pPr>
            <a:r>
              <a:rPr sz="1600">
                <a:solidFill>
                  <a:srgbClr val="37474F"/>
                </a:solidFill>
                <a:latin typeface="Meiryo"/>
              </a:rPr>
              <a:t>    ◦ 元テキスト・メタデータ（ファイル名・作成日・カテゴリ）もセットで保存</a:t>
            </a:r>
          </a:p>
          <a:p>
            <a:pPr lvl="1">
              <a:spcBef>
                <a:spcPts val="200"/>
              </a:spcBef>
            </a:pPr>
            <a:r>
              <a:rPr sz="1600">
                <a:solidFill>
                  <a:srgbClr val="37474F"/>
                </a:solidFill>
                <a:latin typeface="Meiryo"/>
              </a:rPr>
              <a:t>    ◦ メタデータはフィルタリング・ランキング精度向上に活用（詳細はC-4）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C</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C-3：RAG 検索・生成フェーズ（クエリ処理）</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STEP 4：クエリ処理（Query Processing）</a:t>
            </a:r>
          </a:p>
          <a:p>
            <a:pPr lvl="1">
              <a:spcBef>
                <a:spcPts val="200"/>
              </a:spcBef>
            </a:pPr>
            <a:r>
              <a:rPr sz="1600">
                <a:solidFill>
                  <a:srgbClr val="37474F"/>
                </a:solidFill>
                <a:latin typeface="Meiryo"/>
              </a:rPr>
              <a:t>    ◦ ユーザーの質問（クエリ）をEmbeddingモデルでベクトル化</a:t>
            </a:r>
          </a:p>
          <a:p>
            <a:pPr lvl="1">
              <a:spcBef>
                <a:spcPts val="200"/>
              </a:spcBef>
            </a:pPr>
            <a:r>
              <a:rPr sz="1600">
                <a:solidFill>
                  <a:srgbClr val="37474F"/>
                </a:solidFill>
                <a:latin typeface="Meiryo"/>
              </a:rPr>
              <a:t>    ◦ クエリ拡張：同義語追加・分解・仮説文書生成（HyDE）で検索精度向上</a:t>
            </a:r>
          </a:p>
          <a:p>
            <a:pPr lvl="1">
              <a:spcBef>
                <a:spcPts val="200"/>
              </a:spcBef>
            </a:pPr>
            <a:r>
              <a:rPr sz="1600">
                <a:solidFill>
                  <a:srgbClr val="37474F"/>
                </a:solidFill>
                <a:latin typeface="Meiryo"/>
              </a:rPr>
              <a:t>    ◦ 多言語クエリ：日本語←→英語の変換・統一化</a:t>
            </a:r>
          </a:p>
          <a:p>
            <a:pPr>
              <a:spcBef>
                <a:spcPts val="600"/>
              </a:spcBef>
            </a:pPr>
            <a:r>
              <a:rPr sz="1900" b="1">
                <a:solidFill>
                  <a:srgbClr val="1A237E"/>
                </a:solidFill>
                <a:latin typeface="Meiryo"/>
              </a:rPr>
              <a:t>▶ STEP 5：類似度検索（Semantic Search）</a:t>
            </a:r>
          </a:p>
          <a:p>
            <a:pPr lvl="1">
              <a:spcBef>
                <a:spcPts val="200"/>
              </a:spcBef>
            </a:pPr>
            <a:r>
              <a:rPr sz="1600">
                <a:solidFill>
                  <a:srgbClr val="37474F"/>
                </a:solidFill>
                <a:latin typeface="Meiryo"/>
              </a:rPr>
              <a:t>    ◦ クエリベクトルとチャンクベクトルの類似度を計算</a:t>
            </a:r>
          </a:p>
          <a:p>
            <a:pPr lvl="1">
              <a:spcBef>
                <a:spcPts val="200"/>
              </a:spcBef>
            </a:pPr>
            <a:r>
              <a:rPr sz="1600">
                <a:solidFill>
                  <a:srgbClr val="37474F"/>
                </a:solidFill>
                <a:latin typeface="Meiryo"/>
              </a:rPr>
              <a:t>    ◦ コサイン類似度・内積・ユークリッド距離で近いチャンクを特定</a:t>
            </a:r>
          </a:p>
          <a:p>
            <a:pPr lvl="1">
              <a:spcBef>
                <a:spcPts val="200"/>
              </a:spcBef>
            </a:pPr>
            <a:r>
              <a:rPr sz="1600">
                <a:solidFill>
                  <a:srgbClr val="37474F"/>
                </a:solidFill>
                <a:latin typeface="Meiryo"/>
              </a:rPr>
              <a:t>    ◦ Top-K件のチャンクを候補として取得</a:t>
            </a:r>
          </a:p>
          <a:p>
            <a:pPr lvl="1">
              <a:spcBef>
                <a:spcPts val="200"/>
              </a:spcBef>
            </a:pPr>
            <a:r>
              <a:rPr sz="1600">
                <a:solidFill>
                  <a:srgbClr val="37474F"/>
                </a:solidFill>
                <a:latin typeface="Meiryo"/>
              </a:rPr>
              <a:t>    ◦ ハイブリッド検索：ベクトル検索＋キーワード検索（BM25）の組み合わせで精度向上</a:t>
            </a:r>
          </a:p>
          <a:p>
            <a:pPr>
              <a:spcBef>
                <a:spcPts val="600"/>
              </a:spcBef>
            </a:pPr>
            <a:r>
              <a:rPr sz="1900" b="1">
                <a:solidFill>
                  <a:srgbClr val="1A237E"/>
                </a:solidFill>
                <a:latin typeface="Meiryo"/>
              </a:rPr>
              <a:t>▶ STEP 6：コンテキスト注入と生成（Context Injection &amp; Generation）</a:t>
            </a:r>
          </a:p>
          <a:p>
            <a:pPr lvl="1">
              <a:spcBef>
                <a:spcPts val="200"/>
              </a:spcBef>
            </a:pPr>
            <a:r>
              <a:rPr sz="1600">
                <a:solidFill>
                  <a:srgbClr val="37474F"/>
                </a:solidFill>
                <a:latin typeface="Meiryo"/>
              </a:rPr>
              <a:t>    ◦ 取得したチャンクをLLMのプロンプトに「コンテキスト」として挿入</a:t>
            </a:r>
          </a:p>
          <a:p>
            <a:pPr lvl="1">
              <a:spcBef>
                <a:spcPts val="200"/>
              </a:spcBef>
            </a:pPr>
            <a:r>
              <a:rPr sz="1600">
                <a:solidFill>
                  <a:srgbClr val="37474F"/>
                </a:solidFill>
                <a:latin typeface="Meiryo"/>
              </a:rPr>
              <a:t>    ◦ LLMはコンテキストを参照しながら回答を生成</a:t>
            </a:r>
          </a:p>
          <a:p>
            <a:pPr lvl="1">
              <a:spcBef>
                <a:spcPts val="200"/>
              </a:spcBef>
            </a:pPr>
            <a:r>
              <a:rPr sz="1600">
                <a:solidFill>
                  <a:srgbClr val="37474F"/>
                </a:solidFill>
                <a:latin typeface="Meiryo"/>
              </a:rPr>
              <a:t>    ◦ 引用情報（チャンク出典・ページ数）を合わせて提示</a:t>
            </a:r>
          </a:p>
          <a:p>
            <a:pPr lvl="1">
              <a:spcBef>
                <a:spcPts val="200"/>
              </a:spcBef>
            </a:pPr>
            <a:r>
              <a:rPr sz="1600">
                <a:solidFill>
                  <a:srgbClr val="37474F"/>
                </a:solidFill>
                <a:latin typeface="Meiryo"/>
              </a:rPr>
              <a:t>    ◦ 「与えられた文書のみに基づいて回答してください」という制約プロンプトが重要</a:t>
            </a:r>
          </a:p>
          <a:p>
            <a:pPr>
              <a:spcBef>
                <a:spcPts val="600"/>
              </a:spcBef>
            </a:pPr>
            <a:r>
              <a:rPr sz="1900" b="1">
                <a:solidFill>
                  <a:srgbClr val="1A237E"/>
                </a:solidFill>
                <a:latin typeface="Meiryo"/>
              </a:rPr>
              <a:t>▶ リランキング（Re-ranking）</a:t>
            </a:r>
          </a:p>
          <a:p>
            <a:pPr lvl="1">
              <a:spcBef>
                <a:spcPts val="200"/>
              </a:spcBef>
            </a:pPr>
            <a:r>
              <a:rPr sz="1600">
                <a:solidFill>
                  <a:srgbClr val="37474F"/>
                </a:solidFill>
                <a:latin typeface="Meiryo"/>
              </a:rPr>
              <a:t>    ◦ 初期検索で取得したK件を、より精密なモデルで再順位付け</a:t>
            </a:r>
          </a:p>
          <a:p>
            <a:pPr lvl="1">
              <a:spcBef>
                <a:spcPts val="200"/>
              </a:spcBef>
            </a:pPr>
            <a:r>
              <a:rPr sz="1600">
                <a:solidFill>
                  <a:srgbClr val="37474F"/>
                </a:solidFill>
                <a:latin typeface="Meiryo"/>
              </a:rPr>
              <a:t>    ◦ Cohere Rerank、Cross-Encoder等を使用</a:t>
            </a:r>
          </a:p>
          <a:p>
            <a:pPr lvl="1">
              <a:spcBef>
                <a:spcPts val="200"/>
              </a:spcBef>
            </a:pPr>
            <a:r>
              <a:rPr sz="1600">
                <a:solidFill>
                  <a:srgbClr val="37474F"/>
                </a:solidFill>
                <a:latin typeface="Meiryo"/>
              </a:rPr>
              <a:t>    ◦ 精度は向上するがレイテンシ・コストが増加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C</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C-4：RAG精度設計のポイント</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チャンクサイズの最適化</a:t>
            </a:r>
          </a:p>
          <a:p>
            <a:pPr lvl="1">
              <a:spcBef>
                <a:spcPts val="200"/>
              </a:spcBef>
            </a:pPr>
            <a:r>
              <a:rPr sz="1600">
                <a:solidFill>
                  <a:srgbClr val="37474F"/>
                </a:solidFill>
                <a:latin typeface="Meiryo"/>
              </a:rPr>
              <a:t>    ◦ 小さなチャンク（128〜256トークン）：精密検索・高精度だが文脈が不足しがち</a:t>
            </a:r>
          </a:p>
          <a:p>
            <a:pPr lvl="1">
              <a:spcBef>
                <a:spcPts val="200"/>
              </a:spcBef>
            </a:pPr>
            <a:r>
              <a:rPr sz="1600">
                <a:solidFill>
                  <a:srgbClr val="37474F"/>
                </a:solidFill>
                <a:latin typeface="Meiryo"/>
              </a:rPr>
              <a:t>    ◦ 大きなチャンク（512〜1024トークン）：豊富な文脈だがノイズ増・精度低下リスク</a:t>
            </a:r>
          </a:p>
          <a:p>
            <a:pPr lvl="1">
              <a:spcBef>
                <a:spcPts val="200"/>
              </a:spcBef>
            </a:pPr>
            <a:r>
              <a:rPr sz="1600">
                <a:solidFill>
                  <a:srgbClr val="37474F"/>
                </a:solidFill>
                <a:latin typeface="Meiryo"/>
              </a:rPr>
              <a:t>    ◦ Parent-Child chunking：小チャンクで検索→親チャンクで文脈を返す高度手法</a:t>
            </a:r>
          </a:p>
          <a:p>
            <a:pPr lvl="1">
              <a:spcBef>
                <a:spcPts val="200"/>
              </a:spcBef>
            </a:pPr>
            <a:r>
              <a:rPr sz="1600">
                <a:solidFill>
                  <a:srgbClr val="37474F"/>
                </a:solidFill>
                <a:latin typeface="Meiryo"/>
              </a:rPr>
              <a:t>    ◦ オーバーラップ：チャンク間で一部テキストを重複させ文脈の断絶を防ぐ</a:t>
            </a:r>
          </a:p>
          <a:p>
            <a:pPr>
              <a:spcBef>
                <a:spcPts val="600"/>
              </a:spcBef>
            </a:pPr>
            <a:r>
              <a:rPr sz="1900" b="1">
                <a:solidFill>
                  <a:srgbClr val="1A237E"/>
                </a:solidFill>
                <a:latin typeface="Meiryo"/>
              </a:rPr>
              <a:t>▶ リランキング（Re-ranking）</a:t>
            </a:r>
          </a:p>
          <a:p>
            <a:pPr lvl="1">
              <a:spcBef>
                <a:spcPts val="200"/>
              </a:spcBef>
            </a:pPr>
            <a:r>
              <a:rPr sz="1600">
                <a:solidFill>
                  <a:srgbClr val="37474F"/>
                </a:solidFill>
                <a:latin typeface="Meiryo"/>
              </a:rPr>
              <a:t>    ◦ ベクトル検索は意味的近さで検索するが関連性が完全ではない</a:t>
            </a:r>
          </a:p>
          <a:p>
            <a:pPr lvl="1">
              <a:spcBef>
                <a:spcPts val="200"/>
              </a:spcBef>
            </a:pPr>
            <a:r>
              <a:rPr sz="1600">
                <a:solidFill>
                  <a:srgbClr val="37474F"/>
                </a:solidFill>
                <a:latin typeface="Meiryo"/>
              </a:rPr>
              <a:t>    ◦ Cross-Encoderモデルでクエリとチャンクのペアを評価・再順位付け</a:t>
            </a:r>
          </a:p>
          <a:p>
            <a:pPr lvl="1">
              <a:spcBef>
                <a:spcPts val="200"/>
              </a:spcBef>
            </a:pPr>
            <a:r>
              <a:rPr sz="1600">
                <a:solidFill>
                  <a:srgbClr val="37474F"/>
                </a:solidFill>
                <a:latin typeface="Meiryo"/>
              </a:rPr>
              <a:t>    ◦ 精度向上と計算コストのトレードオフを考慮して設計</a:t>
            </a:r>
          </a:p>
          <a:p>
            <a:pPr>
              <a:spcBef>
                <a:spcPts val="600"/>
              </a:spcBef>
            </a:pPr>
            <a:r>
              <a:rPr sz="1900" b="1">
                <a:solidFill>
                  <a:srgbClr val="1A237E"/>
                </a:solidFill>
                <a:latin typeface="Meiryo"/>
              </a:rPr>
              <a:t>▶ メタデータ活用</a:t>
            </a:r>
          </a:p>
          <a:p>
            <a:pPr lvl="1">
              <a:spcBef>
                <a:spcPts val="200"/>
              </a:spcBef>
            </a:pPr>
            <a:r>
              <a:rPr sz="1600">
                <a:solidFill>
                  <a:srgbClr val="37474F"/>
                </a:solidFill>
                <a:latin typeface="Meiryo"/>
              </a:rPr>
              <a:t>    ◦ チャンクに文書名・作成日・部門・バージョン等のメタデータを付与</a:t>
            </a:r>
          </a:p>
          <a:p>
            <a:pPr lvl="1">
              <a:spcBef>
                <a:spcPts val="200"/>
              </a:spcBef>
            </a:pPr>
            <a:r>
              <a:rPr sz="1600">
                <a:solidFill>
                  <a:srgbClr val="37474F"/>
                </a:solidFill>
                <a:latin typeface="Meiryo"/>
              </a:rPr>
              <a:t>    ◦ フィルタリング：「2024年以降の文書のみ」「営業部門のマニュアルのみ」</a:t>
            </a:r>
          </a:p>
          <a:p>
            <a:pPr lvl="1">
              <a:spcBef>
                <a:spcPts val="200"/>
              </a:spcBef>
            </a:pPr>
            <a:r>
              <a:rPr sz="1600">
                <a:solidFill>
                  <a:srgbClr val="37474F"/>
                </a:solidFill>
                <a:latin typeface="Meiryo"/>
              </a:rPr>
              <a:t>    ◦ メタデータによる前フィルタ→ベクトル検索の精度・速度向上</a:t>
            </a:r>
          </a:p>
          <a:p>
            <a:pPr>
              <a:spcBef>
                <a:spcPts val="600"/>
              </a:spcBef>
            </a:pPr>
            <a:r>
              <a:rPr sz="1900" b="1">
                <a:solidFill>
                  <a:srgbClr val="1A237E"/>
                </a:solidFill>
                <a:latin typeface="Meiryo"/>
              </a:rPr>
              <a:t>▶ RAG評価指標</a:t>
            </a:r>
          </a:p>
          <a:p>
            <a:pPr lvl="1">
              <a:spcBef>
                <a:spcPts val="200"/>
              </a:spcBef>
            </a:pPr>
            <a:r>
              <a:rPr sz="1600">
                <a:solidFill>
                  <a:srgbClr val="37474F"/>
                </a:solidFill>
                <a:latin typeface="Meiryo"/>
              </a:rPr>
              <a:t>    ◦ Faithfulness：回答が検索文書に忠実か（幻覚の有無）</a:t>
            </a:r>
          </a:p>
          <a:p>
            <a:pPr lvl="1">
              <a:spcBef>
                <a:spcPts val="200"/>
              </a:spcBef>
            </a:pPr>
            <a:r>
              <a:rPr sz="1600">
                <a:solidFill>
                  <a:srgbClr val="37474F"/>
                </a:solidFill>
                <a:latin typeface="Meiryo"/>
              </a:rPr>
              <a:t>    ◦ Answer Relevancy：回答がクエリに対して適切か</a:t>
            </a:r>
          </a:p>
          <a:p>
            <a:pPr lvl="1">
              <a:spcBef>
                <a:spcPts val="200"/>
              </a:spcBef>
            </a:pPr>
            <a:r>
              <a:rPr sz="1600">
                <a:solidFill>
                  <a:srgbClr val="37474F"/>
                </a:solidFill>
                <a:latin typeface="Meiryo"/>
              </a:rPr>
              <a:t>    ◦ Context Precision/Recall：適切なチャンクが検索されているか</a:t>
            </a:r>
          </a:p>
          <a:p>
            <a:pPr lvl="1">
              <a:spcBef>
                <a:spcPts val="200"/>
              </a:spcBef>
            </a:pPr>
            <a:r>
              <a:rPr sz="1600">
                <a:solidFill>
                  <a:srgbClr val="37474F"/>
                </a:solidFill>
                <a:latin typeface="Meiryo"/>
              </a:rPr>
              <a:t>    ◦ RAGASフレームワーク：上記指標の自動評価ツール</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828800" cy="2743200"/>
          </a:xfrm>
          <a:prstGeom prst="rect">
            <a:avLst/>
          </a:prstGeom>
          <a:noFill/>
        </p:spPr>
        <p:txBody>
          <a:bodyPr wrap="square">
            <a:spAutoFit/>
          </a:bodyPr>
          <a:lstStyle/>
          <a:p>
            <a:pPr algn="ctr"/>
            <a:r>
              <a:rPr sz="12000" b="1">
                <a:solidFill>
                  <a:srgbClr val="2A35A0"/>
                </a:solidFill>
                <a:latin typeface="Meiryo"/>
              </a:rPr>
              <a:t>D</a:t>
            </a:r>
          </a:p>
        </p:txBody>
      </p:sp>
      <p:sp>
        <p:nvSpPr>
          <p:cNvPr id="5" name="Rectangle 4"/>
          <p:cNvSpPr/>
          <p:nvPr/>
        </p:nvSpPr>
        <p:spPr>
          <a:xfrm>
            <a:off x="2926080" y="1645920"/>
            <a:ext cx="73152" cy="320040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1828800"/>
            <a:ext cx="8229600" cy="548640"/>
          </a:xfrm>
          <a:prstGeom prst="rect">
            <a:avLst/>
          </a:prstGeom>
          <a:noFill/>
        </p:spPr>
        <p:txBody>
          <a:bodyPr wrap="square">
            <a:spAutoFit/>
          </a:bodyPr>
          <a:lstStyle/>
          <a:p>
            <a:pPr algn="l"/>
            <a:r>
              <a:rPr sz="1800" b="0">
                <a:solidFill>
                  <a:srgbClr val="F57F17"/>
                </a:solidFill>
                <a:latin typeface="Meiryo"/>
              </a:rPr>
              <a:t>セクション D</a:t>
            </a:r>
          </a:p>
        </p:txBody>
      </p:sp>
      <p:sp>
        <p:nvSpPr>
          <p:cNvPr id="7" name="TextBox 6"/>
          <p:cNvSpPr txBox="1"/>
          <p:nvPr/>
        </p:nvSpPr>
        <p:spPr>
          <a:xfrm>
            <a:off x="3200400" y="2377440"/>
            <a:ext cx="8229600" cy="1371600"/>
          </a:xfrm>
          <a:prstGeom prst="rect">
            <a:avLst/>
          </a:prstGeom>
          <a:noFill/>
        </p:spPr>
        <p:txBody>
          <a:bodyPr wrap="square">
            <a:spAutoFit/>
          </a:bodyPr>
          <a:lstStyle/>
          <a:p>
            <a:pPr algn="l"/>
            <a:r>
              <a:rPr sz="3200" b="1">
                <a:solidFill>
                  <a:srgbClr val="FFFFFF"/>
                </a:solidFill>
                <a:latin typeface="Meiryo"/>
              </a:rPr>
              <a:t>AI実装プロセス：実装5Dモデル</a:t>
            </a:r>
          </a:p>
        </p:txBody>
      </p:sp>
      <p:sp>
        <p:nvSpPr>
          <p:cNvPr id="8" name="TextBox 7"/>
          <p:cNvSpPr txBox="1"/>
          <p:nvPr/>
        </p:nvSpPr>
        <p:spPr>
          <a:xfrm>
            <a:off x="3200400" y="3840480"/>
            <a:ext cx="8229600" cy="914400"/>
          </a:xfrm>
          <a:prstGeom prst="rect">
            <a:avLst/>
          </a:prstGeom>
          <a:noFill/>
        </p:spPr>
        <p:txBody>
          <a:bodyPr wrap="square">
            <a:spAutoFit/>
          </a:bodyPr>
          <a:lstStyle/>
          <a:p>
            <a:pPr algn="l"/>
            <a:r>
              <a:rPr sz="1800" b="0">
                <a:solidFill>
                  <a:srgbClr val="B0BEC5"/>
                </a:solidFill>
                <a:latin typeface="Meiryo"/>
              </a:rPr>
              <a:t>Discovery→Definition→Design→Development→Deployment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D</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D-1：実装5Dモデル 概要</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実装5Dモデルとは</a:t>
            </a:r>
          </a:p>
          <a:p>
            <a:pPr lvl="1">
              <a:spcBef>
                <a:spcPts val="200"/>
              </a:spcBef>
            </a:pPr>
            <a:r>
              <a:rPr sz="1600">
                <a:solidFill>
                  <a:srgbClr val="37474F"/>
                </a:solidFill>
                <a:latin typeface="Meiryo"/>
              </a:rPr>
              <a:t>    ◦ AI・AIエージェント導入を成功させるための5段階の実装フレームワーク</a:t>
            </a:r>
          </a:p>
          <a:p>
            <a:pPr lvl="1">
              <a:spcBef>
                <a:spcPts val="200"/>
              </a:spcBef>
            </a:pPr>
            <a:r>
              <a:rPr sz="1600">
                <a:solidFill>
                  <a:srgbClr val="37474F"/>
                </a:solidFill>
                <a:latin typeface="Meiryo"/>
              </a:rPr>
              <a:t>    ◦ 各フェーズに明確な目的・成果物・参加者・判断基準を設定</a:t>
            </a:r>
          </a:p>
          <a:p>
            <a:pPr lvl="1">
              <a:spcBef>
                <a:spcPts val="200"/>
              </a:spcBef>
            </a:pPr>
            <a:r>
              <a:rPr sz="1600">
                <a:solidFill>
                  <a:srgbClr val="37474F"/>
                </a:solidFill>
                <a:latin typeface="Meiryo"/>
              </a:rPr>
              <a:t>    ◦ ウォーターフォール型ではなく、各フェーズで検証と学習を繰り返すアジャイル的アプローチ</a:t>
            </a:r>
          </a:p>
          <a:p>
            <a:pPr>
              <a:spcBef>
                <a:spcPts val="600"/>
              </a:spcBef>
            </a:pPr>
            <a:r>
              <a:rPr sz="1900" b="1">
                <a:solidFill>
                  <a:srgbClr val="1A237E"/>
                </a:solidFill>
                <a:latin typeface="Meiryo"/>
              </a:rPr>
              <a:t>▶ 5Dモデルのフェーズ一覧</a:t>
            </a:r>
          </a:p>
          <a:p>
            <a:pPr lvl="1">
              <a:spcBef>
                <a:spcPts val="200"/>
              </a:spcBef>
            </a:pPr>
            <a:r>
              <a:rPr sz="1600">
                <a:solidFill>
                  <a:srgbClr val="37474F"/>
                </a:solidFill>
                <a:latin typeface="Meiryo"/>
              </a:rPr>
              <a:t>    ◦ D1：Discovery（発見）　　→ 課題発見・ユースケース特定</a:t>
            </a:r>
          </a:p>
          <a:p>
            <a:pPr lvl="1">
              <a:spcBef>
                <a:spcPts val="200"/>
              </a:spcBef>
            </a:pPr>
            <a:r>
              <a:rPr sz="1600">
                <a:solidFill>
                  <a:srgbClr val="37474F"/>
                </a:solidFill>
                <a:latin typeface="Meiryo"/>
              </a:rPr>
              <a:t>    ◦ D2：Definition（定義）　 → 要件定義・成功指標設定</a:t>
            </a:r>
          </a:p>
          <a:p>
            <a:pPr lvl="1">
              <a:spcBef>
                <a:spcPts val="200"/>
              </a:spcBef>
            </a:pPr>
            <a:r>
              <a:rPr sz="1600">
                <a:solidFill>
                  <a:srgbClr val="37474F"/>
                </a:solidFill>
                <a:latin typeface="Meiryo"/>
              </a:rPr>
              <a:t>    ◦ D3：Design（設計）　　　 → 業務フロー・エージェント設計</a:t>
            </a:r>
          </a:p>
          <a:p>
            <a:pPr lvl="1">
              <a:spcBef>
                <a:spcPts val="200"/>
              </a:spcBef>
            </a:pPr>
            <a:r>
              <a:rPr sz="1600">
                <a:solidFill>
                  <a:srgbClr val="37474F"/>
                </a:solidFill>
                <a:latin typeface="Meiryo"/>
              </a:rPr>
              <a:t>    ◦ D4：Development &amp; PoC　 → 開発・概念実証</a:t>
            </a:r>
          </a:p>
          <a:p>
            <a:pPr lvl="1">
              <a:spcBef>
                <a:spcPts val="200"/>
              </a:spcBef>
            </a:pPr>
            <a:r>
              <a:rPr sz="1600">
                <a:solidFill>
                  <a:srgbClr val="37474F"/>
                </a:solidFill>
                <a:latin typeface="Meiryo"/>
              </a:rPr>
              <a:t>    ◦ D5：Deployment &amp; Scale　→ 展開・スケーリング</a:t>
            </a:r>
          </a:p>
          <a:p>
            <a:pPr>
              <a:spcBef>
                <a:spcPts val="600"/>
              </a:spcBef>
            </a:pPr>
            <a:r>
              <a:rPr sz="1900" b="1">
                <a:solidFill>
                  <a:srgbClr val="1A237E"/>
                </a:solidFill>
                <a:latin typeface="Meiryo"/>
              </a:rPr>
              <a:t>▶ 各フェーズの重要性</a:t>
            </a:r>
          </a:p>
          <a:p>
            <a:pPr lvl="1">
              <a:spcBef>
                <a:spcPts val="200"/>
              </a:spcBef>
            </a:pPr>
            <a:r>
              <a:rPr sz="1600">
                <a:solidFill>
                  <a:srgbClr val="37474F"/>
                </a:solidFill>
                <a:latin typeface="Meiryo"/>
              </a:rPr>
              <a:t>    ◦ D1-D2をスキップすると「技術ありきの導入」になり失敗リスク大</a:t>
            </a:r>
          </a:p>
          <a:p>
            <a:pPr lvl="1">
              <a:spcBef>
                <a:spcPts val="200"/>
              </a:spcBef>
            </a:pPr>
            <a:r>
              <a:rPr sz="1600">
                <a:solidFill>
                  <a:srgbClr val="37474F"/>
                </a:solidFill>
                <a:latin typeface="Meiryo"/>
              </a:rPr>
              <a:t>    ◦ D4のPoCで早期に実現可能性・ROIを検証することが成功の鍵</a:t>
            </a:r>
          </a:p>
          <a:p>
            <a:pPr lvl="1">
              <a:spcBef>
                <a:spcPts val="200"/>
              </a:spcBef>
            </a:pPr>
            <a:r>
              <a:rPr sz="1600">
                <a:solidFill>
                  <a:srgbClr val="37474F"/>
                </a:solidFill>
                <a:latin typeface="Meiryo"/>
              </a:rPr>
              <a:t>    ◦ D5では変化管理・継続的改善の仕組みを整備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D</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D-2：Discovery（課題発見・ユースケース特定）</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Discovery フェーズの目的</a:t>
            </a:r>
          </a:p>
          <a:p>
            <a:pPr lvl="1">
              <a:spcBef>
                <a:spcPts val="200"/>
              </a:spcBef>
            </a:pPr>
            <a:r>
              <a:rPr sz="1600">
                <a:solidFill>
                  <a:srgbClr val="37474F"/>
                </a:solidFill>
                <a:latin typeface="Meiryo"/>
              </a:rPr>
              <a:t>    ◦ 解決すべきビジネス課題を特定し、AIで対処すべきユースケースを発見する</a:t>
            </a:r>
          </a:p>
          <a:p>
            <a:pPr lvl="1">
              <a:spcBef>
                <a:spcPts val="200"/>
              </a:spcBef>
            </a:pPr>
            <a:r>
              <a:rPr sz="1600">
                <a:solidFill>
                  <a:srgbClr val="37474F"/>
                </a:solidFill>
                <a:latin typeface="Meiryo"/>
              </a:rPr>
              <a:t>    ◦ 「AIが使いたい」ではなく「課題解決にAIが最適か」を問う</a:t>
            </a:r>
          </a:p>
          <a:p>
            <a:pPr>
              <a:spcBef>
                <a:spcPts val="600"/>
              </a:spcBef>
            </a:pPr>
            <a:r>
              <a:rPr sz="1900" b="1">
                <a:solidFill>
                  <a:srgbClr val="1A237E"/>
                </a:solidFill>
                <a:latin typeface="Meiryo"/>
              </a:rPr>
              <a:t>▶ 主な活動</a:t>
            </a:r>
          </a:p>
          <a:p>
            <a:pPr lvl="1">
              <a:spcBef>
                <a:spcPts val="200"/>
              </a:spcBef>
            </a:pPr>
            <a:r>
              <a:rPr sz="1600">
                <a:solidFill>
                  <a:srgbClr val="37474F"/>
                </a:solidFill>
                <a:latin typeface="Meiryo"/>
              </a:rPr>
              <a:t>    ◦ ステークホルダーインタビュー：経営層・業務担当者・現場からの課題ヒアリング</a:t>
            </a:r>
          </a:p>
          <a:p>
            <a:pPr lvl="1">
              <a:spcBef>
                <a:spcPts val="200"/>
              </a:spcBef>
            </a:pPr>
            <a:r>
              <a:rPr sz="1600">
                <a:solidFill>
                  <a:srgbClr val="37474F"/>
                </a:solidFill>
                <a:latin typeface="Meiryo"/>
              </a:rPr>
              <a:t>    ◦ As-Is業務分析：現状業務フロー・ボトルネック・工数・コストの可視化</a:t>
            </a:r>
          </a:p>
          <a:p>
            <a:pPr lvl="1">
              <a:spcBef>
                <a:spcPts val="200"/>
              </a:spcBef>
            </a:pPr>
            <a:r>
              <a:rPr sz="1600">
                <a:solidFill>
                  <a:srgbClr val="37474F"/>
                </a:solidFill>
                <a:latin typeface="Meiryo"/>
              </a:rPr>
              <a:t>    ◦ ペインポイントマッピング：頻度×深刻度で課題を優先順位付け</a:t>
            </a:r>
          </a:p>
          <a:p>
            <a:pPr lvl="1">
              <a:spcBef>
                <a:spcPts val="200"/>
              </a:spcBef>
            </a:pPr>
            <a:r>
              <a:rPr sz="1600">
                <a:solidFill>
                  <a:srgbClr val="37474F"/>
                </a:solidFill>
                <a:latin typeface="Meiryo"/>
              </a:rPr>
              <a:t>    ◦ ユースケース候補リスト化：AIで解決できる可能性の高い課題を列挙</a:t>
            </a:r>
          </a:p>
          <a:p>
            <a:pPr>
              <a:spcBef>
                <a:spcPts val="600"/>
              </a:spcBef>
            </a:pPr>
            <a:r>
              <a:rPr sz="1900" b="1">
                <a:solidFill>
                  <a:srgbClr val="1A237E"/>
                </a:solidFill>
                <a:latin typeface="Meiryo"/>
              </a:rPr>
              <a:t>▶ ユースケース評価基準（AIに適した業務の特徴）</a:t>
            </a:r>
          </a:p>
          <a:p>
            <a:pPr lvl="1">
              <a:spcBef>
                <a:spcPts val="200"/>
              </a:spcBef>
            </a:pPr>
            <a:r>
              <a:rPr sz="1600">
                <a:solidFill>
                  <a:srgbClr val="37474F"/>
                </a:solidFill>
                <a:latin typeface="Meiryo"/>
              </a:rPr>
              <a:t>    ◦ 繰り返し頻度が高い（週次・日次以上）</a:t>
            </a:r>
          </a:p>
          <a:p>
            <a:pPr lvl="1">
              <a:spcBef>
                <a:spcPts val="200"/>
              </a:spcBef>
            </a:pPr>
            <a:r>
              <a:rPr sz="1600">
                <a:solidFill>
                  <a:srgbClr val="37474F"/>
                </a:solidFill>
                <a:latin typeface="Meiryo"/>
              </a:rPr>
              <a:t>    ◦ 判断基準がルール化・データ化できる</a:t>
            </a:r>
          </a:p>
          <a:p>
            <a:pPr lvl="1">
              <a:spcBef>
                <a:spcPts val="200"/>
              </a:spcBef>
            </a:pPr>
            <a:r>
              <a:rPr sz="1600">
                <a:solidFill>
                  <a:srgbClr val="37474F"/>
                </a:solidFill>
                <a:latin typeface="Meiryo"/>
              </a:rPr>
              <a:t>    ◦ 大量データの処理を伴う</a:t>
            </a:r>
          </a:p>
          <a:p>
            <a:pPr lvl="1">
              <a:spcBef>
                <a:spcPts val="200"/>
              </a:spcBef>
            </a:pPr>
            <a:r>
              <a:rPr sz="1600">
                <a:solidFill>
                  <a:srgbClr val="37474F"/>
                </a:solidFill>
                <a:latin typeface="Meiryo"/>
              </a:rPr>
              <a:t>    ◦ 人間が行う際に時間・品質のばらつきが大きい</a:t>
            </a:r>
          </a:p>
          <a:p>
            <a:pPr lvl="1">
              <a:spcBef>
                <a:spcPts val="200"/>
              </a:spcBef>
            </a:pPr>
            <a:r>
              <a:rPr sz="1600">
                <a:solidFill>
                  <a:srgbClr val="37474F"/>
                </a:solidFill>
                <a:latin typeface="Meiryo"/>
              </a:rPr>
              <a:t>    ◦ 失敗コスト（可逆性）が許容範囲内</a:t>
            </a:r>
          </a:p>
          <a:p>
            <a:pPr>
              <a:spcBef>
                <a:spcPts val="600"/>
              </a:spcBef>
            </a:pPr>
            <a:r>
              <a:rPr sz="1900" b="1">
                <a:solidFill>
                  <a:srgbClr val="1A237E"/>
                </a:solidFill>
                <a:latin typeface="Meiryo"/>
              </a:rPr>
              <a:t>▶ 成果物</a:t>
            </a:r>
          </a:p>
          <a:p>
            <a:pPr lvl="1">
              <a:spcBef>
                <a:spcPts val="200"/>
              </a:spcBef>
            </a:pPr>
            <a:r>
              <a:rPr sz="1600">
                <a:solidFill>
                  <a:srgbClr val="37474F"/>
                </a:solidFill>
                <a:latin typeface="Meiryo"/>
              </a:rPr>
              <a:t>    ◦ 課題マップ（ペインポイント一覧）・優先ユースケースリスト・初期ROI試算</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D</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D-3：Definition（要件定義・成功指標設定）</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Definition フェーズの目的</a:t>
            </a:r>
          </a:p>
          <a:p>
            <a:pPr lvl="1">
              <a:spcBef>
                <a:spcPts val="200"/>
              </a:spcBef>
            </a:pPr>
            <a:r>
              <a:rPr sz="1600">
                <a:solidFill>
                  <a:srgbClr val="37474F"/>
                </a:solidFill>
                <a:latin typeface="Meiryo"/>
              </a:rPr>
              <a:t>    ◦ 選定したユースケースの要件を詳細定義し、成功/失敗の判断基準を設定する</a:t>
            </a:r>
          </a:p>
          <a:p>
            <a:pPr>
              <a:spcBef>
                <a:spcPts val="600"/>
              </a:spcBef>
            </a:pPr>
            <a:r>
              <a:rPr sz="1900" b="1">
                <a:solidFill>
                  <a:srgbClr val="1A237E"/>
                </a:solidFill>
                <a:latin typeface="Meiryo"/>
              </a:rPr>
              <a:t>▶ 要件定義の内容</a:t>
            </a:r>
          </a:p>
          <a:p>
            <a:pPr lvl="1">
              <a:spcBef>
                <a:spcPts val="200"/>
              </a:spcBef>
            </a:pPr>
            <a:r>
              <a:rPr sz="1600">
                <a:solidFill>
                  <a:srgbClr val="37474F"/>
                </a:solidFill>
                <a:latin typeface="Meiryo"/>
              </a:rPr>
              <a:t>    ◦ 機能要件：AIが実行すべき具体的な機能・入出力・処理ロジック</a:t>
            </a:r>
          </a:p>
          <a:p>
            <a:pPr lvl="1">
              <a:spcBef>
                <a:spcPts val="200"/>
              </a:spcBef>
            </a:pPr>
            <a:r>
              <a:rPr sz="1600">
                <a:solidFill>
                  <a:srgbClr val="37474F"/>
                </a:solidFill>
                <a:latin typeface="Meiryo"/>
              </a:rPr>
              <a:t>    ◦ 非機能要件：応答時間・精度・可用性・セキュリティ・スケーラビリティ</a:t>
            </a:r>
          </a:p>
          <a:p>
            <a:pPr lvl="1">
              <a:spcBef>
                <a:spcPts val="200"/>
              </a:spcBef>
            </a:pPr>
            <a:r>
              <a:rPr sz="1600">
                <a:solidFill>
                  <a:srgbClr val="37474F"/>
                </a:solidFill>
                <a:latin typeface="Meiryo"/>
              </a:rPr>
              <a:t>    ◦ データ要件：必要なデータの種類・量・品質・取得元・更新頻度</a:t>
            </a:r>
          </a:p>
          <a:p>
            <a:pPr lvl="1">
              <a:spcBef>
                <a:spcPts val="200"/>
              </a:spcBef>
            </a:pPr>
            <a:r>
              <a:rPr sz="1600">
                <a:solidFill>
                  <a:srgbClr val="37474F"/>
                </a:solidFill>
                <a:latin typeface="Meiryo"/>
              </a:rPr>
              <a:t>    ◦ インテグレーション要件：連携が必要な既存システム・API・DB</a:t>
            </a:r>
          </a:p>
          <a:p>
            <a:pPr>
              <a:spcBef>
                <a:spcPts val="600"/>
              </a:spcBef>
            </a:pPr>
            <a:r>
              <a:rPr sz="1900" b="1">
                <a:solidFill>
                  <a:srgbClr val="1A237E"/>
                </a:solidFill>
                <a:latin typeface="Meiryo"/>
              </a:rPr>
              <a:t>▶ 成功指標（KPI）の設定</a:t>
            </a:r>
          </a:p>
          <a:p>
            <a:pPr lvl="1">
              <a:spcBef>
                <a:spcPts val="200"/>
              </a:spcBef>
            </a:pPr>
            <a:r>
              <a:rPr sz="1600">
                <a:solidFill>
                  <a:srgbClr val="37474F"/>
                </a:solidFill>
                <a:latin typeface="Meiryo"/>
              </a:rPr>
              <a:t>    ◦ 定量指標：処理時間削減率（例：80%削減）、コスト削減額、精度/F1スコア</a:t>
            </a:r>
          </a:p>
          <a:p>
            <a:pPr lvl="1">
              <a:spcBef>
                <a:spcPts val="200"/>
              </a:spcBef>
            </a:pPr>
            <a:r>
              <a:rPr sz="1600">
                <a:solidFill>
                  <a:srgbClr val="37474F"/>
                </a:solidFill>
                <a:latin typeface="Meiryo"/>
              </a:rPr>
              <a:t>    ◦ 定性指標：ユーザー満足度、従業員の業務負荷軽減感</a:t>
            </a:r>
          </a:p>
          <a:p>
            <a:pPr lvl="1">
              <a:spcBef>
                <a:spcPts val="200"/>
              </a:spcBef>
            </a:pPr>
            <a:r>
              <a:rPr sz="1600">
                <a:solidFill>
                  <a:srgbClr val="37474F"/>
                </a:solidFill>
                <a:latin typeface="Meiryo"/>
              </a:rPr>
              <a:t>    ◦ ベースライン設定：現状値を計測し変化を測定できる状態にする</a:t>
            </a:r>
          </a:p>
          <a:p>
            <a:pPr lvl="1">
              <a:spcBef>
                <a:spcPts val="200"/>
              </a:spcBef>
            </a:pPr>
            <a:r>
              <a:rPr sz="1600">
                <a:solidFill>
                  <a:srgbClr val="37474F"/>
                </a:solidFill>
                <a:latin typeface="Meiryo"/>
              </a:rPr>
              <a:t>    ◦ 測定方法・報告サイクルを事前に決定</a:t>
            </a:r>
          </a:p>
          <a:p>
            <a:pPr>
              <a:spcBef>
                <a:spcPts val="600"/>
              </a:spcBef>
            </a:pPr>
            <a:r>
              <a:rPr sz="1900" b="1">
                <a:solidFill>
                  <a:srgbClr val="1A237E"/>
                </a:solidFill>
                <a:latin typeface="Meiryo"/>
              </a:rPr>
              <a:t>▶ ROI（投資対効果）の設計</a:t>
            </a:r>
          </a:p>
          <a:p>
            <a:pPr lvl="1">
              <a:spcBef>
                <a:spcPts val="200"/>
              </a:spcBef>
            </a:pPr>
            <a:r>
              <a:rPr sz="1600">
                <a:solidFill>
                  <a:srgbClr val="37474F"/>
                </a:solidFill>
                <a:latin typeface="Meiryo"/>
              </a:rPr>
              <a:t>    ◦ 投資コスト：開発費・ライセンス料・インフラ費・運用費・教育費</a:t>
            </a:r>
          </a:p>
          <a:p>
            <a:pPr lvl="1">
              <a:spcBef>
                <a:spcPts val="200"/>
              </a:spcBef>
            </a:pPr>
            <a:r>
              <a:rPr sz="1600">
                <a:solidFill>
                  <a:srgbClr val="37474F"/>
                </a:solidFill>
                <a:latin typeface="Meiryo"/>
              </a:rPr>
              <a:t>    ◦ 効果：人件費削減・収益増加・品質向上・リスク低減</a:t>
            </a:r>
          </a:p>
          <a:p>
            <a:pPr lvl="1">
              <a:spcBef>
                <a:spcPts val="200"/>
              </a:spcBef>
            </a:pPr>
            <a:r>
              <a:rPr sz="1600">
                <a:solidFill>
                  <a:srgbClr val="37474F"/>
                </a:solidFill>
                <a:latin typeface="Meiryo"/>
              </a:rPr>
              <a:t>    ◦ ROI = (効果 - コスト) / コスト × 100%</a:t>
            </a:r>
          </a:p>
          <a:p>
            <a:pPr lvl="1">
              <a:spcBef>
                <a:spcPts val="200"/>
              </a:spcBef>
            </a:pPr>
            <a:r>
              <a:rPr sz="1600">
                <a:solidFill>
                  <a:srgbClr val="37474F"/>
                </a:solidFill>
                <a:latin typeface="Meiryo"/>
              </a:rPr>
              <a:t>    ◦ 回収期間（ペイバックピリオド）も合わせて試算</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D</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D-4：Design（業務フロー・エージェント設計）</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Design フェーズの目的</a:t>
            </a:r>
          </a:p>
          <a:p>
            <a:pPr lvl="1">
              <a:spcBef>
                <a:spcPts val="200"/>
              </a:spcBef>
            </a:pPr>
            <a:r>
              <a:rPr sz="1600">
                <a:solidFill>
                  <a:srgbClr val="37474F"/>
                </a:solidFill>
                <a:latin typeface="Meiryo"/>
              </a:rPr>
              <a:t>    ◦ To-Be業務フローとAIエージェントの詳細設計を行う</a:t>
            </a:r>
          </a:p>
          <a:p>
            <a:pPr>
              <a:spcBef>
                <a:spcPts val="600"/>
              </a:spcBef>
            </a:pPr>
            <a:r>
              <a:rPr sz="1900" b="1">
                <a:solidFill>
                  <a:srgbClr val="1A237E"/>
                </a:solidFill>
                <a:latin typeface="Meiryo"/>
              </a:rPr>
              <a:t>▶ To-Be業務フロー設計</a:t>
            </a:r>
          </a:p>
          <a:p>
            <a:pPr lvl="1">
              <a:spcBef>
                <a:spcPts val="200"/>
              </a:spcBef>
            </a:pPr>
            <a:r>
              <a:rPr sz="1600">
                <a:solidFill>
                  <a:srgbClr val="37474F"/>
                </a:solidFill>
                <a:latin typeface="Meiryo"/>
              </a:rPr>
              <a:t>    ◦ スイムレーン図でAIと人間の役割分担を可視化</a:t>
            </a:r>
          </a:p>
          <a:p>
            <a:pPr lvl="1">
              <a:spcBef>
                <a:spcPts val="200"/>
              </a:spcBef>
            </a:pPr>
            <a:r>
              <a:rPr sz="1600">
                <a:solidFill>
                  <a:srgbClr val="37474F"/>
                </a:solidFill>
                <a:latin typeface="Meiryo"/>
              </a:rPr>
              <a:t>    ◦ AIが処理するステップと人間がレビュー・承認するチェックポイントを明確化</a:t>
            </a:r>
          </a:p>
          <a:p>
            <a:pPr lvl="1">
              <a:spcBef>
                <a:spcPts val="200"/>
              </a:spcBef>
            </a:pPr>
            <a:r>
              <a:rPr sz="1600">
                <a:solidFill>
                  <a:srgbClr val="37474F"/>
                </a:solidFill>
                <a:latin typeface="Meiryo"/>
              </a:rPr>
              <a:t>    ◦ 例外処理フロー：AIが対応できないケースの人間へのエスカレーション設計</a:t>
            </a:r>
          </a:p>
          <a:p>
            <a:pPr>
              <a:spcBef>
                <a:spcPts val="600"/>
              </a:spcBef>
            </a:pPr>
            <a:r>
              <a:rPr sz="1900" b="1">
                <a:solidFill>
                  <a:srgbClr val="1A237E"/>
                </a:solidFill>
                <a:latin typeface="Meiryo"/>
              </a:rPr>
              <a:t>▶ AIエージェント設計の要素</a:t>
            </a:r>
          </a:p>
          <a:p>
            <a:pPr lvl="1">
              <a:spcBef>
                <a:spcPts val="200"/>
              </a:spcBef>
            </a:pPr>
            <a:r>
              <a:rPr sz="1600">
                <a:solidFill>
                  <a:srgbClr val="37474F"/>
                </a:solidFill>
                <a:latin typeface="Meiryo"/>
              </a:rPr>
              <a:t>    ◦ エージェントタイプ選択：チャットボット型/ワークフロー型/汎用型</a:t>
            </a:r>
          </a:p>
          <a:p>
            <a:pPr lvl="1">
              <a:spcBef>
                <a:spcPts val="200"/>
              </a:spcBef>
            </a:pPr>
            <a:r>
              <a:rPr sz="1600">
                <a:solidFill>
                  <a:srgbClr val="37474F"/>
                </a:solidFill>
                <a:latin typeface="Meiryo"/>
              </a:rPr>
              <a:t>    ◦ ツール設計：使用するAPI・DB・外部サービスの定義</a:t>
            </a:r>
          </a:p>
          <a:p>
            <a:pPr lvl="1">
              <a:spcBef>
                <a:spcPts val="200"/>
              </a:spcBef>
            </a:pPr>
            <a:r>
              <a:rPr sz="1600">
                <a:solidFill>
                  <a:srgbClr val="37474F"/>
                </a:solidFill>
                <a:latin typeface="Meiryo"/>
              </a:rPr>
              <a:t>    ◦ プロンプト設計：システムプロンプト・Few-shot例・制約条件</a:t>
            </a:r>
          </a:p>
          <a:p>
            <a:pPr lvl="1">
              <a:spcBef>
                <a:spcPts val="200"/>
              </a:spcBef>
            </a:pPr>
            <a:r>
              <a:rPr sz="1600">
                <a:solidFill>
                  <a:srgbClr val="37474F"/>
                </a:solidFill>
                <a:latin typeface="Meiryo"/>
              </a:rPr>
              <a:t>    ◦ メモリ設計：会話履歴の保持範囲・RAGナレッジベース</a:t>
            </a:r>
          </a:p>
          <a:p>
            <a:pPr lvl="1">
              <a:spcBef>
                <a:spcPts val="200"/>
              </a:spcBef>
            </a:pPr>
            <a:r>
              <a:rPr sz="1600">
                <a:solidFill>
                  <a:srgbClr val="37474F"/>
                </a:solidFill>
                <a:latin typeface="Meiryo"/>
              </a:rPr>
              <a:t>    ◦ エラーハンドリング：失敗時の動作・リトライ・通知設計</a:t>
            </a:r>
          </a:p>
          <a:p>
            <a:pPr>
              <a:spcBef>
                <a:spcPts val="600"/>
              </a:spcBef>
            </a:pPr>
            <a:r>
              <a:rPr sz="1900" b="1">
                <a:solidFill>
                  <a:srgbClr val="1A237E"/>
                </a:solidFill>
                <a:latin typeface="Meiryo"/>
              </a:rPr>
              <a:t>▶ ガードレール設計</a:t>
            </a:r>
          </a:p>
          <a:p>
            <a:pPr lvl="1">
              <a:spcBef>
                <a:spcPts val="200"/>
              </a:spcBef>
            </a:pPr>
            <a:r>
              <a:rPr sz="1600">
                <a:solidFill>
                  <a:srgbClr val="37474F"/>
                </a:solidFill>
                <a:latin typeface="Meiryo"/>
              </a:rPr>
              <a:t>    ◦ 出力フィルタリング：不適切・危険な出力を防止するセーフガード</a:t>
            </a:r>
          </a:p>
          <a:p>
            <a:pPr lvl="1">
              <a:spcBef>
                <a:spcPts val="200"/>
              </a:spcBef>
            </a:pPr>
            <a:r>
              <a:rPr sz="1600">
                <a:solidFill>
                  <a:srgbClr val="37474F"/>
                </a:solidFill>
                <a:latin typeface="Meiryo"/>
              </a:rPr>
              <a:t>    ◦ Human-in-the-Loop：重要な判断への人間の確認ステップ</a:t>
            </a:r>
          </a:p>
          <a:p>
            <a:pPr lvl="1">
              <a:spcBef>
                <a:spcPts val="200"/>
              </a:spcBef>
            </a:pPr>
            <a:r>
              <a:rPr sz="1600">
                <a:solidFill>
                  <a:srgbClr val="37474F"/>
                </a:solidFill>
                <a:latin typeface="Meiryo"/>
              </a:rPr>
              <a:t>    ◦ 監査ログ：AIの判断・行動履歴の記録</a:t>
            </a:r>
          </a:p>
          <a:p>
            <a:pPr lvl="1">
              <a:spcBef>
                <a:spcPts val="200"/>
              </a:spcBef>
            </a:pPr>
            <a:r>
              <a:rPr sz="1600">
                <a:solidFill>
                  <a:srgbClr val="37474F"/>
                </a:solidFill>
                <a:latin typeface="Meiryo"/>
              </a:rPr>
              <a:t>    ◦ ロールバック計画：問題発生時の切り戻し手順</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D</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D-5：Development &amp; PoC（開発・概念実証）</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Development &amp; PoC フェーズの目的</a:t>
            </a:r>
          </a:p>
          <a:p>
            <a:pPr lvl="1">
              <a:spcBef>
                <a:spcPts val="200"/>
              </a:spcBef>
            </a:pPr>
            <a:r>
              <a:rPr sz="1600">
                <a:solidFill>
                  <a:srgbClr val="37474F"/>
                </a:solidFill>
                <a:latin typeface="Meiryo"/>
              </a:rPr>
              <a:t>    ◦ 最小限の機能でプロトタイプを開発し、実現可能性・ROIを早期検証する</a:t>
            </a:r>
          </a:p>
          <a:p>
            <a:pPr>
              <a:spcBef>
                <a:spcPts val="600"/>
              </a:spcBef>
            </a:pPr>
            <a:r>
              <a:rPr sz="1900" b="1">
                <a:solidFill>
                  <a:srgbClr val="1A237E"/>
                </a:solidFill>
                <a:latin typeface="Meiryo"/>
              </a:rPr>
              <a:t>▶ PoC（概念実証）の設計原則</a:t>
            </a:r>
          </a:p>
          <a:p>
            <a:pPr lvl="1">
              <a:spcBef>
                <a:spcPts val="200"/>
              </a:spcBef>
            </a:pPr>
            <a:r>
              <a:rPr sz="1600">
                <a:solidFill>
                  <a:srgbClr val="37474F"/>
                </a:solidFill>
                <a:latin typeface="Meiryo"/>
              </a:rPr>
              <a:t>    ◦ MVP思想：必要最小限の機能のみで検証（機能を絞ることが重要）</a:t>
            </a:r>
          </a:p>
          <a:p>
            <a:pPr lvl="1">
              <a:spcBef>
                <a:spcPts val="200"/>
              </a:spcBef>
            </a:pPr>
            <a:r>
              <a:rPr sz="1600">
                <a:solidFill>
                  <a:srgbClr val="37474F"/>
                </a:solidFill>
                <a:latin typeface="Meiryo"/>
              </a:rPr>
              <a:t>    ◦ 実際の業務データ・ユーザーで検証（サンドボックス環境で）</a:t>
            </a:r>
          </a:p>
          <a:p>
            <a:pPr lvl="1">
              <a:spcBef>
                <a:spcPts val="200"/>
              </a:spcBef>
            </a:pPr>
            <a:r>
              <a:rPr sz="1600">
                <a:solidFill>
                  <a:srgbClr val="37474F"/>
                </a:solidFill>
                <a:latin typeface="Meiryo"/>
              </a:rPr>
              <a:t>    ◦ 検証期間：2〜8週間が目安（長引くと「PoC地獄」に陥るリスク）</a:t>
            </a:r>
          </a:p>
          <a:p>
            <a:pPr lvl="1">
              <a:spcBef>
                <a:spcPts val="200"/>
              </a:spcBef>
            </a:pPr>
            <a:r>
              <a:rPr sz="1600">
                <a:solidFill>
                  <a:srgbClr val="37474F"/>
                </a:solidFill>
                <a:latin typeface="Meiryo"/>
              </a:rPr>
              <a:t>    ◦ 判断基準を事前に設定（GoかNo-Goの明確な閾値）</a:t>
            </a:r>
          </a:p>
          <a:p>
            <a:pPr>
              <a:spcBef>
                <a:spcPts val="600"/>
              </a:spcBef>
            </a:pPr>
            <a:r>
              <a:rPr sz="1900" b="1">
                <a:solidFill>
                  <a:srgbClr val="1A237E"/>
                </a:solidFill>
                <a:latin typeface="Meiryo"/>
              </a:rPr>
              <a:t>▶ MVP（最小実行可能プロダクト）設計</a:t>
            </a:r>
          </a:p>
          <a:p>
            <a:pPr lvl="1">
              <a:spcBef>
                <a:spcPts val="200"/>
              </a:spcBef>
            </a:pPr>
            <a:r>
              <a:rPr sz="1600">
                <a:solidFill>
                  <a:srgbClr val="37474F"/>
                </a:solidFill>
                <a:latin typeface="Meiryo"/>
              </a:rPr>
              <a:t>    ◦ コアユースケースの一つに絞る</a:t>
            </a:r>
          </a:p>
          <a:p>
            <a:pPr lvl="1">
              <a:spcBef>
                <a:spcPts val="200"/>
              </a:spcBef>
            </a:pPr>
            <a:r>
              <a:rPr sz="1600">
                <a:solidFill>
                  <a:srgbClr val="37474F"/>
                </a:solidFill>
                <a:latin typeface="Meiryo"/>
              </a:rPr>
              <a:t>    ◦ 既存ツール・API・ノーコード/ローコードを最大活用</a:t>
            </a:r>
          </a:p>
          <a:p>
            <a:pPr lvl="1">
              <a:spcBef>
                <a:spcPts val="200"/>
              </a:spcBef>
            </a:pPr>
            <a:r>
              <a:rPr sz="1600">
                <a:solidFill>
                  <a:srgbClr val="37474F"/>
                </a:solidFill>
                <a:latin typeface="Meiryo"/>
              </a:rPr>
              <a:t>    ◦ 精度・速度よりも「ユースケースの実現可能性」を最優先で検証</a:t>
            </a:r>
          </a:p>
          <a:p>
            <a:pPr lvl="1">
              <a:spcBef>
                <a:spcPts val="200"/>
              </a:spcBef>
            </a:pPr>
            <a:r>
              <a:rPr sz="1600">
                <a:solidFill>
                  <a:srgbClr val="37474F"/>
                </a:solidFill>
                <a:latin typeface="Meiryo"/>
              </a:rPr>
              <a:t>    ◦ エンドユーザーへの早期提示でフィードバック収集</a:t>
            </a:r>
          </a:p>
          <a:p>
            <a:pPr>
              <a:spcBef>
                <a:spcPts val="600"/>
              </a:spcBef>
            </a:pPr>
            <a:r>
              <a:rPr sz="1900" b="1">
                <a:solidFill>
                  <a:srgbClr val="1A237E"/>
                </a:solidFill>
                <a:latin typeface="Meiryo"/>
              </a:rPr>
              <a:t>▶ PoCから本番への判断基準</a:t>
            </a:r>
          </a:p>
          <a:p>
            <a:pPr lvl="1">
              <a:spcBef>
                <a:spcPts val="200"/>
              </a:spcBef>
            </a:pPr>
            <a:r>
              <a:rPr sz="1600">
                <a:solidFill>
                  <a:srgbClr val="37474F"/>
                </a:solidFill>
                <a:latin typeface="Meiryo"/>
              </a:rPr>
              <a:t>    ◦ 精度指標が事前設定閾値を超えているか</a:t>
            </a:r>
          </a:p>
          <a:p>
            <a:pPr lvl="1">
              <a:spcBef>
                <a:spcPts val="200"/>
              </a:spcBef>
            </a:pPr>
            <a:r>
              <a:rPr sz="1600">
                <a:solidFill>
                  <a:srgbClr val="37474F"/>
                </a:solidFill>
                <a:latin typeface="Meiryo"/>
              </a:rPr>
              <a:t>    ◦ ユーザーが実際に使えるか（UX・操作性）</a:t>
            </a:r>
          </a:p>
          <a:p>
            <a:pPr lvl="1">
              <a:spcBef>
                <a:spcPts val="200"/>
              </a:spcBef>
            </a:pPr>
            <a:r>
              <a:rPr sz="1600">
                <a:solidFill>
                  <a:srgbClr val="37474F"/>
                </a:solidFill>
                <a:latin typeface="Meiryo"/>
              </a:rPr>
              <a:t>    ◦ ROI見込みが期待値を満たしているか</a:t>
            </a:r>
          </a:p>
          <a:p>
            <a:pPr lvl="1">
              <a:spcBef>
                <a:spcPts val="200"/>
              </a:spcBef>
            </a:pPr>
            <a:r>
              <a:rPr sz="1600">
                <a:solidFill>
                  <a:srgbClr val="37474F"/>
                </a:solidFill>
                <a:latin typeface="Meiryo"/>
              </a:rPr>
              <a:t>    ◦ セキュリティ・コンプライアンス要件を満たしているか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D</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D-6：Deployment &amp; Scale（展開・スケーリング）</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Deployment &amp; Scale フェーズの目的</a:t>
            </a:r>
          </a:p>
          <a:p>
            <a:pPr lvl="1">
              <a:spcBef>
                <a:spcPts val="200"/>
              </a:spcBef>
            </a:pPr>
            <a:r>
              <a:rPr sz="1600">
                <a:solidFill>
                  <a:srgbClr val="37474F"/>
                </a:solidFill>
                <a:latin typeface="Meiryo"/>
              </a:rPr>
              <a:t>    ◦ PoCを本番環境に展開し、継続的に改善・スケールさせる</a:t>
            </a:r>
          </a:p>
          <a:p>
            <a:pPr>
              <a:spcBef>
                <a:spcPts val="600"/>
              </a:spcBef>
            </a:pPr>
            <a:r>
              <a:rPr sz="1900" b="1">
                <a:solidFill>
                  <a:srgbClr val="1A237E"/>
                </a:solidFill>
                <a:latin typeface="Meiryo"/>
              </a:rPr>
              <a:t>▶ 展開戦略</a:t>
            </a:r>
          </a:p>
          <a:p>
            <a:pPr lvl="1">
              <a:spcBef>
                <a:spcPts val="200"/>
              </a:spcBef>
            </a:pPr>
            <a:r>
              <a:rPr sz="1600">
                <a:solidFill>
                  <a:srgbClr val="37474F"/>
                </a:solidFill>
                <a:latin typeface="Meiryo"/>
              </a:rPr>
              <a:t>    ◦ パイロット展開：特定部門・チーム・ユースケースから開始（リスク限定）</a:t>
            </a:r>
          </a:p>
          <a:p>
            <a:pPr lvl="1">
              <a:spcBef>
                <a:spcPts val="200"/>
              </a:spcBef>
            </a:pPr>
            <a:r>
              <a:rPr sz="1600">
                <a:solidFill>
                  <a:srgbClr val="37474F"/>
                </a:solidFill>
                <a:latin typeface="Meiryo"/>
              </a:rPr>
              <a:t>    ◦ 段階的ロールアウト：成功を確認しながら展開範囲を徐々に拡大</a:t>
            </a:r>
          </a:p>
          <a:p>
            <a:pPr lvl="1">
              <a:spcBef>
                <a:spcPts val="200"/>
              </a:spcBef>
            </a:pPr>
            <a:r>
              <a:rPr sz="1600">
                <a:solidFill>
                  <a:srgbClr val="37474F"/>
                </a:solidFill>
                <a:latin typeface="Meiryo"/>
              </a:rPr>
              <a:t>    ◦ フルデプロイ：全社・全ユーザーへの展開</a:t>
            </a:r>
          </a:p>
          <a:p>
            <a:pPr>
              <a:spcBef>
                <a:spcPts val="600"/>
              </a:spcBef>
            </a:pPr>
            <a:r>
              <a:rPr sz="1900" b="1">
                <a:solidFill>
                  <a:srgbClr val="1A237E"/>
                </a:solidFill>
                <a:latin typeface="Meiryo"/>
              </a:rPr>
              <a:t>▶ スケーリング設計</a:t>
            </a:r>
          </a:p>
          <a:p>
            <a:pPr lvl="1">
              <a:spcBef>
                <a:spcPts val="200"/>
              </a:spcBef>
            </a:pPr>
            <a:r>
              <a:rPr sz="1600">
                <a:solidFill>
                  <a:srgbClr val="37474F"/>
                </a:solidFill>
                <a:latin typeface="Meiryo"/>
              </a:rPr>
              <a:t>    ◦ インフラスケール：処理量増加に対応したAPIレート制限・コスト管理</a:t>
            </a:r>
          </a:p>
          <a:p>
            <a:pPr lvl="1">
              <a:spcBef>
                <a:spcPts val="200"/>
              </a:spcBef>
            </a:pPr>
            <a:r>
              <a:rPr sz="1600">
                <a:solidFill>
                  <a:srgbClr val="37474F"/>
                </a:solidFill>
                <a:latin typeface="Meiryo"/>
              </a:rPr>
              <a:t>    ◦ ユースケーススケール：1つの成功事例から横展開・類似ユースケースへの適用</a:t>
            </a:r>
          </a:p>
          <a:p>
            <a:pPr lvl="1">
              <a:spcBef>
                <a:spcPts val="200"/>
              </a:spcBef>
            </a:pPr>
            <a:r>
              <a:rPr sz="1600">
                <a:solidFill>
                  <a:srgbClr val="37474F"/>
                </a:solidFill>
                <a:latin typeface="Meiryo"/>
              </a:rPr>
              <a:t>    ◦ 組織スケール：使用部門・地域・拠点の拡大</a:t>
            </a:r>
          </a:p>
          <a:p>
            <a:pPr>
              <a:spcBef>
                <a:spcPts val="600"/>
              </a:spcBef>
            </a:pPr>
            <a:r>
              <a:rPr sz="1900" b="1">
                <a:solidFill>
                  <a:srgbClr val="1A237E"/>
                </a:solidFill>
                <a:latin typeface="Meiryo"/>
              </a:rPr>
              <a:t>▶ 継続的改善サイクル</a:t>
            </a:r>
          </a:p>
          <a:p>
            <a:pPr lvl="1">
              <a:spcBef>
                <a:spcPts val="200"/>
              </a:spcBef>
            </a:pPr>
            <a:r>
              <a:rPr sz="1600">
                <a:solidFill>
                  <a:srgbClr val="37474F"/>
                </a:solidFill>
                <a:latin typeface="Meiryo"/>
              </a:rPr>
              <a:t>    ◦ KPIモニタリング：定期的な精度・効率・満足度測定</a:t>
            </a:r>
          </a:p>
          <a:p>
            <a:pPr lvl="1">
              <a:spcBef>
                <a:spcPts val="200"/>
              </a:spcBef>
            </a:pPr>
            <a:r>
              <a:rPr sz="1600">
                <a:solidFill>
                  <a:srgbClr val="37474F"/>
                </a:solidFill>
                <a:latin typeface="Meiryo"/>
              </a:rPr>
              <a:t>    ◦ フィードバックループ：ユーザーフィードバック→プロンプト改善→モデル更新</a:t>
            </a:r>
          </a:p>
          <a:p>
            <a:pPr lvl="1">
              <a:spcBef>
                <a:spcPts val="200"/>
              </a:spcBef>
            </a:pPr>
            <a:r>
              <a:rPr sz="1600">
                <a:solidFill>
                  <a:srgbClr val="37474F"/>
                </a:solidFill>
                <a:latin typeface="Meiryo"/>
              </a:rPr>
              <a:t>    ◦ 定期レビュー：月次・四半期でのKPI評価・改善計画策定</a:t>
            </a:r>
          </a:p>
          <a:p>
            <a:pPr lvl="1">
              <a:spcBef>
                <a:spcPts val="200"/>
              </a:spcBef>
            </a:pPr>
            <a:r>
              <a:rPr sz="1600">
                <a:solidFill>
                  <a:srgbClr val="37474F"/>
                </a:solidFill>
                <a:latin typeface="Meiryo"/>
              </a:rPr>
              <a:t>    ◦ モデルアップデート対応：LLMのバージョンアップへの追従・再評価</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828800" cy="2743200"/>
          </a:xfrm>
          <a:prstGeom prst="rect">
            <a:avLst/>
          </a:prstGeom>
          <a:noFill/>
        </p:spPr>
        <p:txBody>
          <a:bodyPr wrap="square">
            <a:spAutoFit/>
          </a:bodyPr>
          <a:lstStyle/>
          <a:p>
            <a:pPr algn="ctr"/>
            <a:r>
              <a:rPr sz="12000" b="1">
                <a:solidFill>
                  <a:srgbClr val="2A35A0"/>
                </a:solidFill>
                <a:latin typeface="Meiryo"/>
              </a:rPr>
              <a:t>E</a:t>
            </a:r>
          </a:p>
        </p:txBody>
      </p:sp>
      <p:sp>
        <p:nvSpPr>
          <p:cNvPr id="5" name="Rectangle 4"/>
          <p:cNvSpPr/>
          <p:nvPr/>
        </p:nvSpPr>
        <p:spPr>
          <a:xfrm>
            <a:off x="2926080" y="1645920"/>
            <a:ext cx="73152" cy="320040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1828800"/>
            <a:ext cx="8229600" cy="548640"/>
          </a:xfrm>
          <a:prstGeom prst="rect">
            <a:avLst/>
          </a:prstGeom>
          <a:noFill/>
        </p:spPr>
        <p:txBody>
          <a:bodyPr wrap="square">
            <a:spAutoFit/>
          </a:bodyPr>
          <a:lstStyle/>
          <a:p>
            <a:pPr algn="l"/>
            <a:r>
              <a:rPr sz="1800" b="0">
                <a:solidFill>
                  <a:srgbClr val="F57F17"/>
                </a:solidFill>
                <a:latin typeface="Meiryo"/>
              </a:rPr>
              <a:t>セクション E</a:t>
            </a:r>
          </a:p>
        </p:txBody>
      </p:sp>
      <p:sp>
        <p:nvSpPr>
          <p:cNvPr id="7" name="TextBox 6"/>
          <p:cNvSpPr txBox="1"/>
          <p:nvPr/>
        </p:nvSpPr>
        <p:spPr>
          <a:xfrm>
            <a:off x="3200400" y="2377440"/>
            <a:ext cx="8229600" cy="1371600"/>
          </a:xfrm>
          <a:prstGeom prst="rect">
            <a:avLst/>
          </a:prstGeom>
          <a:noFill/>
        </p:spPr>
        <p:txBody>
          <a:bodyPr wrap="square">
            <a:spAutoFit/>
          </a:bodyPr>
          <a:lstStyle/>
          <a:p>
            <a:pPr algn="l"/>
            <a:r>
              <a:rPr sz="3200" b="1">
                <a:solidFill>
                  <a:srgbClr val="FFFFFF"/>
                </a:solidFill>
                <a:latin typeface="Meiryo"/>
              </a:rPr>
              <a:t>業務設計・プロセスリエンジニアリング</a:t>
            </a:r>
          </a:p>
        </p:txBody>
      </p:sp>
      <p:sp>
        <p:nvSpPr>
          <p:cNvPr id="8" name="TextBox 7"/>
          <p:cNvSpPr txBox="1"/>
          <p:nvPr/>
        </p:nvSpPr>
        <p:spPr>
          <a:xfrm>
            <a:off x="3200400" y="3840480"/>
            <a:ext cx="8229600" cy="914400"/>
          </a:xfrm>
          <a:prstGeom prst="rect">
            <a:avLst/>
          </a:prstGeom>
          <a:noFill/>
        </p:spPr>
        <p:txBody>
          <a:bodyPr wrap="square">
            <a:spAutoFit/>
          </a:bodyPr>
          <a:lstStyle/>
          <a:p>
            <a:pPr algn="l"/>
            <a:r>
              <a:rPr sz="1800" b="0">
                <a:solidFill>
                  <a:srgbClr val="B0BEC5"/>
                </a:solidFill>
                <a:latin typeface="Meiryo"/>
              </a:rPr>
              <a:t>業務分解・AI委任判断・MVP・KPI/ROI設計</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E</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E-1：業務分解の手法</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業務分解とは</a:t>
            </a:r>
          </a:p>
          <a:p>
            <a:pPr lvl="1">
              <a:spcBef>
                <a:spcPts val="200"/>
              </a:spcBef>
            </a:pPr>
            <a:r>
              <a:rPr sz="1600">
                <a:solidFill>
                  <a:srgbClr val="37474F"/>
                </a:solidFill>
                <a:latin typeface="Meiryo"/>
              </a:rPr>
              <a:t>    ◦ 大きな業務・プロセスをAI化・分析できる単位に細分化する手法</a:t>
            </a:r>
          </a:p>
          <a:p>
            <a:pPr lvl="1">
              <a:spcBef>
                <a:spcPts val="200"/>
              </a:spcBef>
            </a:pPr>
            <a:r>
              <a:rPr sz="1600">
                <a:solidFill>
                  <a:srgbClr val="37474F"/>
                </a:solidFill>
                <a:latin typeface="Meiryo"/>
              </a:rPr>
              <a:t>    ◦ WBS（Work Breakdown Structure）的な思想で業務を階層的に分解</a:t>
            </a:r>
          </a:p>
          <a:p>
            <a:pPr>
              <a:spcBef>
                <a:spcPts val="600"/>
              </a:spcBef>
            </a:pPr>
            <a:r>
              <a:rPr sz="1900" b="1">
                <a:solidFill>
                  <a:srgbClr val="1A237E"/>
                </a:solidFill>
                <a:latin typeface="Meiryo"/>
              </a:rPr>
              <a:t>▶ 業務分解の3レベル</a:t>
            </a:r>
          </a:p>
          <a:p>
            <a:pPr lvl="1">
              <a:spcBef>
                <a:spcPts val="200"/>
              </a:spcBef>
            </a:pPr>
            <a:r>
              <a:rPr sz="1600">
                <a:solidFill>
                  <a:srgbClr val="37474F"/>
                </a:solidFill>
                <a:latin typeface="Meiryo"/>
              </a:rPr>
              <a:t>    ◦ レベル1（業務領域）：例）「顧客対応業務」「受発注業務」</a:t>
            </a:r>
          </a:p>
          <a:p>
            <a:pPr lvl="1">
              <a:spcBef>
                <a:spcPts val="200"/>
              </a:spcBef>
            </a:pPr>
            <a:r>
              <a:rPr sz="1600">
                <a:solidFill>
                  <a:srgbClr val="37474F"/>
                </a:solidFill>
                <a:latin typeface="Meiryo"/>
              </a:rPr>
              <a:t>    ◦ レベル2（業務プロセス）：例）「問い合わせ受付」「在庫確認」「発注処理」</a:t>
            </a:r>
          </a:p>
          <a:p>
            <a:pPr lvl="1">
              <a:spcBef>
                <a:spcPts val="200"/>
              </a:spcBef>
            </a:pPr>
            <a:r>
              <a:rPr sz="1600">
                <a:solidFill>
                  <a:srgbClr val="37474F"/>
                </a:solidFill>
                <a:latin typeface="Meiryo"/>
              </a:rPr>
              <a:t>    ◦ レベル3（業務タスク）：例）「メール本文の読み取り」「在庫DBの照会」「数量の入力」</a:t>
            </a:r>
          </a:p>
          <a:p>
            <a:pPr>
              <a:spcBef>
                <a:spcPts val="600"/>
              </a:spcBef>
            </a:pPr>
            <a:r>
              <a:rPr sz="1900" b="1">
                <a:solidFill>
                  <a:srgbClr val="1A237E"/>
                </a:solidFill>
                <a:latin typeface="Meiryo"/>
              </a:rPr>
              <a:t>▶ タスクレベルでのAI化評価</a:t>
            </a:r>
          </a:p>
          <a:p>
            <a:pPr lvl="1">
              <a:spcBef>
                <a:spcPts val="200"/>
              </a:spcBef>
            </a:pPr>
            <a:r>
              <a:rPr sz="1600">
                <a:solidFill>
                  <a:srgbClr val="37474F"/>
                </a:solidFill>
                <a:latin typeface="Meiryo"/>
              </a:rPr>
              <a:t>    ◦ 入力データの形式：テキスト・数値・画像・音声</a:t>
            </a:r>
          </a:p>
          <a:p>
            <a:pPr lvl="1">
              <a:spcBef>
                <a:spcPts val="200"/>
              </a:spcBef>
            </a:pPr>
            <a:r>
              <a:rPr sz="1600">
                <a:solidFill>
                  <a:srgbClr val="37474F"/>
                </a:solidFill>
                <a:latin typeface="Meiryo"/>
              </a:rPr>
              <a:t>    ◦ 処理の複雑さ：ルール明確/曖昧、判断の裁量幅</a:t>
            </a:r>
          </a:p>
          <a:p>
            <a:pPr lvl="1">
              <a:spcBef>
                <a:spcPts val="200"/>
              </a:spcBef>
            </a:pPr>
            <a:r>
              <a:rPr sz="1600">
                <a:solidFill>
                  <a:srgbClr val="37474F"/>
                </a:solidFill>
                <a:latin typeface="Meiryo"/>
              </a:rPr>
              <a:t>    ◦ 出力の検証しやすさ：正誤が明確か、人間によるレビューが必要か</a:t>
            </a:r>
          </a:p>
          <a:p>
            <a:pPr lvl="1">
              <a:spcBef>
                <a:spcPts val="200"/>
              </a:spcBef>
            </a:pPr>
            <a:r>
              <a:rPr sz="1600">
                <a:solidFill>
                  <a:srgbClr val="37474F"/>
                </a:solidFill>
                <a:latin typeface="Meiryo"/>
              </a:rPr>
              <a:t>    ◦ 発生頻度と件数：自動化ROIを左右する重要指標</a:t>
            </a:r>
          </a:p>
          <a:p>
            <a:pPr>
              <a:spcBef>
                <a:spcPts val="600"/>
              </a:spcBef>
            </a:pPr>
            <a:r>
              <a:rPr sz="1900" b="1">
                <a:solidFill>
                  <a:srgbClr val="1A237E"/>
                </a:solidFill>
                <a:latin typeface="Meiryo"/>
              </a:rPr>
              <a:t>▶ 業務分解の実施手順</a:t>
            </a:r>
          </a:p>
          <a:p>
            <a:pPr lvl="1">
              <a:spcBef>
                <a:spcPts val="200"/>
              </a:spcBef>
            </a:pPr>
            <a:r>
              <a:rPr sz="1600">
                <a:solidFill>
                  <a:srgbClr val="37474F"/>
                </a:solidFill>
                <a:latin typeface="Meiryo"/>
              </a:rPr>
              <a:t>    ◦ ①現状業務のヒアリング・ドキュメント収集</a:t>
            </a:r>
          </a:p>
          <a:p>
            <a:pPr lvl="1">
              <a:spcBef>
                <a:spcPts val="200"/>
              </a:spcBef>
            </a:pPr>
            <a:r>
              <a:rPr sz="1600">
                <a:solidFill>
                  <a:srgbClr val="37474F"/>
                </a:solidFill>
                <a:latin typeface="Meiryo"/>
              </a:rPr>
              <a:t>    ◦ ②主要プロセスの洗い出しと順序整理</a:t>
            </a:r>
          </a:p>
          <a:p>
            <a:pPr lvl="1">
              <a:spcBef>
                <a:spcPts val="200"/>
              </a:spcBef>
            </a:pPr>
            <a:r>
              <a:rPr sz="1600">
                <a:solidFill>
                  <a:srgbClr val="37474F"/>
                </a:solidFill>
                <a:latin typeface="Meiryo"/>
              </a:rPr>
              <a:t>    ◦ ③各プロセスのタスクレベルへの細分化</a:t>
            </a:r>
          </a:p>
          <a:p>
            <a:pPr lvl="1">
              <a:spcBef>
                <a:spcPts val="200"/>
              </a:spcBef>
            </a:pPr>
            <a:r>
              <a:rPr sz="1600">
                <a:solidFill>
                  <a:srgbClr val="37474F"/>
                </a:solidFill>
                <a:latin typeface="Meiryo"/>
              </a:rPr>
              <a:t>    ◦ ④IPOフレームワークで各タスクを構造化</a:t>
            </a:r>
          </a:p>
          <a:p>
            <a:pPr lvl="1">
              <a:spcBef>
                <a:spcPts val="200"/>
              </a:spcBef>
            </a:pPr>
            <a:r>
              <a:rPr sz="1600">
                <a:solidFill>
                  <a:srgbClr val="37474F"/>
                </a:solidFill>
                <a:latin typeface="Meiryo"/>
              </a:rPr>
              <a:t>    ◦ ⑤AIデリゲーション評価（次スライド参照）</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E</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E-2：AIへの業務委任判断基準（デリゲーション）</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AIデリゲーション（AI委任）とは</a:t>
            </a:r>
          </a:p>
          <a:p>
            <a:pPr lvl="1">
              <a:spcBef>
                <a:spcPts val="200"/>
              </a:spcBef>
            </a:pPr>
            <a:r>
              <a:rPr sz="1600">
                <a:solidFill>
                  <a:srgbClr val="37474F"/>
                </a:solidFill>
                <a:latin typeface="Meiryo"/>
              </a:rPr>
              <a:t>    ◦ 人間が行っている業務タスクをAIに委任する判断のフレームワーク</a:t>
            </a:r>
          </a:p>
          <a:p>
            <a:pPr lvl="1">
              <a:spcBef>
                <a:spcPts val="200"/>
              </a:spcBef>
            </a:pPr>
            <a:r>
              <a:rPr sz="1600">
                <a:solidFill>
                  <a:srgbClr val="37474F"/>
                </a:solidFill>
                <a:latin typeface="Meiryo"/>
              </a:rPr>
              <a:t>    ◦ 「何をAIに任せ、何を人間が担うか」を体系的に決定する</a:t>
            </a:r>
          </a:p>
          <a:p>
            <a:pPr>
              <a:spcBef>
                <a:spcPts val="600"/>
              </a:spcBef>
            </a:pPr>
            <a:r>
              <a:rPr sz="1900" b="1">
                <a:solidFill>
                  <a:srgbClr val="1A237E"/>
                </a:solidFill>
                <a:latin typeface="Meiryo"/>
              </a:rPr>
              <a:t>▶ 委任判断の4象限マトリクス</a:t>
            </a:r>
          </a:p>
          <a:p>
            <a:pPr lvl="1">
              <a:spcBef>
                <a:spcPts val="200"/>
              </a:spcBef>
            </a:pPr>
            <a:r>
              <a:rPr sz="1600">
                <a:solidFill>
                  <a:srgbClr val="37474F"/>
                </a:solidFill>
                <a:latin typeface="Meiryo"/>
              </a:rPr>
              <a:t>    ◦ 高頻度×高ルール化　→ 完全AI委任（自動化優先）</a:t>
            </a:r>
          </a:p>
          <a:p>
            <a:pPr lvl="1">
              <a:spcBef>
                <a:spcPts val="200"/>
              </a:spcBef>
            </a:pPr>
            <a:r>
              <a:rPr sz="1600">
                <a:solidFill>
                  <a:srgbClr val="37474F"/>
                </a:solidFill>
                <a:latin typeface="Meiryo"/>
              </a:rPr>
              <a:t>    ◦ 高頻度×低ルール化　→ AI支援（人間が最終判断・AIが草案）</a:t>
            </a:r>
          </a:p>
          <a:p>
            <a:pPr lvl="1">
              <a:spcBef>
                <a:spcPts val="200"/>
              </a:spcBef>
            </a:pPr>
            <a:r>
              <a:rPr sz="1600">
                <a:solidFill>
                  <a:srgbClr val="37474F"/>
                </a:solidFill>
                <a:latin typeface="Meiryo"/>
              </a:rPr>
              <a:t>    ◦ 低頻度×高ルール化　→ 条件付きAI委任（閾値設定・人間確認）</a:t>
            </a:r>
          </a:p>
          <a:p>
            <a:pPr lvl="1">
              <a:spcBef>
                <a:spcPts val="200"/>
              </a:spcBef>
            </a:pPr>
            <a:r>
              <a:rPr sz="1600">
                <a:solidFill>
                  <a:srgbClr val="37474F"/>
                </a:solidFill>
                <a:latin typeface="Meiryo"/>
              </a:rPr>
              <a:t>    ◦ 低頻度×低ルール化　→ 人間主体（AIは参考意見のみ）</a:t>
            </a:r>
          </a:p>
          <a:p>
            <a:pPr>
              <a:spcBef>
                <a:spcPts val="600"/>
              </a:spcBef>
            </a:pPr>
            <a:r>
              <a:rPr sz="1900" b="1">
                <a:solidFill>
                  <a:srgbClr val="1A237E"/>
                </a:solidFill>
                <a:latin typeface="Meiryo"/>
              </a:rPr>
              <a:t>▶ 委任適性評価の6基準</a:t>
            </a:r>
          </a:p>
          <a:p>
            <a:pPr lvl="1">
              <a:spcBef>
                <a:spcPts val="200"/>
              </a:spcBef>
            </a:pPr>
            <a:r>
              <a:rPr sz="1600">
                <a:solidFill>
                  <a:srgbClr val="37474F"/>
                </a:solidFill>
                <a:latin typeface="Meiryo"/>
              </a:rPr>
              <a:t>    ◦ ①繰り返し性：同じパターンが繰り返されるか</a:t>
            </a:r>
          </a:p>
          <a:p>
            <a:pPr lvl="1">
              <a:spcBef>
                <a:spcPts val="200"/>
              </a:spcBef>
            </a:pPr>
            <a:r>
              <a:rPr sz="1600">
                <a:solidFill>
                  <a:srgbClr val="37474F"/>
                </a:solidFill>
                <a:latin typeface="Meiryo"/>
              </a:rPr>
              <a:t>    ◦ ②データ依存性：判断がデータ・テキストに基づくか</a:t>
            </a:r>
          </a:p>
          <a:p>
            <a:pPr lvl="1">
              <a:spcBef>
                <a:spcPts val="200"/>
              </a:spcBef>
            </a:pPr>
            <a:r>
              <a:rPr sz="1600">
                <a:solidFill>
                  <a:srgbClr val="37474F"/>
                </a:solidFill>
                <a:latin typeface="Meiryo"/>
              </a:rPr>
              <a:t>    ◦ ③ルール明確性：判断基準を明文化できるか</a:t>
            </a:r>
          </a:p>
          <a:p>
            <a:pPr lvl="1">
              <a:spcBef>
                <a:spcPts val="200"/>
              </a:spcBef>
            </a:pPr>
            <a:r>
              <a:rPr sz="1600">
                <a:solidFill>
                  <a:srgbClr val="37474F"/>
                </a:solidFill>
                <a:latin typeface="Meiryo"/>
              </a:rPr>
              <a:t>    ◦ ④影響度・可逆性：誤判断した場合の影響範囲・修正の容易さ</a:t>
            </a:r>
          </a:p>
          <a:p>
            <a:pPr lvl="1">
              <a:spcBef>
                <a:spcPts val="200"/>
              </a:spcBef>
            </a:pPr>
            <a:r>
              <a:rPr sz="1600">
                <a:solidFill>
                  <a:srgbClr val="37474F"/>
                </a:solidFill>
                <a:latin typeface="Meiryo"/>
              </a:rPr>
              <a:t>    ◦ ⑤説明責任：AIの判断で法的・倫理的問題が生じないか</a:t>
            </a:r>
          </a:p>
          <a:p>
            <a:pPr lvl="1">
              <a:spcBef>
                <a:spcPts val="200"/>
              </a:spcBef>
            </a:pPr>
            <a:r>
              <a:rPr sz="1600">
                <a:solidFill>
                  <a:srgbClr val="37474F"/>
                </a:solidFill>
                <a:latin typeface="Meiryo"/>
              </a:rPr>
              <a:t>    ◦ ⑥ユーザー受容性：関係者・顧客がAI対応を受け入れるか</a:t>
            </a:r>
          </a:p>
          <a:p>
            <a:pPr>
              <a:spcBef>
                <a:spcPts val="600"/>
              </a:spcBef>
            </a:pPr>
            <a:r>
              <a:rPr sz="1900" b="1">
                <a:solidFill>
                  <a:srgbClr val="1A237E"/>
                </a:solidFill>
                <a:latin typeface="Meiryo"/>
              </a:rPr>
              <a:t>▶ Human-in-the-Loop設計</a:t>
            </a:r>
          </a:p>
          <a:p>
            <a:pPr lvl="1">
              <a:spcBef>
                <a:spcPts val="200"/>
              </a:spcBef>
            </a:pPr>
            <a:r>
              <a:rPr sz="1600">
                <a:solidFill>
                  <a:srgbClr val="37474F"/>
                </a:solidFill>
                <a:latin typeface="Meiryo"/>
              </a:rPr>
              <a:t>    ◦ 全面委任ではなくAI判断に人間の確認を挟む設計</a:t>
            </a:r>
          </a:p>
          <a:p>
            <a:pPr lvl="1">
              <a:spcBef>
                <a:spcPts val="200"/>
              </a:spcBef>
            </a:pPr>
            <a:r>
              <a:rPr sz="1600">
                <a:solidFill>
                  <a:srgbClr val="37474F"/>
                </a:solidFill>
                <a:latin typeface="Meiryo"/>
              </a:rPr>
              <a:t>    ◦ 確認が必要なトリガー条件（信頼度スコア閾値等）を設定</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E</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E-3：As-Is業務分析とTo-Be業務設計</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As-Is業務分析のポイント（ペインポイント特定）</a:t>
            </a:r>
          </a:p>
          <a:p>
            <a:pPr lvl="1">
              <a:spcBef>
                <a:spcPts val="200"/>
              </a:spcBef>
            </a:pPr>
            <a:r>
              <a:rPr sz="1600">
                <a:solidFill>
                  <a:srgbClr val="37474F"/>
                </a:solidFill>
                <a:latin typeface="Meiryo"/>
              </a:rPr>
              <a:t>    ◦ 定量的分析：各タスクの所要時間・件数・担当人数・エラー率を計測</a:t>
            </a:r>
          </a:p>
          <a:p>
            <a:pPr lvl="1">
              <a:spcBef>
                <a:spcPts val="200"/>
              </a:spcBef>
            </a:pPr>
            <a:r>
              <a:rPr sz="1600">
                <a:solidFill>
                  <a:srgbClr val="37474F"/>
                </a:solidFill>
                <a:latin typeface="Meiryo"/>
              </a:rPr>
              <a:t>    ◦ 定性的分析：担当者が感じる不満・属人化・判断の迷いを抽出</a:t>
            </a:r>
          </a:p>
          <a:p>
            <a:pPr lvl="1">
              <a:spcBef>
                <a:spcPts val="200"/>
              </a:spcBef>
            </a:pPr>
            <a:r>
              <a:rPr sz="1600">
                <a:solidFill>
                  <a:srgbClr val="37474F"/>
                </a:solidFill>
                <a:latin typeface="Meiryo"/>
              </a:rPr>
              <a:t>    ◦ ペインポイントの分類：効率性の問題・品質の問題・属人性の問題・コストの問題</a:t>
            </a:r>
          </a:p>
          <a:p>
            <a:pPr lvl="1">
              <a:spcBef>
                <a:spcPts val="200"/>
              </a:spcBef>
            </a:pPr>
            <a:r>
              <a:rPr sz="1600">
                <a:solidFill>
                  <a:srgbClr val="37474F"/>
                </a:solidFill>
                <a:latin typeface="Meiryo"/>
              </a:rPr>
              <a:t>    ◦ ロードマップ優先度付け：影響度×AI化可能性で優先順位を決定</a:t>
            </a:r>
          </a:p>
          <a:p>
            <a:pPr>
              <a:spcBef>
                <a:spcPts val="600"/>
              </a:spcBef>
            </a:pPr>
            <a:r>
              <a:rPr sz="1900" b="1">
                <a:solidFill>
                  <a:srgbClr val="1A237E"/>
                </a:solidFill>
                <a:latin typeface="Meiryo"/>
              </a:rPr>
              <a:t>▶ よくあるペインポイント事例</a:t>
            </a:r>
          </a:p>
          <a:p>
            <a:pPr lvl="1">
              <a:spcBef>
                <a:spcPts val="200"/>
              </a:spcBef>
            </a:pPr>
            <a:r>
              <a:rPr sz="1600">
                <a:solidFill>
                  <a:srgbClr val="37474F"/>
                </a:solidFill>
                <a:latin typeface="Meiryo"/>
              </a:rPr>
              <a:t>    ◦ 手動コピペ・転記作業（時間浪費・ミス多発）</a:t>
            </a:r>
          </a:p>
          <a:p>
            <a:pPr lvl="1">
              <a:spcBef>
                <a:spcPts val="200"/>
              </a:spcBef>
            </a:pPr>
            <a:r>
              <a:rPr sz="1600">
                <a:solidFill>
                  <a:srgbClr val="37474F"/>
                </a:solidFill>
                <a:latin typeface="Meiryo"/>
              </a:rPr>
              <a:t>    ◦ 同じ質問への繰り返し回答（FAQ対応）</a:t>
            </a:r>
          </a:p>
          <a:p>
            <a:pPr lvl="1">
              <a:spcBef>
                <a:spcPts val="200"/>
              </a:spcBef>
            </a:pPr>
            <a:r>
              <a:rPr sz="1600">
                <a:solidFill>
                  <a:srgbClr val="37474F"/>
                </a:solidFill>
                <a:latin typeface="Meiryo"/>
              </a:rPr>
              <a:t>    ◦ 大量文書のスキャン・内容確認・要点抽出</a:t>
            </a:r>
          </a:p>
          <a:p>
            <a:pPr lvl="1">
              <a:spcBef>
                <a:spcPts val="200"/>
              </a:spcBef>
            </a:pPr>
            <a:r>
              <a:rPr sz="1600">
                <a:solidFill>
                  <a:srgbClr val="37474F"/>
                </a:solidFill>
                <a:latin typeface="Meiryo"/>
              </a:rPr>
              <a:t>    ◦ 定型レポートの作成・集計・グラフ化</a:t>
            </a:r>
          </a:p>
          <a:p>
            <a:pPr lvl="1">
              <a:spcBef>
                <a:spcPts val="200"/>
              </a:spcBef>
            </a:pPr>
            <a:r>
              <a:rPr sz="1600">
                <a:solidFill>
                  <a:srgbClr val="37474F"/>
                </a:solidFill>
                <a:latin typeface="Meiryo"/>
              </a:rPr>
              <a:t>    ◦ 複数システムへの同一データの二重入力</a:t>
            </a:r>
          </a:p>
          <a:p>
            <a:pPr>
              <a:spcBef>
                <a:spcPts val="600"/>
              </a:spcBef>
            </a:pPr>
            <a:r>
              <a:rPr sz="1900" b="1">
                <a:solidFill>
                  <a:srgbClr val="1A237E"/>
                </a:solidFill>
                <a:latin typeface="Meiryo"/>
              </a:rPr>
              <a:t>▶ To-Be業務設計の原則</a:t>
            </a:r>
          </a:p>
          <a:p>
            <a:pPr lvl="1">
              <a:spcBef>
                <a:spcPts val="200"/>
              </a:spcBef>
            </a:pPr>
            <a:r>
              <a:rPr sz="1600">
                <a:solidFill>
                  <a:srgbClr val="37474F"/>
                </a:solidFill>
                <a:latin typeface="Meiryo"/>
              </a:rPr>
              <a:t>    ◦ AIファースト設計：「まずAIが処理し、必要に応じて人間が介入」の発想</a:t>
            </a:r>
          </a:p>
          <a:p>
            <a:pPr lvl="1">
              <a:spcBef>
                <a:spcPts val="200"/>
              </a:spcBef>
            </a:pPr>
            <a:r>
              <a:rPr sz="1600">
                <a:solidFill>
                  <a:srgbClr val="37474F"/>
                </a:solidFill>
                <a:latin typeface="Meiryo"/>
              </a:rPr>
              <a:t>    ◦ シームレスな引き継ぎ：AI→人間へのエスカレーションを滑らかに設計</a:t>
            </a:r>
          </a:p>
          <a:p>
            <a:pPr lvl="1">
              <a:spcBef>
                <a:spcPts val="200"/>
              </a:spcBef>
            </a:pPr>
            <a:r>
              <a:rPr sz="1600">
                <a:solidFill>
                  <a:srgbClr val="37474F"/>
                </a:solidFill>
                <a:latin typeface="Meiryo"/>
              </a:rPr>
              <a:t>    ◦ 例外処理の明確化：AIが対応できないケースの処理フロー</a:t>
            </a:r>
          </a:p>
          <a:p>
            <a:pPr lvl="1">
              <a:spcBef>
                <a:spcPts val="200"/>
              </a:spcBef>
            </a:pPr>
            <a:r>
              <a:rPr sz="1600">
                <a:solidFill>
                  <a:srgbClr val="37474F"/>
                </a:solidFill>
                <a:latin typeface="Meiryo"/>
              </a:rPr>
              <a:t>    ◦ 継続改善サイクルの組み込み：フィードバックを業務フローに組み入れる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E</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E-4：MVP設計とKPI・ROI設計</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MVP（最小実行可能プロダクト）設計</a:t>
            </a:r>
          </a:p>
          <a:p>
            <a:pPr lvl="1">
              <a:spcBef>
                <a:spcPts val="200"/>
              </a:spcBef>
            </a:pPr>
            <a:r>
              <a:rPr sz="1600">
                <a:solidFill>
                  <a:srgbClr val="37474F"/>
                </a:solidFill>
                <a:latin typeface="Meiryo"/>
              </a:rPr>
              <a:t>    ◦ 最も価値が高く実証しやすいユースケース一つに機能を絞る</a:t>
            </a:r>
          </a:p>
          <a:p>
            <a:pPr lvl="1">
              <a:spcBef>
                <a:spcPts val="200"/>
              </a:spcBef>
            </a:pPr>
            <a:r>
              <a:rPr sz="1600">
                <a:solidFill>
                  <a:srgbClr val="37474F"/>
                </a:solidFill>
                <a:latin typeface="Meiryo"/>
              </a:rPr>
              <a:t>    ◦ ゴールは「完璧な製品」ではなく「仮説検証」</a:t>
            </a:r>
          </a:p>
          <a:p>
            <a:pPr lvl="1">
              <a:spcBef>
                <a:spcPts val="200"/>
              </a:spcBef>
            </a:pPr>
            <a:r>
              <a:rPr sz="1600">
                <a:solidFill>
                  <a:srgbClr val="37474F"/>
                </a:solidFill>
                <a:latin typeface="Meiryo"/>
              </a:rPr>
              <a:t>    ◦ 2〜4週間でデモできるレベルを目指す</a:t>
            </a:r>
          </a:p>
          <a:p>
            <a:pPr lvl="1">
              <a:spcBef>
                <a:spcPts val="200"/>
              </a:spcBef>
            </a:pPr>
            <a:r>
              <a:rPr sz="1600">
                <a:solidFill>
                  <a:srgbClr val="37474F"/>
                </a:solidFill>
                <a:latin typeface="Meiryo"/>
              </a:rPr>
              <a:t>    ◦ フィードバックを元にイテレーションを繰り返す</a:t>
            </a:r>
          </a:p>
          <a:p>
            <a:pPr>
              <a:spcBef>
                <a:spcPts val="600"/>
              </a:spcBef>
            </a:pPr>
            <a:r>
              <a:rPr sz="1900" b="1">
                <a:solidFill>
                  <a:srgbClr val="1A237E"/>
                </a:solidFill>
                <a:latin typeface="Meiryo"/>
              </a:rPr>
              <a:t>▶ KPI設計の原則</a:t>
            </a:r>
          </a:p>
          <a:p>
            <a:pPr lvl="1">
              <a:spcBef>
                <a:spcPts val="200"/>
              </a:spcBef>
            </a:pPr>
            <a:r>
              <a:rPr sz="1600">
                <a:solidFill>
                  <a:srgbClr val="37474F"/>
                </a:solidFill>
                <a:latin typeface="Meiryo"/>
              </a:rPr>
              <a:t>    ◦ SMARTな目標：Specific（具体的）・Measurable（計測可能）・Achievable（達成可能）・Relevant（関連性）・Time-bound（期限）</a:t>
            </a:r>
          </a:p>
          <a:p>
            <a:pPr lvl="1">
              <a:spcBef>
                <a:spcPts val="200"/>
              </a:spcBef>
            </a:pPr>
            <a:r>
              <a:rPr sz="1600">
                <a:solidFill>
                  <a:srgbClr val="37474F"/>
                </a:solidFill>
                <a:latin typeface="Meiryo"/>
              </a:rPr>
              <a:t>    ◦ 結果KPI：業務効率化率・コスト削減額・エラー率・顧客満足度（NPS）</a:t>
            </a:r>
          </a:p>
          <a:p>
            <a:pPr lvl="1">
              <a:spcBef>
                <a:spcPts val="200"/>
              </a:spcBef>
            </a:pPr>
            <a:r>
              <a:rPr sz="1600">
                <a:solidFill>
                  <a:srgbClr val="37474F"/>
                </a:solidFill>
                <a:latin typeface="Meiryo"/>
              </a:rPr>
              <a:t>    ◦ 先行KPI：AI利用率・プロセス完了時間・ユーザーフィードバック</a:t>
            </a:r>
          </a:p>
          <a:p>
            <a:pPr lvl="1">
              <a:spcBef>
                <a:spcPts val="200"/>
              </a:spcBef>
            </a:pPr>
            <a:r>
              <a:rPr sz="1600">
                <a:solidFill>
                  <a:srgbClr val="37474F"/>
                </a:solidFill>
                <a:latin typeface="Meiryo"/>
              </a:rPr>
              <a:t>    ◦ ベースラインの事前計測が必須</a:t>
            </a:r>
          </a:p>
          <a:p>
            <a:pPr>
              <a:spcBef>
                <a:spcPts val="600"/>
              </a:spcBef>
            </a:pPr>
            <a:r>
              <a:rPr sz="1900" b="1">
                <a:solidFill>
                  <a:srgbClr val="1A237E"/>
                </a:solidFill>
                <a:latin typeface="Meiryo"/>
              </a:rPr>
              <a:t>▶ ROI（投資対効果）設計</a:t>
            </a:r>
          </a:p>
          <a:p>
            <a:pPr lvl="1">
              <a:spcBef>
                <a:spcPts val="200"/>
              </a:spcBef>
            </a:pPr>
            <a:r>
              <a:rPr sz="1600">
                <a:solidFill>
                  <a:srgbClr val="37474F"/>
                </a:solidFill>
                <a:latin typeface="Meiryo"/>
              </a:rPr>
              <a:t>    ◦ コスト項目：初期開発費・APIライセンス・インフラ費・保守運用費・教育費</a:t>
            </a:r>
          </a:p>
          <a:p>
            <a:pPr lvl="1">
              <a:spcBef>
                <a:spcPts val="200"/>
              </a:spcBef>
            </a:pPr>
            <a:r>
              <a:rPr sz="1600">
                <a:solidFill>
                  <a:srgbClr val="37474F"/>
                </a:solidFill>
                <a:latin typeface="Meiryo"/>
              </a:rPr>
              <a:t>    ◦ 効果項目（定量）：人件費削減（工数×単価）・売上増加・ミス削減コスト</a:t>
            </a:r>
          </a:p>
          <a:p>
            <a:pPr lvl="1">
              <a:spcBef>
                <a:spcPts val="200"/>
              </a:spcBef>
            </a:pPr>
            <a:r>
              <a:rPr sz="1600">
                <a:solidFill>
                  <a:srgbClr val="37474F"/>
                </a:solidFill>
                <a:latin typeface="Meiryo"/>
              </a:rPr>
              <a:t>    ◦ 効果項目（定性）：ブランド価値・従業員満足度・ナレッジ蓄積</a:t>
            </a:r>
          </a:p>
          <a:p>
            <a:pPr lvl="1">
              <a:spcBef>
                <a:spcPts val="200"/>
              </a:spcBef>
            </a:pPr>
            <a:r>
              <a:rPr sz="1600">
                <a:solidFill>
                  <a:srgbClr val="37474F"/>
                </a:solidFill>
                <a:latin typeface="Meiryo"/>
              </a:rPr>
              <a:t>    ◦ 計算式：ROI = (純効果 ÷ 総投資コスト) × 100%</a:t>
            </a:r>
          </a:p>
          <a:p>
            <a:pPr lvl="1">
              <a:spcBef>
                <a:spcPts val="200"/>
              </a:spcBef>
            </a:pPr>
            <a:r>
              <a:rPr sz="1600">
                <a:solidFill>
                  <a:srgbClr val="37474F"/>
                </a:solidFill>
                <a:latin typeface="Meiryo"/>
              </a:rPr>
              <a:t>    ◦ 回収期間（Break-even Point）も経営層向けに試算して提示</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828800" cy="2743200"/>
          </a:xfrm>
          <a:prstGeom prst="rect">
            <a:avLst/>
          </a:prstGeom>
          <a:noFill/>
        </p:spPr>
        <p:txBody>
          <a:bodyPr wrap="square">
            <a:spAutoFit/>
          </a:bodyPr>
          <a:lstStyle/>
          <a:p>
            <a:pPr algn="ctr"/>
            <a:r>
              <a:rPr sz="12000" b="1">
                <a:solidFill>
                  <a:srgbClr val="2A35A0"/>
                </a:solidFill>
                <a:latin typeface="Meiryo"/>
              </a:rPr>
              <a:t>F</a:t>
            </a:r>
          </a:p>
        </p:txBody>
      </p:sp>
      <p:sp>
        <p:nvSpPr>
          <p:cNvPr id="5" name="Rectangle 4"/>
          <p:cNvSpPr/>
          <p:nvPr/>
        </p:nvSpPr>
        <p:spPr>
          <a:xfrm>
            <a:off x="2926080" y="1645920"/>
            <a:ext cx="73152" cy="320040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1828800"/>
            <a:ext cx="8229600" cy="548640"/>
          </a:xfrm>
          <a:prstGeom prst="rect">
            <a:avLst/>
          </a:prstGeom>
          <a:noFill/>
        </p:spPr>
        <p:txBody>
          <a:bodyPr wrap="square">
            <a:spAutoFit/>
          </a:bodyPr>
          <a:lstStyle/>
          <a:p>
            <a:pPr algn="l"/>
            <a:r>
              <a:rPr sz="1800" b="0">
                <a:solidFill>
                  <a:srgbClr val="F57F17"/>
                </a:solidFill>
                <a:latin typeface="Meiryo"/>
              </a:rPr>
              <a:t>セクション F</a:t>
            </a:r>
          </a:p>
        </p:txBody>
      </p:sp>
      <p:sp>
        <p:nvSpPr>
          <p:cNvPr id="7" name="TextBox 6"/>
          <p:cNvSpPr txBox="1"/>
          <p:nvPr/>
        </p:nvSpPr>
        <p:spPr>
          <a:xfrm>
            <a:off x="3200400" y="2377440"/>
            <a:ext cx="8229600" cy="1371600"/>
          </a:xfrm>
          <a:prstGeom prst="rect">
            <a:avLst/>
          </a:prstGeom>
          <a:noFill/>
        </p:spPr>
        <p:txBody>
          <a:bodyPr wrap="square">
            <a:spAutoFit/>
          </a:bodyPr>
          <a:lstStyle/>
          <a:p>
            <a:pPr algn="l"/>
            <a:r>
              <a:rPr sz="3200" b="1">
                <a:solidFill>
                  <a:srgbClr val="FFFFFF"/>
                </a:solidFill>
                <a:latin typeface="Meiryo"/>
              </a:rPr>
              <a:t>AI推進の組織設計</a:t>
            </a:r>
          </a:p>
        </p:txBody>
      </p:sp>
      <p:sp>
        <p:nvSpPr>
          <p:cNvPr id="8" name="TextBox 7"/>
          <p:cNvSpPr txBox="1"/>
          <p:nvPr/>
        </p:nvSpPr>
        <p:spPr>
          <a:xfrm>
            <a:off x="3200400" y="3840480"/>
            <a:ext cx="8229600" cy="914400"/>
          </a:xfrm>
          <a:prstGeom prst="rect">
            <a:avLst/>
          </a:prstGeom>
          <a:noFill/>
        </p:spPr>
        <p:txBody>
          <a:bodyPr wrap="square">
            <a:spAutoFit/>
          </a:bodyPr>
          <a:lstStyle/>
          <a:p>
            <a:pPr algn="l"/>
            <a:r>
              <a:rPr sz="1800" b="0">
                <a:solidFill>
                  <a:srgbClr val="B0BEC5"/>
                </a:solidFill>
                <a:latin typeface="Meiryo"/>
              </a:rPr>
              <a:t>CoE・人材役割・組織モデル・チェンジマネジメント</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F</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F-1：AI推進の組織モデル</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①中央集権型（CoE主導モデル）</a:t>
            </a:r>
          </a:p>
          <a:p>
            <a:pPr lvl="1">
              <a:spcBef>
                <a:spcPts val="200"/>
              </a:spcBef>
            </a:pPr>
            <a:r>
              <a:rPr sz="1600">
                <a:solidFill>
                  <a:srgbClr val="37474F"/>
                </a:solidFill>
                <a:latin typeface="Meiryo"/>
              </a:rPr>
              <a:t>    ◦ AI推進専門部署（CoE）が全社のAI戦略・実装・ガバナンスを一元管理</a:t>
            </a:r>
          </a:p>
          <a:p>
            <a:pPr lvl="1">
              <a:spcBef>
                <a:spcPts val="200"/>
              </a:spcBef>
            </a:pPr>
            <a:r>
              <a:rPr sz="1600">
                <a:solidFill>
                  <a:srgbClr val="37474F"/>
                </a:solidFill>
                <a:latin typeface="Meiryo"/>
              </a:rPr>
              <a:t>    ◦ メリット：標準化・ノウハウ集約・一貫したガバナンス・規模の経済</a:t>
            </a:r>
          </a:p>
          <a:p>
            <a:pPr lvl="1">
              <a:spcBef>
                <a:spcPts val="200"/>
              </a:spcBef>
            </a:pPr>
            <a:r>
              <a:rPr sz="1600">
                <a:solidFill>
                  <a:srgbClr val="37474F"/>
                </a:solidFill>
                <a:latin typeface="Meiryo"/>
              </a:rPr>
              <a:t>    ◦ デメリット：ビジネス部門との距離感・リソース競合・ボトルネック化リスク</a:t>
            </a:r>
          </a:p>
          <a:p>
            <a:pPr lvl="1">
              <a:spcBef>
                <a:spcPts val="200"/>
              </a:spcBef>
            </a:pPr>
            <a:r>
              <a:rPr sz="1600">
                <a:solidFill>
                  <a:srgbClr val="37474F"/>
                </a:solidFill>
                <a:latin typeface="Meiryo"/>
              </a:rPr>
              <a:t>    ◦ 向いている組織：規制産業（金融・医療）・AI初期段階・標準化を重視する大企業</a:t>
            </a:r>
          </a:p>
          <a:p>
            <a:pPr>
              <a:spcBef>
                <a:spcPts val="600"/>
              </a:spcBef>
            </a:pPr>
            <a:r>
              <a:rPr sz="1900" b="1">
                <a:solidFill>
                  <a:srgbClr val="1A237E"/>
                </a:solidFill>
                <a:latin typeface="Meiryo"/>
              </a:rPr>
              <a:t>▶ ②分散型（各部門主体モデル）</a:t>
            </a:r>
          </a:p>
          <a:p>
            <a:pPr lvl="1">
              <a:spcBef>
                <a:spcPts val="200"/>
              </a:spcBef>
            </a:pPr>
            <a:r>
              <a:rPr sz="1600">
                <a:solidFill>
                  <a:srgbClr val="37474F"/>
                </a:solidFill>
                <a:latin typeface="Meiryo"/>
              </a:rPr>
              <a:t>    ◦ 各事業部門が独自にAIプロジェクトを推進・実装</a:t>
            </a:r>
          </a:p>
          <a:p>
            <a:pPr lvl="1">
              <a:spcBef>
                <a:spcPts val="200"/>
              </a:spcBef>
            </a:pPr>
            <a:r>
              <a:rPr sz="1600">
                <a:solidFill>
                  <a:srgbClr val="37474F"/>
                </a:solidFill>
                <a:latin typeface="Meiryo"/>
              </a:rPr>
              <a:t>    ◦ メリット：ビジネス課題への密着・迅速な意思決定・現場主導</a:t>
            </a:r>
          </a:p>
          <a:p>
            <a:pPr lvl="1">
              <a:spcBef>
                <a:spcPts val="200"/>
              </a:spcBef>
            </a:pPr>
            <a:r>
              <a:rPr sz="1600">
                <a:solidFill>
                  <a:srgbClr val="37474F"/>
                </a:solidFill>
                <a:latin typeface="Meiryo"/>
              </a:rPr>
              <a:t>    ◦ デメリット：ツール乱立・品質不均一・ノウハウ断絶・ガバナンス困難</a:t>
            </a:r>
          </a:p>
          <a:p>
            <a:pPr lvl="1">
              <a:spcBef>
                <a:spcPts val="200"/>
              </a:spcBef>
            </a:pPr>
            <a:r>
              <a:rPr sz="1600">
                <a:solidFill>
                  <a:srgbClr val="37474F"/>
                </a:solidFill>
                <a:latin typeface="Meiryo"/>
              </a:rPr>
              <a:t>    ◦ 向いている組織：変化の速い業界・部門間独立性が高い・AI成熟度が高い企業</a:t>
            </a:r>
          </a:p>
          <a:p>
            <a:pPr>
              <a:spcBef>
                <a:spcPts val="600"/>
              </a:spcBef>
            </a:pPr>
            <a:r>
              <a:rPr sz="1900" b="1">
                <a:solidFill>
                  <a:srgbClr val="1A237E"/>
                </a:solidFill>
                <a:latin typeface="Meiryo"/>
              </a:rPr>
              <a:t>▶ ③ハイブリッド型（連邦型モデル）</a:t>
            </a:r>
          </a:p>
          <a:p>
            <a:pPr lvl="1">
              <a:spcBef>
                <a:spcPts val="200"/>
              </a:spcBef>
            </a:pPr>
            <a:r>
              <a:rPr sz="1600">
                <a:solidFill>
                  <a:srgbClr val="37474F"/>
                </a:solidFill>
                <a:latin typeface="Meiryo"/>
              </a:rPr>
              <a:t>    ◦ CoEが標準・ガバナンス・共通基盤を提供し、各部門が実装を主体的に推進</a:t>
            </a:r>
          </a:p>
          <a:p>
            <a:pPr lvl="1">
              <a:spcBef>
                <a:spcPts val="200"/>
              </a:spcBef>
            </a:pPr>
            <a:r>
              <a:rPr sz="1600">
                <a:solidFill>
                  <a:srgbClr val="37474F"/>
                </a:solidFill>
                <a:latin typeface="Meiryo"/>
              </a:rPr>
              <a:t>    ◦ メリット：標準化と現場密着を両立・スケーラブル・ベストプラクティス共有</a:t>
            </a:r>
          </a:p>
          <a:p>
            <a:pPr lvl="1">
              <a:spcBef>
                <a:spcPts val="200"/>
              </a:spcBef>
            </a:pPr>
            <a:r>
              <a:rPr sz="1600">
                <a:solidFill>
                  <a:srgbClr val="37474F"/>
                </a:solidFill>
                <a:latin typeface="Meiryo"/>
              </a:rPr>
              <a:t>    ◦ デメリット：役割分担の曖昧さ・調整コスト</a:t>
            </a:r>
          </a:p>
          <a:p>
            <a:pPr lvl="1">
              <a:spcBef>
                <a:spcPts val="200"/>
              </a:spcBef>
            </a:pPr>
            <a:r>
              <a:rPr sz="1600">
                <a:solidFill>
                  <a:srgbClr val="37474F"/>
                </a:solidFill>
                <a:latin typeface="Meiryo"/>
              </a:rPr>
              <a:t>    ◦ 向いている組織：大企業・グローバル展開・AI成熟フェーズの企業（最も推奨）</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F</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F-2：CoE（Center of Excellence）の役割と機能</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CoEとは</a:t>
            </a:r>
          </a:p>
          <a:p>
            <a:pPr lvl="1">
              <a:spcBef>
                <a:spcPts val="200"/>
              </a:spcBef>
            </a:pPr>
            <a:r>
              <a:rPr sz="1600">
                <a:solidFill>
                  <a:srgbClr val="37474F"/>
                </a:solidFill>
                <a:latin typeface="Meiryo"/>
              </a:rPr>
              <a:t>    ◦ AI・DXを推進するための専門知識・ベストプラクティス・標準を集約した組織横断的な専門チーム</a:t>
            </a:r>
          </a:p>
          <a:p>
            <a:pPr lvl="1">
              <a:spcBef>
                <a:spcPts val="200"/>
              </a:spcBef>
            </a:pPr>
            <a:r>
              <a:rPr sz="1600">
                <a:solidFill>
                  <a:srgbClr val="37474F"/>
                </a:solidFill>
                <a:latin typeface="Meiryo"/>
              </a:rPr>
              <a:t>    ◦ 「推進母体」としての機能と「支援・共有」機能を両立</a:t>
            </a:r>
          </a:p>
          <a:p>
            <a:pPr>
              <a:spcBef>
                <a:spcPts val="600"/>
              </a:spcBef>
            </a:pPr>
            <a:r>
              <a:rPr sz="1900" b="1">
                <a:solidFill>
                  <a:srgbClr val="1A237E"/>
                </a:solidFill>
                <a:latin typeface="Meiryo"/>
              </a:rPr>
              <a:t>▶ CoEの主要機能</a:t>
            </a:r>
          </a:p>
          <a:p>
            <a:pPr lvl="1">
              <a:spcBef>
                <a:spcPts val="200"/>
              </a:spcBef>
            </a:pPr>
            <a:r>
              <a:rPr sz="1600">
                <a:solidFill>
                  <a:srgbClr val="37474F"/>
                </a:solidFill>
                <a:latin typeface="Meiryo"/>
              </a:rPr>
              <a:t>    ◦ 戦略立案：全社AIロードマップ・優先ユースケースの決定</a:t>
            </a:r>
          </a:p>
          <a:p>
            <a:pPr lvl="1">
              <a:spcBef>
                <a:spcPts val="200"/>
              </a:spcBef>
            </a:pPr>
            <a:r>
              <a:rPr sz="1600">
                <a:solidFill>
                  <a:srgbClr val="37474F"/>
                </a:solidFill>
                <a:latin typeface="Meiryo"/>
              </a:rPr>
              <a:t>    ◦ 標準化：技術スタック・開発ガイドライン・プロンプト標準・セキュリティポリシー</a:t>
            </a:r>
          </a:p>
          <a:p>
            <a:pPr lvl="1">
              <a:spcBef>
                <a:spcPts val="200"/>
              </a:spcBef>
            </a:pPr>
            <a:r>
              <a:rPr sz="1600">
                <a:solidFill>
                  <a:srgbClr val="37474F"/>
                </a:solidFill>
                <a:latin typeface="Meiryo"/>
              </a:rPr>
              <a:t>    ◦ 能力開発：社内AI教育・研修・資格取得支援・コミュニティ運営</a:t>
            </a:r>
          </a:p>
          <a:p>
            <a:pPr lvl="1">
              <a:spcBef>
                <a:spcPts val="200"/>
              </a:spcBef>
            </a:pPr>
            <a:r>
              <a:rPr sz="1600">
                <a:solidFill>
                  <a:srgbClr val="37474F"/>
                </a:solidFill>
                <a:latin typeface="Meiryo"/>
              </a:rPr>
              <a:t>    ◦ ガバナンス：倫理審査・リスク評価・コンプライアンス確認</a:t>
            </a:r>
          </a:p>
          <a:p>
            <a:pPr lvl="1">
              <a:spcBef>
                <a:spcPts val="200"/>
              </a:spcBef>
            </a:pPr>
            <a:r>
              <a:rPr sz="1600">
                <a:solidFill>
                  <a:srgbClr val="37474F"/>
                </a:solidFill>
                <a:latin typeface="Meiryo"/>
              </a:rPr>
              <a:t>    ◦ PoC支援：各部門のAIプロジェクトへの技術支援・ベストプラクティス共有</a:t>
            </a:r>
          </a:p>
          <a:p>
            <a:pPr lvl="1">
              <a:spcBef>
                <a:spcPts val="200"/>
              </a:spcBef>
            </a:pPr>
            <a:r>
              <a:rPr sz="1600">
                <a:solidFill>
                  <a:srgbClr val="37474F"/>
                </a:solidFill>
                <a:latin typeface="Meiryo"/>
              </a:rPr>
              <a:t>    ◦ ベンダー管理：AIベンダー・ツールの評価・調達・契約管理</a:t>
            </a:r>
          </a:p>
          <a:p>
            <a:pPr>
              <a:spcBef>
                <a:spcPts val="600"/>
              </a:spcBef>
            </a:pPr>
            <a:r>
              <a:rPr sz="1900" b="1">
                <a:solidFill>
                  <a:srgbClr val="1A237E"/>
                </a:solidFill>
                <a:latin typeface="Meiryo"/>
              </a:rPr>
              <a:t>▶ CoEの理想的な構成メンバー</a:t>
            </a:r>
          </a:p>
          <a:p>
            <a:pPr lvl="1">
              <a:spcBef>
                <a:spcPts val="200"/>
              </a:spcBef>
            </a:pPr>
            <a:r>
              <a:rPr sz="1600">
                <a:solidFill>
                  <a:srgbClr val="37474F"/>
                </a:solidFill>
                <a:latin typeface="Meiryo"/>
              </a:rPr>
              <a:t>    ◦ AIアーキテクト/エンジニア：技術設計・実装支援</a:t>
            </a:r>
          </a:p>
          <a:p>
            <a:pPr lvl="1">
              <a:spcBef>
                <a:spcPts val="200"/>
              </a:spcBef>
            </a:pPr>
            <a:r>
              <a:rPr sz="1600">
                <a:solidFill>
                  <a:srgbClr val="37474F"/>
                </a:solidFill>
                <a:latin typeface="Meiryo"/>
              </a:rPr>
              <a:t>    ◦ データサイエンティスト：モデル評価・データ分析</a:t>
            </a:r>
          </a:p>
          <a:p>
            <a:pPr lvl="1">
              <a:spcBef>
                <a:spcPts val="200"/>
              </a:spcBef>
            </a:pPr>
            <a:r>
              <a:rPr sz="1600">
                <a:solidFill>
                  <a:srgbClr val="37474F"/>
                </a:solidFill>
                <a:latin typeface="Meiryo"/>
              </a:rPr>
              <a:t>    ◦ AI倫理/ガバナンス担当：リスク・コンプライアンス</a:t>
            </a:r>
          </a:p>
          <a:p>
            <a:pPr lvl="1">
              <a:spcBef>
                <a:spcPts val="200"/>
              </a:spcBef>
            </a:pPr>
            <a:r>
              <a:rPr sz="1600">
                <a:solidFill>
                  <a:srgbClr val="37474F"/>
                </a:solidFill>
                <a:latin typeface="Meiryo"/>
              </a:rPr>
              <a:t>    ◦ 業務改革担当（BPR）：業務プロセス設計支援</a:t>
            </a:r>
          </a:p>
          <a:p>
            <a:pPr lvl="1">
              <a:spcBef>
                <a:spcPts val="200"/>
              </a:spcBef>
            </a:pPr>
            <a:r>
              <a:rPr sz="1600">
                <a:solidFill>
                  <a:srgbClr val="37474F"/>
                </a:solidFill>
                <a:latin typeface="Meiryo"/>
              </a:rPr>
              <a:t>    ◦ プロジェクトマネージャー：推進管理・調整</a:t>
            </a:r>
          </a:p>
          <a:p>
            <a:pPr lvl="1">
              <a:spcBef>
                <a:spcPts val="200"/>
              </a:spcBef>
            </a:pPr>
            <a:r>
              <a:rPr sz="1600">
                <a:solidFill>
                  <a:srgbClr val="37474F"/>
                </a:solidFill>
                <a:latin typeface="Meiryo"/>
              </a:rPr>
              <a:t>    ◦ チェンジマネジメント担当：組織変革・教育・コミュニケーション</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F</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F-3：AI推進の人材役割</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スポンサー（Sponsor）</a:t>
            </a:r>
          </a:p>
          <a:p>
            <a:pPr lvl="1">
              <a:spcBef>
                <a:spcPts val="200"/>
              </a:spcBef>
            </a:pPr>
            <a:r>
              <a:rPr sz="1600">
                <a:solidFill>
                  <a:srgbClr val="37474F"/>
                </a:solidFill>
                <a:latin typeface="Meiryo"/>
              </a:rPr>
              <a:t>    ◦ 役割：AI推進プロジェクトに権限・予算・政治的支援を与える経営幹部</a:t>
            </a:r>
          </a:p>
          <a:p>
            <a:pPr lvl="1">
              <a:spcBef>
                <a:spcPts val="200"/>
              </a:spcBef>
            </a:pPr>
            <a:r>
              <a:rPr sz="1600">
                <a:solidFill>
                  <a:srgbClr val="37474F"/>
                </a:solidFill>
                <a:latin typeface="Meiryo"/>
              </a:rPr>
              <a:t>    ◦ 重要性：組織変革を成功させる最重要要素。スポンサーシップ不在は失敗の最大要因</a:t>
            </a:r>
          </a:p>
          <a:p>
            <a:pPr lvl="1">
              <a:spcBef>
                <a:spcPts val="200"/>
              </a:spcBef>
            </a:pPr>
            <a:r>
              <a:rPr sz="1600">
                <a:solidFill>
                  <a:srgbClr val="37474F"/>
                </a:solidFill>
                <a:latin typeface="Meiryo"/>
              </a:rPr>
              <a:t>    ◦ 行動：定期的な関与・現場への優先度メッセージ発信・リソース確保</a:t>
            </a:r>
          </a:p>
          <a:p>
            <a:pPr>
              <a:spcBef>
                <a:spcPts val="600"/>
              </a:spcBef>
            </a:pPr>
            <a:r>
              <a:rPr sz="1900" b="1">
                <a:solidFill>
                  <a:srgbClr val="1A237E"/>
                </a:solidFill>
                <a:latin typeface="Meiryo"/>
              </a:rPr>
              <a:t>▶ 推進者（Champion/Change Agent）</a:t>
            </a:r>
          </a:p>
          <a:p>
            <a:pPr lvl="1">
              <a:spcBef>
                <a:spcPts val="200"/>
              </a:spcBef>
            </a:pPr>
            <a:r>
              <a:rPr sz="1600">
                <a:solidFill>
                  <a:srgbClr val="37474F"/>
                </a:solidFill>
                <a:latin typeface="Meiryo"/>
              </a:rPr>
              <a:t>    ◦ 役割：現場とCoEを繋ぐ部門内のAI推進リーダー</a:t>
            </a:r>
          </a:p>
          <a:p>
            <a:pPr lvl="1">
              <a:spcBef>
                <a:spcPts val="200"/>
              </a:spcBef>
            </a:pPr>
            <a:r>
              <a:rPr sz="1600">
                <a:solidFill>
                  <a:srgbClr val="37474F"/>
                </a:solidFill>
                <a:latin typeface="Meiryo"/>
              </a:rPr>
              <a:t>    ◦ 特性：業務知識と技術への興味・コミュニケーション能力・変化への意欲</a:t>
            </a:r>
          </a:p>
          <a:p>
            <a:pPr lvl="1">
              <a:spcBef>
                <a:spcPts val="200"/>
              </a:spcBef>
            </a:pPr>
            <a:r>
              <a:rPr sz="1600">
                <a:solidFill>
                  <a:srgbClr val="37474F"/>
                </a:solidFill>
                <a:latin typeface="Meiryo"/>
              </a:rPr>
              <a:t>    ◦ 行動：部門内の課題発見・PoC推進・現場への普及・フィードバック収集</a:t>
            </a:r>
          </a:p>
          <a:p>
            <a:pPr lvl="1">
              <a:spcBef>
                <a:spcPts val="200"/>
              </a:spcBef>
            </a:pPr>
            <a:r>
              <a:rPr sz="1600">
                <a:solidFill>
                  <a:srgbClr val="37474F"/>
                </a:solidFill>
                <a:latin typeface="Meiryo"/>
              </a:rPr>
              <a:t>    ◦ 別名：AI Champion、DX推進担当、デジタルアンバサダー</a:t>
            </a:r>
          </a:p>
          <a:p>
            <a:pPr>
              <a:spcBef>
                <a:spcPts val="600"/>
              </a:spcBef>
            </a:pPr>
            <a:r>
              <a:rPr sz="1900" b="1">
                <a:solidFill>
                  <a:srgbClr val="1A237E"/>
                </a:solidFill>
                <a:latin typeface="Meiryo"/>
              </a:rPr>
              <a:t>▶ 実装者（Implementer）</a:t>
            </a:r>
          </a:p>
          <a:p>
            <a:pPr lvl="1">
              <a:spcBef>
                <a:spcPts val="200"/>
              </a:spcBef>
            </a:pPr>
            <a:r>
              <a:rPr sz="1600">
                <a:solidFill>
                  <a:srgbClr val="37474F"/>
                </a:solidFill>
                <a:latin typeface="Meiryo"/>
              </a:rPr>
              <a:t>    ◦ 役割：AIシステムを実際に構築・設定・保守するエンジニア・開発者</a:t>
            </a:r>
          </a:p>
          <a:p>
            <a:pPr lvl="1">
              <a:spcBef>
                <a:spcPts val="200"/>
              </a:spcBef>
            </a:pPr>
            <a:r>
              <a:rPr sz="1600">
                <a:solidFill>
                  <a:srgbClr val="37474F"/>
                </a:solidFill>
                <a:latin typeface="Meiryo"/>
              </a:rPr>
              <a:t>    ◦ スキル：LLMアプリ開発・プロンプトエンジニアリング・API連携・RAG構築</a:t>
            </a:r>
          </a:p>
          <a:p>
            <a:pPr lvl="1">
              <a:spcBef>
                <a:spcPts val="200"/>
              </a:spcBef>
            </a:pPr>
            <a:r>
              <a:rPr sz="1600">
                <a:solidFill>
                  <a:srgbClr val="37474F"/>
                </a:solidFill>
                <a:latin typeface="Meiryo"/>
              </a:rPr>
              <a:t>    ◦ 社内育成 vs 外部調達：初期は外部活用し並行して内製化を進める戦略が一般的</a:t>
            </a:r>
          </a:p>
          <a:p>
            <a:pPr>
              <a:spcBef>
                <a:spcPts val="600"/>
              </a:spcBef>
            </a:pPr>
            <a:r>
              <a:rPr sz="1900" b="1">
                <a:solidFill>
                  <a:srgbClr val="1A237E"/>
                </a:solidFill>
                <a:latin typeface="Meiryo"/>
              </a:rPr>
              <a:t>▶ エンドユーザー（End User）</a:t>
            </a:r>
          </a:p>
          <a:p>
            <a:pPr lvl="1">
              <a:spcBef>
                <a:spcPts val="200"/>
              </a:spcBef>
            </a:pPr>
            <a:r>
              <a:rPr sz="1600">
                <a:solidFill>
                  <a:srgbClr val="37474F"/>
                </a:solidFill>
                <a:latin typeface="Meiryo"/>
              </a:rPr>
              <a:t>    ◦ 役割：AIツールを日常業務で使用する最終利用者</a:t>
            </a:r>
          </a:p>
          <a:p>
            <a:pPr lvl="1">
              <a:spcBef>
                <a:spcPts val="200"/>
              </a:spcBef>
            </a:pPr>
            <a:r>
              <a:rPr sz="1600">
                <a:solidFill>
                  <a:srgbClr val="37474F"/>
                </a:solidFill>
                <a:latin typeface="Meiryo"/>
              </a:rPr>
              <a:t>    ◦ 重要性：利用率と活用品質がROIを左右する</a:t>
            </a:r>
          </a:p>
          <a:p>
            <a:pPr lvl="1">
              <a:spcBef>
                <a:spcPts val="200"/>
              </a:spcBef>
            </a:pPr>
            <a:r>
              <a:rPr sz="1600">
                <a:solidFill>
                  <a:srgbClr val="37474F"/>
                </a:solidFill>
                <a:latin typeface="Meiryo"/>
              </a:rPr>
              <a:t>    ◦ 支援策：適切なトレーニング・サポート体制・フィードバックチャンネルの整備</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F</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F-4：チェンジマネジメント</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チェンジマネジメントとは</a:t>
            </a:r>
          </a:p>
          <a:p>
            <a:pPr lvl="1">
              <a:spcBef>
                <a:spcPts val="200"/>
              </a:spcBef>
            </a:pPr>
            <a:r>
              <a:rPr sz="1600">
                <a:solidFill>
                  <a:srgbClr val="37474F"/>
                </a:solidFill>
                <a:latin typeface="Meiryo"/>
              </a:rPr>
              <a:t>    ◦ AI導入に伴う組織・プロセス・文化の変革を計画的に管理し、人間側の適応を促す活動</a:t>
            </a:r>
          </a:p>
          <a:p>
            <a:pPr lvl="1">
              <a:spcBef>
                <a:spcPts val="200"/>
              </a:spcBef>
            </a:pPr>
            <a:r>
              <a:rPr sz="1600">
                <a:solidFill>
                  <a:srgbClr val="37474F"/>
                </a:solidFill>
                <a:latin typeface="Meiryo"/>
              </a:rPr>
              <a:t>    ◦ 技術的実装と同等かそれ以上に重要。多くのAI導入失敗は技術ではなく人・組織の問題</a:t>
            </a:r>
          </a:p>
          <a:p>
            <a:pPr>
              <a:spcBef>
                <a:spcPts val="600"/>
              </a:spcBef>
            </a:pPr>
            <a:r>
              <a:rPr sz="1900" b="1">
                <a:solidFill>
                  <a:srgbClr val="1A237E"/>
                </a:solidFill>
                <a:latin typeface="Meiryo"/>
              </a:rPr>
              <a:t>▶ コッターの変革8段階モデルのAI導入への適用</a:t>
            </a:r>
          </a:p>
          <a:p>
            <a:pPr lvl="1">
              <a:spcBef>
                <a:spcPts val="200"/>
              </a:spcBef>
            </a:pPr>
            <a:r>
              <a:rPr sz="1600">
                <a:solidFill>
                  <a:srgbClr val="37474F"/>
                </a:solidFill>
                <a:latin typeface="Meiryo"/>
              </a:rPr>
              <a:t>    ◦ ①危機感の醸成：「なぜ今AIか」を明確に伝える</a:t>
            </a:r>
          </a:p>
          <a:p>
            <a:pPr lvl="1">
              <a:spcBef>
                <a:spcPts val="200"/>
              </a:spcBef>
            </a:pPr>
            <a:r>
              <a:rPr sz="1600">
                <a:solidFill>
                  <a:srgbClr val="37474F"/>
                </a:solidFill>
                <a:latin typeface="Meiryo"/>
              </a:rPr>
              <a:t>    ◦ ②推進連合の形成：スポンサー・推進者チームの構築</a:t>
            </a:r>
          </a:p>
          <a:p>
            <a:pPr lvl="1">
              <a:spcBef>
                <a:spcPts val="200"/>
              </a:spcBef>
            </a:pPr>
            <a:r>
              <a:rPr sz="1600">
                <a:solidFill>
                  <a:srgbClr val="37474F"/>
                </a:solidFill>
                <a:latin typeface="Meiryo"/>
              </a:rPr>
              <a:t>    ◦ ③ビジョンと戦略の策定：AI活用のあるべき姿と実行計画</a:t>
            </a:r>
          </a:p>
          <a:p>
            <a:pPr lvl="1">
              <a:spcBef>
                <a:spcPts val="200"/>
              </a:spcBef>
            </a:pPr>
            <a:r>
              <a:rPr sz="1600">
                <a:solidFill>
                  <a:srgbClr val="37474F"/>
                </a:solidFill>
                <a:latin typeface="Meiryo"/>
              </a:rPr>
              <a:t>    ◦ ④ビジョンの周知：全社コミュニケーション・説明会・Q&amp;A</a:t>
            </a:r>
          </a:p>
          <a:p>
            <a:pPr lvl="1">
              <a:spcBef>
                <a:spcPts val="200"/>
              </a:spcBef>
            </a:pPr>
            <a:r>
              <a:rPr sz="1600">
                <a:solidFill>
                  <a:srgbClr val="37474F"/>
                </a:solidFill>
                <a:latin typeface="Meiryo"/>
              </a:rPr>
              <a:t>    ◦ ⑤行動のエンパワメント：障害除去・トレーニング提供</a:t>
            </a:r>
          </a:p>
          <a:p>
            <a:pPr lvl="1">
              <a:spcBef>
                <a:spcPts val="200"/>
              </a:spcBef>
            </a:pPr>
            <a:r>
              <a:rPr sz="1600">
                <a:solidFill>
                  <a:srgbClr val="37474F"/>
                </a:solidFill>
                <a:latin typeface="Meiryo"/>
              </a:rPr>
              <a:t>    ◦ ⑥短期成果の創出：小さな成功（クイックウィン）を可視化</a:t>
            </a:r>
          </a:p>
          <a:p>
            <a:pPr lvl="1">
              <a:spcBef>
                <a:spcPts val="200"/>
              </a:spcBef>
            </a:pPr>
            <a:r>
              <a:rPr sz="1600">
                <a:solidFill>
                  <a:srgbClr val="37474F"/>
                </a:solidFill>
                <a:latin typeface="Meiryo"/>
              </a:rPr>
              <a:t>    ◦ ⑦改善の定着：成功事例の横展開・定例化</a:t>
            </a:r>
          </a:p>
          <a:p>
            <a:pPr lvl="1">
              <a:spcBef>
                <a:spcPts val="200"/>
              </a:spcBef>
            </a:pPr>
            <a:r>
              <a:rPr sz="1600">
                <a:solidFill>
                  <a:srgbClr val="37474F"/>
                </a:solidFill>
                <a:latin typeface="Meiryo"/>
              </a:rPr>
              <a:t>    ◦ ⑧文化への定着：AI活用を評価制度・採用基準に組み込む</a:t>
            </a:r>
          </a:p>
          <a:p>
            <a:pPr>
              <a:spcBef>
                <a:spcPts val="600"/>
              </a:spcBef>
            </a:pPr>
            <a:r>
              <a:rPr sz="1900" b="1">
                <a:solidFill>
                  <a:srgbClr val="1A237E"/>
                </a:solidFill>
                <a:latin typeface="Meiryo"/>
              </a:rPr>
              <a:t>▶ AI導入における典型的な抵抗要因と対策</a:t>
            </a:r>
          </a:p>
          <a:p>
            <a:pPr lvl="1">
              <a:spcBef>
                <a:spcPts val="200"/>
              </a:spcBef>
            </a:pPr>
            <a:r>
              <a:rPr sz="1600">
                <a:solidFill>
                  <a:srgbClr val="37474F"/>
                </a:solidFill>
                <a:latin typeface="Meiryo"/>
              </a:rPr>
              <a:t>    ◦ 「仕事を奪われる」恐怖 → AIは代替でなく「拡張」であることを丁寧に伝える</a:t>
            </a:r>
          </a:p>
          <a:p>
            <a:pPr lvl="1">
              <a:spcBef>
                <a:spcPts val="200"/>
              </a:spcBef>
            </a:pPr>
            <a:r>
              <a:rPr sz="1600">
                <a:solidFill>
                  <a:srgbClr val="37474F"/>
                </a:solidFill>
                <a:latin typeface="Meiryo"/>
              </a:rPr>
              <a:t>    ◦ 「使いこなせない」不安 → 実践的トレーニング・サポート体制</a:t>
            </a:r>
          </a:p>
          <a:p>
            <a:pPr lvl="1">
              <a:spcBef>
                <a:spcPts val="200"/>
              </a:spcBef>
            </a:pPr>
            <a:r>
              <a:rPr sz="1600">
                <a:solidFill>
                  <a:srgbClr val="37474F"/>
                </a:solidFill>
                <a:latin typeface="Meiryo"/>
              </a:rPr>
              <a:t>    ◦ 「今まで通りで十分」慣性 → 現状維持のコスト・リスクを可視化</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828800" cy="2743200"/>
          </a:xfrm>
          <a:prstGeom prst="rect">
            <a:avLst/>
          </a:prstGeom>
          <a:noFill/>
        </p:spPr>
        <p:txBody>
          <a:bodyPr wrap="square">
            <a:spAutoFit/>
          </a:bodyPr>
          <a:lstStyle/>
          <a:p>
            <a:pPr algn="ctr"/>
            <a:r>
              <a:rPr sz="12000" b="1">
                <a:solidFill>
                  <a:srgbClr val="2A35A0"/>
                </a:solidFill>
                <a:latin typeface="Meiryo"/>
              </a:rPr>
              <a:t>G</a:t>
            </a:r>
          </a:p>
        </p:txBody>
      </p:sp>
      <p:sp>
        <p:nvSpPr>
          <p:cNvPr id="5" name="Rectangle 4"/>
          <p:cNvSpPr/>
          <p:nvPr/>
        </p:nvSpPr>
        <p:spPr>
          <a:xfrm>
            <a:off x="2926080" y="1645920"/>
            <a:ext cx="73152" cy="320040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1828800"/>
            <a:ext cx="8229600" cy="548640"/>
          </a:xfrm>
          <a:prstGeom prst="rect">
            <a:avLst/>
          </a:prstGeom>
          <a:noFill/>
        </p:spPr>
        <p:txBody>
          <a:bodyPr wrap="square">
            <a:spAutoFit/>
          </a:bodyPr>
          <a:lstStyle/>
          <a:p>
            <a:pPr algn="l"/>
            <a:r>
              <a:rPr sz="1800" b="0">
                <a:solidFill>
                  <a:srgbClr val="F57F17"/>
                </a:solidFill>
                <a:latin typeface="Meiryo"/>
              </a:rPr>
              <a:t>セクション G</a:t>
            </a:r>
          </a:p>
        </p:txBody>
      </p:sp>
      <p:sp>
        <p:nvSpPr>
          <p:cNvPr id="7" name="TextBox 6"/>
          <p:cNvSpPr txBox="1"/>
          <p:nvPr/>
        </p:nvSpPr>
        <p:spPr>
          <a:xfrm>
            <a:off x="3200400" y="2377440"/>
            <a:ext cx="8229600" cy="1371600"/>
          </a:xfrm>
          <a:prstGeom prst="rect">
            <a:avLst/>
          </a:prstGeom>
          <a:noFill/>
        </p:spPr>
        <p:txBody>
          <a:bodyPr wrap="square">
            <a:spAutoFit/>
          </a:bodyPr>
          <a:lstStyle/>
          <a:p>
            <a:pPr algn="l"/>
            <a:r>
              <a:rPr sz="3200" b="1">
                <a:solidFill>
                  <a:srgbClr val="FFFFFF"/>
                </a:solidFill>
                <a:latin typeface="Meiryo"/>
              </a:rPr>
              <a:t>ガバナンス・倫理・リスク</a:t>
            </a:r>
          </a:p>
        </p:txBody>
      </p:sp>
      <p:sp>
        <p:nvSpPr>
          <p:cNvPr id="8" name="TextBox 7"/>
          <p:cNvSpPr txBox="1"/>
          <p:nvPr/>
        </p:nvSpPr>
        <p:spPr>
          <a:xfrm>
            <a:off x="3200400" y="3840480"/>
            <a:ext cx="8229600" cy="914400"/>
          </a:xfrm>
          <a:prstGeom prst="rect">
            <a:avLst/>
          </a:prstGeom>
          <a:noFill/>
        </p:spPr>
        <p:txBody>
          <a:bodyPr wrap="square">
            <a:spAutoFit/>
          </a:bodyPr>
          <a:lstStyle/>
          <a:p>
            <a:pPr algn="l"/>
            <a:r>
              <a:rPr sz="1800" b="0">
                <a:solidFill>
                  <a:srgbClr val="B0BEC5"/>
                </a:solidFill>
                <a:latin typeface="Meiryo"/>
              </a:rPr>
              <a:t>ハルシネーション・バイアス・プライバシー・XAI・EU AI Act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G</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G-1：AIガバナンスの基本原則</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AIガバナンスとは</a:t>
            </a:r>
          </a:p>
          <a:p>
            <a:pPr lvl="1">
              <a:spcBef>
                <a:spcPts val="200"/>
              </a:spcBef>
            </a:pPr>
            <a:r>
              <a:rPr sz="1600">
                <a:solidFill>
                  <a:srgbClr val="37474F"/>
                </a:solidFill>
                <a:latin typeface="Meiryo"/>
              </a:rPr>
              <a:t>    ◦ AI技術の開発・導入・運用を適切に管理・監督するための方針・プロセス・体制の総称</a:t>
            </a:r>
          </a:p>
          <a:p>
            <a:pPr lvl="1">
              <a:spcBef>
                <a:spcPts val="200"/>
              </a:spcBef>
            </a:pPr>
            <a:r>
              <a:rPr sz="1600">
                <a:solidFill>
                  <a:srgbClr val="37474F"/>
                </a:solidFill>
                <a:latin typeface="Meiryo"/>
              </a:rPr>
              <a:t>    ◦ 技術的安全性と倫理的整合性を担保しながらビジネス価値を最大化する</a:t>
            </a:r>
          </a:p>
          <a:p>
            <a:pPr>
              <a:spcBef>
                <a:spcPts val="600"/>
              </a:spcBef>
            </a:pPr>
            <a:r>
              <a:rPr sz="1900" b="1">
                <a:solidFill>
                  <a:srgbClr val="1A237E"/>
                </a:solidFill>
                <a:latin typeface="Meiryo"/>
              </a:rPr>
              <a:t>▶ AIガバナンスの5大原則</a:t>
            </a:r>
          </a:p>
          <a:p>
            <a:pPr lvl="1">
              <a:spcBef>
                <a:spcPts val="200"/>
              </a:spcBef>
            </a:pPr>
            <a:r>
              <a:rPr sz="1600">
                <a:solidFill>
                  <a:srgbClr val="37474F"/>
                </a:solidFill>
                <a:latin typeface="Meiryo"/>
              </a:rPr>
              <a:t>    ◦ ①人間中心性：AIは人間の監督下に置かれ、最終判断は人間が行う</a:t>
            </a:r>
          </a:p>
          <a:p>
            <a:pPr lvl="1">
              <a:spcBef>
                <a:spcPts val="200"/>
              </a:spcBef>
            </a:pPr>
            <a:r>
              <a:rPr sz="1600">
                <a:solidFill>
                  <a:srgbClr val="37474F"/>
                </a:solidFill>
                <a:latin typeface="Meiryo"/>
              </a:rPr>
              <a:t>    ◦ ②透明性・説明可能性：AIがなぜその判断をしたか説明できる</a:t>
            </a:r>
          </a:p>
          <a:p>
            <a:pPr lvl="1">
              <a:spcBef>
                <a:spcPts val="200"/>
              </a:spcBef>
            </a:pPr>
            <a:r>
              <a:rPr sz="1600">
                <a:solidFill>
                  <a:srgbClr val="37474F"/>
                </a:solidFill>
                <a:latin typeface="Meiryo"/>
              </a:rPr>
              <a:t>    ◦ ③公平性・非差別：性別・人種・年齢等によるバイアスを排除する</a:t>
            </a:r>
          </a:p>
          <a:p>
            <a:pPr lvl="1">
              <a:spcBef>
                <a:spcPts val="200"/>
              </a:spcBef>
            </a:pPr>
            <a:r>
              <a:rPr sz="1600">
                <a:solidFill>
                  <a:srgbClr val="37474F"/>
                </a:solidFill>
                <a:latin typeface="Meiryo"/>
              </a:rPr>
              <a:t>    ◦ ④安全性・セキュリティ：悪用・誤作動・情報漏洩から保護する</a:t>
            </a:r>
          </a:p>
          <a:p>
            <a:pPr lvl="1">
              <a:spcBef>
                <a:spcPts val="200"/>
              </a:spcBef>
            </a:pPr>
            <a:r>
              <a:rPr sz="1600">
                <a:solidFill>
                  <a:srgbClr val="37474F"/>
                </a:solidFill>
                <a:latin typeface="Meiryo"/>
              </a:rPr>
              <a:t>    ◦ ⑤説明責任：AIシステムの運用者・開発者が結果に責任を持つ</a:t>
            </a:r>
          </a:p>
          <a:p>
            <a:pPr>
              <a:spcBef>
                <a:spcPts val="600"/>
              </a:spcBef>
            </a:pPr>
            <a:r>
              <a:rPr sz="1900" b="1">
                <a:solidFill>
                  <a:srgbClr val="1A237E"/>
                </a:solidFill>
                <a:latin typeface="Meiryo"/>
              </a:rPr>
              <a:t>▶ 企業AIガバナンスの実践要素</a:t>
            </a:r>
          </a:p>
          <a:p>
            <a:pPr lvl="1">
              <a:spcBef>
                <a:spcPts val="200"/>
              </a:spcBef>
            </a:pPr>
            <a:r>
              <a:rPr sz="1600">
                <a:solidFill>
                  <a:srgbClr val="37474F"/>
                </a:solidFill>
                <a:latin typeface="Meiryo"/>
              </a:rPr>
              <a:t>    ◦ AIポリシー（利用規程）：使用可能なAIツール・禁止事項・データ取扱い基準</a:t>
            </a:r>
          </a:p>
          <a:p>
            <a:pPr lvl="1">
              <a:spcBef>
                <a:spcPts val="200"/>
              </a:spcBef>
            </a:pPr>
            <a:r>
              <a:rPr sz="1600">
                <a:solidFill>
                  <a:srgbClr val="37474F"/>
                </a:solidFill>
                <a:latin typeface="Meiryo"/>
              </a:rPr>
              <a:t>    ◦ リスク評価プロセス：新規AI導入前の倫理・法的リスク審査</a:t>
            </a:r>
          </a:p>
          <a:p>
            <a:pPr lvl="1">
              <a:spcBef>
                <a:spcPts val="200"/>
              </a:spcBef>
            </a:pPr>
            <a:r>
              <a:rPr sz="1600">
                <a:solidFill>
                  <a:srgbClr val="37474F"/>
                </a:solidFill>
                <a:latin typeface="Meiryo"/>
              </a:rPr>
              <a:t>    ◦ 監査・モニタリング：AIの動作・判断を継続的に記録・検証</a:t>
            </a:r>
          </a:p>
          <a:p>
            <a:pPr lvl="1">
              <a:spcBef>
                <a:spcPts val="200"/>
              </a:spcBef>
            </a:pPr>
            <a:r>
              <a:rPr sz="1600">
                <a:solidFill>
                  <a:srgbClr val="37474F"/>
                </a:solidFill>
                <a:latin typeface="Meiryo"/>
              </a:rPr>
              <a:t>    ◦ インシデント対応計画：問題発生時の対処・エスカレーション手順</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G</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G-2：ハルシネーション（幻覚）リスク</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ハルシネーションとは</a:t>
            </a:r>
          </a:p>
          <a:p>
            <a:pPr lvl="1">
              <a:spcBef>
                <a:spcPts val="200"/>
              </a:spcBef>
            </a:pPr>
            <a:r>
              <a:rPr sz="1600">
                <a:solidFill>
                  <a:srgbClr val="37474F"/>
                </a:solidFill>
                <a:latin typeface="Meiryo"/>
              </a:rPr>
              <a:t>    ◦ LLMが事実と異なる情報を自信を持って生成してしまう現象</a:t>
            </a:r>
          </a:p>
          <a:p>
            <a:pPr lvl="1">
              <a:spcBef>
                <a:spcPts val="200"/>
              </a:spcBef>
            </a:pPr>
            <a:r>
              <a:rPr sz="1600">
                <a:solidFill>
                  <a:srgbClr val="37474F"/>
                </a:solidFill>
                <a:latin typeface="Meiryo"/>
              </a:rPr>
              <a:t>    ◦ モデルが学習データから確率的にテキストを生成するために発生</a:t>
            </a:r>
          </a:p>
          <a:p>
            <a:pPr lvl="1">
              <a:spcBef>
                <a:spcPts val="200"/>
              </a:spcBef>
            </a:pPr>
            <a:r>
              <a:rPr sz="1600">
                <a:solidFill>
                  <a:srgbClr val="37474F"/>
                </a:solidFill>
                <a:latin typeface="Meiryo"/>
              </a:rPr>
              <a:t>    ◦ ビジネス利用における最大のリスクの一つ</a:t>
            </a:r>
          </a:p>
          <a:p>
            <a:pPr>
              <a:spcBef>
                <a:spcPts val="600"/>
              </a:spcBef>
            </a:pPr>
            <a:r>
              <a:rPr sz="1900" b="1">
                <a:solidFill>
                  <a:srgbClr val="1A237E"/>
                </a:solidFill>
                <a:latin typeface="Meiryo"/>
              </a:rPr>
              <a:t>▶ ハルシネーションの種類</a:t>
            </a:r>
          </a:p>
          <a:p>
            <a:pPr lvl="1">
              <a:spcBef>
                <a:spcPts val="200"/>
              </a:spcBef>
            </a:pPr>
            <a:r>
              <a:rPr sz="1600">
                <a:solidFill>
                  <a:srgbClr val="37474F"/>
                </a:solidFill>
                <a:latin typeface="Meiryo"/>
              </a:rPr>
              <a:t>    ◦ 事実的誤り：存在しない法律・数値・人物・出来事を生成</a:t>
            </a:r>
          </a:p>
          <a:p>
            <a:pPr lvl="1">
              <a:spcBef>
                <a:spcPts val="200"/>
              </a:spcBef>
            </a:pPr>
            <a:r>
              <a:rPr sz="1600">
                <a:solidFill>
                  <a:srgbClr val="37474F"/>
                </a:solidFill>
                <a:latin typeface="Meiryo"/>
              </a:rPr>
              <a:t>    ◦ 文脈的誤り：正確な情報だが質問の文脈と合わない回答</a:t>
            </a:r>
          </a:p>
          <a:p>
            <a:pPr lvl="1">
              <a:spcBef>
                <a:spcPts val="200"/>
              </a:spcBef>
            </a:pPr>
            <a:r>
              <a:rPr sz="1600">
                <a:solidFill>
                  <a:srgbClr val="37474F"/>
                </a:solidFill>
                <a:latin typeface="Meiryo"/>
              </a:rPr>
              <a:t>    ◦ 内部矛盾：同一回答内で矛盾する記述が存在</a:t>
            </a:r>
          </a:p>
          <a:p>
            <a:pPr>
              <a:spcBef>
                <a:spcPts val="600"/>
              </a:spcBef>
            </a:pPr>
            <a:r>
              <a:rPr sz="1900" b="1">
                <a:solidFill>
                  <a:srgbClr val="1A237E"/>
                </a:solidFill>
                <a:latin typeface="Meiryo"/>
              </a:rPr>
              <a:t>▶ ハルシネーション低減策</a:t>
            </a:r>
          </a:p>
          <a:p>
            <a:pPr lvl="1">
              <a:spcBef>
                <a:spcPts val="200"/>
              </a:spcBef>
            </a:pPr>
            <a:r>
              <a:rPr sz="1600">
                <a:solidFill>
                  <a:srgbClr val="37474F"/>
                </a:solidFill>
                <a:latin typeface="Meiryo"/>
              </a:rPr>
              <a:t>    ◦ RAG（検索拡張生成）：根拠文書を参照させ事実に基づいた回答を生成</a:t>
            </a:r>
          </a:p>
          <a:p>
            <a:pPr lvl="1">
              <a:spcBef>
                <a:spcPts val="200"/>
              </a:spcBef>
            </a:pPr>
            <a:r>
              <a:rPr sz="1600">
                <a:solidFill>
                  <a:srgbClr val="37474F"/>
                </a:solidFill>
                <a:latin typeface="Meiryo"/>
              </a:rPr>
              <a:t>    ◦ 低温度パラメータ：ランダム性を下げ一貫性を確保</a:t>
            </a:r>
          </a:p>
          <a:p>
            <a:pPr lvl="1">
              <a:spcBef>
                <a:spcPts val="200"/>
              </a:spcBef>
            </a:pPr>
            <a:r>
              <a:rPr sz="1600">
                <a:solidFill>
                  <a:srgbClr val="37474F"/>
                </a:solidFill>
                <a:latin typeface="Meiryo"/>
              </a:rPr>
              <a:t>    ◦ ファクトチェック指示：「不確実な場合は『わかりません』と回答して」</a:t>
            </a:r>
          </a:p>
          <a:p>
            <a:pPr lvl="1">
              <a:spcBef>
                <a:spcPts val="200"/>
              </a:spcBef>
            </a:pPr>
            <a:r>
              <a:rPr sz="1600">
                <a:solidFill>
                  <a:srgbClr val="37474F"/>
                </a:solidFill>
                <a:latin typeface="Meiryo"/>
              </a:rPr>
              <a:t>    ◦ グラウンディング：「以下の文書のみに基づいて回答してください」</a:t>
            </a:r>
          </a:p>
          <a:p>
            <a:pPr lvl="1">
              <a:spcBef>
                <a:spcPts val="200"/>
              </a:spcBef>
            </a:pPr>
            <a:r>
              <a:rPr sz="1600">
                <a:solidFill>
                  <a:srgbClr val="37474F"/>
                </a:solidFill>
                <a:latin typeface="Meiryo"/>
              </a:rPr>
              <a:t>    ◦ 出力検証：別のAI/人間によるファクトチェックレイヤー</a:t>
            </a:r>
          </a:p>
          <a:p>
            <a:pPr>
              <a:spcBef>
                <a:spcPts val="600"/>
              </a:spcBef>
            </a:pPr>
            <a:r>
              <a:rPr sz="1900" b="1">
                <a:solidFill>
                  <a:srgbClr val="1A237E"/>
                </a:solidFill>
                <a:latin typeface="Meiryo"/>
              </a:rPr>
              <a:t>▶ 業務別リスク評価</a:t>
            </a:r>
          </a:p>
          <a:p>
            <a:pPr lvl="1">
              <a:spcBef>
                <a:spcPts val="200"/>
              </a:spcBef>
            </a:pPr>
            <a:r>
              <a:rPr sz="1600">
                <a:solidFill>
                  <a:srgbClr val="37474F"/>
                </a:solidFill>
                <a:latin typeface="Meiryo"/>
              </a:rPr>
              <a:t>    ◦ 高リスク：医療診断・法的判断・財務報告 → 必ず人間の最終確認</a:t>
            </a:r>
          </a:p>
          <a:p>
            <a:pPr lvl="1">
              <a:spcBef>
                <a:spcPts val="200"/>
              </a:spcBef>
            </a:pPr>
            <a:r>
              <a:rPr sz="1600">
                <a:solidFill>
                  <a:srgbClr val="37474F"/>
                </a:solidFill>
                <a:latin typeface="Meiryo"/>
              </a:rPr>
              <a:t>    ◦ 中リスク：顧客対応・マーケティング文書 → レビュープロセス設計</a:t>
            </a:r>
          </a:p>
          <a:p>
            <a:pPr lvl="1">
              <a:spcBef>
                <a:spcPts val="200"/>
              </a:spcBef>
            </a:pPr>
            <a:r>
              <a:rPr sz="1600">
                <a:solidFill>
                  <a:srgbClr val="37474F"/>
                </a:solidFill>
                <a:latin typeface="Meiryo"/>
              </a:rPr>
              <a:t>    ◦ 低リスク：ドラフト作成・内部メモ → AIの判断を活用しやすい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G</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G-3：バイアスとフェアネス</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AIバイアスとは</a:t>
            </a:r>
          </a:p>
          <a:p>
            <a:pPr lvl="1">
              <a:spcBef>
                <a:spcPts val="200"/>
              </a:spcBef>
            </a:pPr>
            <a:r>
              <a:rPr sz="1600">
                <a:solidFill>
                  <a:srgbClr val="37474F"/>
                </a:solidFill>
                <a:latin typeface="Meiryo"/>
              </a:rPr>
              <a:t>    ◦ AIシステムが特定グループに対して不公平な判断・出力をする傾向</a:t>
            </a:r>
          </a:p>
          <a:p>
            <a:pPr lvl="1">
              <a:spcBef>
                <a:spcPts val="200"/>
              </a:spcBef>
            </a:pPr>
            <a:r>
              <a:rPr sz="1600">
                <a:solidFill>
                  <a:srgbClr val="37474F"/>
                </a:solidFill>
                <a:latin typeface="Meiryo"/>
              </a:rPr>
              <a:t>    ◦ 学習データに含まれる社会的偏見・歴史的不均衡がモデルに引き継がれる</a:t>
            </a:r>
          </a:p>
          <a:p>
            <a:pPr>
              <a:spcBef>
                <a:spcPts val="600"/>
              </a:spcBef>
            </a:pPr>
            <a:r>
              <a:rPr sz="1900" b="1">
                <a:solidFill>
                  <a:srgbClr val="1A237E"/>
                </a:solidFill>
                <a:latin typeface="Meiryo"/>
              </a:rPr>
              <a:t>▶ バイアスの主要類型</a:t>
            </a:r>
          </a:p>
          <a:p>
            <a:pPr lvl="1">
              <a:spcBef>
                <a:spcPts val="200"/>
              </a:spcBef>
            </a:pPr>
            <a:r>
              <a:rPr sz="1600">
                <a:solidFill>
                  <a:srgbClr val="37474F"/>
                </a:solidFill>
                <a:latin typeface="Meiryo"/>
              </a:rPr>
              <a:t>    ◦ データバイアス：学習データに特定グループのデータが過剰/過少に含まれる</a:t>
            </a:r>
          </a:p>
          <a:p>
            <a:pPr lvl="1">
              <a:spcBef>
                <a:spcPts val="200"/>
              </a:spcBef>
            </a:pPr>
            <a:r>
              <a:rPr sz="1600">
                <a:solidFill>
                  <a:srgbClr val="37474F"/>
                </a:solidFill>
                <a:latin typeface="Meiryo"/>
              </a:rPr>
              <a:t>    ◦ アルゴリズムバイアス：モデル設計・目的関数がバイアスを増幅させる</a:t>
            </a:r>
          </a:p>
          <a:p>
            <a:pPr lvl="1">
              <a:spcBef>
                <a:spcPts val="200"/>
              </a:spcBef>
            </a:pPr>
            <a:r>
              <a:rPr sz="1600">
                <a:solidFill>
                  <a:srgbClr val="37474F"/>
                </a:solidFill>
                <a:latin typeface="Meiryo"/>
              </a:rPr>
              <a:t>    ◦ 測定バイアス：特定グループで精度が低い特徴量の使用</a:t>
            </a:r>
          </a:p>
          <a:p>
            <a:pPr lvl="1">
              <a:spcBef>
                <a:spcPts val="200"/>
              </a:spcBef>
            </a:pPr>
            <a:r>
              <a:rPr sz="1600">
                <a:solidFill>
                  <a:srgbClr val="37474F"/>
                </a:solidFill>
                <a:latin typeface="Meiryo"/>
              </a:rPr>
              <a:t>    ◦ フィードバックバイアス：バイアスのある結果が再学習データとなり悪化</a:t>
            </a:r>
          </a:p>
          <a:p>
            <a:pPr>
              <a:spcBef>
                <a:spcPts val="600"/>
              </a:spcBef>
            </a:pPr>
            <a:r>
              <a:rPr sz="1900" b="1">
                <a:solidFill>
                  <a:srgbClr val="1A237E"/>
                </a:solidFill>
                <a:latin typeface="Meiryo"/>
              </a:rPr>
              <a:t>▶ バイアス検出と対策</a:t>
            </a:r>
          </a:p>
          <a:p>
            <a:pPr lvl="1">
              <a:spcBef>
                <a:spcPts val="200"/>
              </a:spcBef>
            </a:pPr>
            <a:r>
              <a:rPr sz="1600">
                <a:solidFill>
                  <a:srgbClr val="37474F"/>
                </a:solidFill>
                <a:latin typeface="Meiryo"/>
              </a:rPr>
              <a:t>    ◦ 代表性チェック：学習データの人口統計的分布の確認</a:t>
            </a:r>
          </a:p>
          <a:p>
            <a:pPr lvl="1">
              <a:spcBef>
                <a:spcPts val="200"/>
              </a:spcBef>
            </a:pPr>
            <a:r>
              <a:rPr sz="1600">
                <a:solidFill>
                  <a:srgbClr val="37474F"/>
                </a:solidFill>
                <a:latin typeface="Meiryo"/>
              </a:rPr>
              <a:t>    ◦ 公平性指標評価：グループ間の精度・偽陽性率・偽陰性率の差を計測</a:t>
            </a:r>
          </a:p>
          <a:p>
            <a:pPr lvl="1">
              <a:spcBef>
                <a:spcPts val="200"/>
              </a:spcBef>
            </a:pPr>
            <a:r>
              <a:rPr sz="1600">
                <a:solidFill>
                  <a:srgbClr val="37474F"/>
                </a:solidFill>
                <a:latin typeface="Meiryo"/>
              </a:rPr>
              <a:t>    ◦ カウンターファクチュアル検証：属性のみ変えたテストケースで偏りを確認</a:t>
            </a:r>
          </a:p>
          <a:p>
            <a:pPr lvl="1">
              <a:spcBef>
                <a:spcPts val="200"/>
              </a:spcBef>
            </a:pPr>
            <a:r>
              <a:rPr sz="1600">
                <a:solidFill>
                  <a:srgbClr val="37474F"/>
                </a:solidFill>
                <a:latin typeface="Meiryo"/>
              </a:rPr>
              <a:t>    ◦ Fairness-aware学習：公平性制約を組み込んだモデル設計</a:t>
            </a:r>
          </a:p>
          <a:p>
            <a:pPr>
              <a:spcBef>
                <a:spcPts val="600"/>
              </a:spcBef>
            </a:pPr>
            <a:r>
              <a:rPr sz="1900" b="1">
                <a:solidFill>
                  <a:srgbClr val="1A237E"/>
                </a:solidFill>
                <a:latin typeface="Meiryo"/>
              </a:rPr>
              <a:t>▶ 採用・審査業務でのバイアスリスク</a:t>
            </a:r>
          </a:p>
          <a:p>
            <a:pPr lvl="1">
              <a:spcBef>
                <a:spcPts val="200"/>
              </a:spcBef>
            </a:pPr>
            <a:r>
              <a:rPr sz="1600">
                <a:solidFill>
                  <a:srgbClr val="37474F"/>
                </a:solidFill>
                <a:latin typeface="Meiryo"/>
              </a:rPr>
              <a:t>    ◦ 採用AIが過去データの性別・学歴バイアスを学習するリスク</a:t>
            </a:r>
          </a:p>
          <a:p>
            <a:pPr lvl="1">
              <a:spcBef>
                <a:spcPts val="200"/>
              </a:spcBef>
            </a:pPr>
            <a:r>
              <a:rPr sz="1600">
                <a:solidFill>
                  <a:srgbClr val="37474F"/>
                </a:solidFill>
                <a:latin typeface="Meiryo"/>
              </a:rPr>
              <a:t>    ◦ 与信・ローン審査での人種・地域バイアス</a:t>
            </a:r>
          </a:p>
          <a:p>
            <a:pPr lvl="1">
              <a:spcBef>
                <a:spcPts val="200"/>
              </a:spcBef>
            </a:pPr>
            <a:r>
              <a:rPr sz="1600">
                <a:solidFill>
                  <a:srgbClr val="37474F"/>
                </a:solidFill>
                <a:latin typeface="Meiryo"/>
              </a:rPr>
              <a:t>    ◦ HR・採用にAIを使用する場合は特に公平性審査が必須</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G</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G-4：個人情報・データプライバシー</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AIと個人情報保護の重要性</a:t>
            </a:r>
          </a:p>
          <a:p>
            <a:pPr lvl="1">
              <a:spcBef>
                <a:spcPts val="200"/>
              </a:spcBef>
            </a:pPr>
            <a:r>
              <a:rPr sz="1600">
                <a:solidFill>
                  <a:srgbClr val="37474F"/>
                </a:solidFill>
                <a:latin typeface="Meiryo"/>
              </a:rPr>
              <a:t>    ◦ AIシステムは大量の個人データを処理するため、適切な保護が法的・倫理的義務</a:t>
            </a:r>
          </a:p>
          <a:p>
            <a:pPr lvl="1">
              <a:spcBef>
                <a:spcPts val="200"/>
              </a:spcBef>
            </a:pPr>
            <a:r>
              <a:rPr sz="1600">
                <a:solidFill>
                  <a:srgbClr val="37474F"/>
                </a:solidFill>
                <a:latin typeface="Meiryo"/>
              </a:rPr>
              <a:t>    ◦ 違反時のリスク：法的罰則・信頼失墜・ブランド毀損</a:t>
            </a:r>
          </a:p>
          <a:p>
            <a:pPr>
              <a:spcBef>
                <a:spcPts val="600"/>
              </a:spcBef>
            </a:pPr>
            <a:r>
              <a:rPr sz="1900" b="1">
                <a:solidFill>
                  <a:srgbClr val="1A237E"/>
                </a:solidFill>
                <a:latin typeface="Meiryo"/>
              </a:rPr>
              <a:t>▶ 日本の関連法規制</a:t>
            </a:r>
          </a:p>
          <a:p>
            <a:pPr lvl="1">
              <a:spcBef>
                <a:spcPts val="200"/>
              </a:spcBef>
            </a:pPr>
            <a:r>
              <a:rPr sz="1600">
                <a:solidFill>
                  <a:srgbClr val="37474F"/>
                </a:solidFill>
                <a:latin typeface="Meiryo"/>
              </a:rPr>
              <a:t>    ◦ 個人情報保護法（PIPA）：個人情報の取得・利用・提供・管理の規制</a:t>
            </a:r>
          </a:p>
          <a:p>
            <a:pPr lvl="1">
              <a:spcBef>
                <a:spcPts val="200"/>
              </a:spcBef>
            </a:pPr>
            <a:r>
              <a:rPr sz="1600">
                <a:solidFill>
                  <a:srgbClr val="37474F"/>
                </a:solidFill>
                <a:latin typeface="Meiryo"/>
              </a:rPr>
              <a:t>    ◦ 改正個人情報保護法（2022年）：プロファイリング規制・漏洩報告義務の強化</a:t>
            </a:r>
          </a:p>
          <a:p>
            <a:pPr lvl="1">
              <a:spcBef>
                <a:spcPts val="200"/>
              </a:spcBef>
            </a:pPr>
            <a:r>
              <a:rPr sz="1600">
                <a:solidFill>
                  <a:srgbClr val="37474F"/>
                </a:solidFill>
                <a:latin typeface="Meiryo"/>
              </a:rPr>
              <a:t>    ◦ 医療・金融分野：特定分野の追加規制あり</a:t>
            </a:r>
          </a:p>
          <a:p>
            <a:pPr>
              <a:spcBef>
                <a:spcPts val="600"/>
              </a:spcBef>
            </a:pPr>
            <a:r>
              <a:rPr sz="1900" b="1">
                <a:solidFill>
                  <a:srgbClr val="1A237E"/>
                </a:solidFill>
                <a:latin typeface="Meiryo"/>
              </a:rPr>
              <a:t>▶ AIシステムにおけるデータプライバシー設計</a:t>
            </a:r>
          </a:p>
          <a:p>
            <a:pPr lvl="1">
              <a:spcBef>
                <a:spcPts val="200"/>
              </a:spcBef>
            </a:pPr>
            <a:r>
              <a:rPr sz="1600">
                <a:solidFill>
                  <a:srgbClr val="37474F"/>
                </a:solidFill>
                <a:latin typeface="Meiryo"/>
              </a:rPr>
              <a:t>    ◦ データ最小化原則：必要最小限のデータのみ収集・利用</a:t>
            </a:r>
          </a:p>
          <a:p>
            <a:pPr lvl="1">
              <a:spcBef>
                <a:spcPts val="200"/>
              </a:spcBef>
            </a:pPr>
            <a:r>
              <a:rPr sz="1600">
                <a:solidFill>
                  <a:srgbClr val="37474F"/>
                </a:solidFill>
                <a:latin typeface="Meiryo"/>
              </a:rPr>
              <a:t>    ◦ 目的限定原則：収集目的以外への使用禁止</a:t>
            </a:r>
          </a:p>
          <a:p>
            <a:pPr lvl="1">
              <a:spcBef>
                <a:spcPts val="200"/>
              </a:spcBef>
            </a:pPr>
            <a:r>
              <a:rPr sz="1600">
                <a:solidFill>
                  <a:srgbClr val="37474F"/>
                </a:solidFill>
                <a:latin typeface="Meiryo"/>
              </a:rPr>
              <a:t>    ◦ プライバシーバイデザイン：設計段階からプライバシーを組み込む</a:t>
            </a:r>
          </a:p>
          <a:p>
            <a:pPr lvl="1">
              <a:spcBef>
                <a:spcPts val="200"/>
              </a:spcBef>
            </a:pPr>
            <a:r>
              <a:rPr sz="1600">
                <a:solidFill>
                  <a:srgbClr val="37474F"/>
                </a:solidFill>
                <a:latin typeface="Meiryo"/>
              </a:rPr>
              <a:t>    ◦ 匿名化・仮名化：学習・分析データの識別子除去</a:t>
            </a:r>
          </a:p>
          <a:p>
            <a:pPr lvl="1">
              <a:spcBef>
                <a:spcPts val="200"/>
              </a:spcBef>
            </a:pPr>
            <a:r>
              <a:rPr sz="1600">
                <a:solidFill>
                  <a:srgbClr val="37474F"/>
                </a:solidFill>
                <a:latin typeface="Meiryo"/>
              </a:rPr>
              <a:t>    ◦ RAGナレッジベースへの個人情報混入防止：アクセス制御・マスキング</a:t>
            </a:r>
          </a:p>
          <a:p>
            <a:pPr>
              <a:spcBef>
                <a:spcPts val="600"/>
              </a:spcBef>
            </a:pPr>
            <a:r>
              <a:rPr sz="1900" b="1">
                <a:solidFill>
                  <a:srgbClr val="1A237E"/>
                </a:solidFill>
                <a:latin typeface="Meiryo"/>
              </a:rPr>
              <a:t>▶ クラウドAIサービス利用時の注意点</a:t>
            </a:r>
          </a:p>
          <a:p>
            <a:pPr lvl="1">
              <a:spcBef>
                <a:spcPts val="200"/>
              </a:spcBef>
            </a:pPr>
            <a:r>
              <a:rPr sz="1600">
                <a:solidFill>
                  <a:srgbClr val="37474F"/>
                </a:solidFill>
                <a:latin typeface="Meiryo"/>
              </a:rPr>
              <a:t>    ◦ データ処理・保管場所の確認（国外サーバー規制）</a:t>
            </a:r>
          </a:p>
          <a:p>
            <a:pPr lvl="1">
              <a:spcBef>
                <a:spcPts val="200"/>
              </a:spcBef>
            </a:pPr>
            <a:r>
              <a:rPr sz="1600">
                <a:solidFill>
                  <a:srgbClr val="37474F"/>
                </a:solidFill>
                <a:latin typeface="Meiryo"/>
              </a:rPr>
              <a:t>    ◦ サービス利用規約でのデータ学習利用の有無確認</a:t>
            </a:r>
          </a:p>
          <a:p>
            <a:pPr lvl="1">
              <a:spcBef>
                <a:spcPts val="200"/>
              </a:spcBef>
            </a:pPr>
            <a:r>
              <a:rPr sz="1600">
                <a:solidFill>
                  <a:srgbClr val="37474F"/>
                </a:solidFill>
                <a:latin typeface="Meiryo"/>
              </a:rPr>
              <a:t>    ◦ エンタープライズプランでの入力データ除外オプション利用</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G</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G-5：AIの透明性・説明可能性（XAI）</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XAI（Explainable AI）とは</a:t>
            </a:r>
          </a:p>
          <a:p>
            <a:pPr lvl="1">
              <a:spcBef>
                <a:spcPts val="200"/>
              </a:spcBef>
            </a:pPr>
            <a:r>
              <a:rPr sz="1600">
                <a:solidFill>
                  <a:srgbClr val="37474F"/>
                </a:solidFill>
                <a:latin typeface="Meiryo"/>
              </a:rPr>
              <a:t>    ◦ AIの判断プロセスを人間が理解・解釈できる形で説明する技術・手法</a:t>
            </a:r>
          </a:p>
          <a:p>
            <a:pPr lvl="1">
              <a:spcBef>
                <a:spcPts val="200"/>
              </a:spcBef>
            </a:pPr>
            <a:r>
              <a:rPr sz="1600">
                <a:solidFill>
                  <a:srgbClr val="37474F"/>
                </a:solidFill>
                <a:latin typeface="Meiryo"/>
              </a:rPr>
              <a:t>    ◦ 「ブラックボックス問題」への対処：なぜその結論に至ったかを説明</a:t>
            </a:r>
          </a:p>
          <a:p>
            <a:pPr>
              <a:spcBef>
                <a:spcPts val="600"/>
              </a:spcBef>
            </a:pPr>
            <a:r>
              <a:rPr sz="1900" b="1">
                <a:solidFill>
                  <a:srgbClr val="1A237E"/>
                </a:solidFill>
                <a:latin typeface="Meiryo"/>
              </a:rPr>
              <a:t>▶ XAIが重要なビジネスシーン</a:t>
            </a:r>
          </a:p>
          <a:p>
            <a:pPr lvl="1">
              <a:spcBef>
                <a:spcPts val="200"/>
              </a:spcBef>
            </a:pPr>
            <a:r>
              <a:rPr sz="1600">
                <a:solidFill>
                  <a:srgbClr val="37474F"/>
                </a:solidFill>
                <a:latin typeface="Meiryo"/>
              </a:rPr>
              <a:t>    ◦ 与信審査・ローン判定：「なぜ否決か」を顧客・規制当局に説明する義務</a:t>
            </a:r>
          </a:p>
          <a:p>
            <a:pPr lvl="1">
              <a:spcBef>
                <a:spcPts val="200"/>
              </a:spcBef>
            </a:pPr>
            <a:r>
              <a:rPr sz="1600">
                <a:solidFill>
                  <a:srgbClr val="37474F"/>
                </a:solidFill>
                <a:latin typeface="Meiryo"/>
              </a:rPr>
              <a:t>    ◦ 医療診断支援：医師がAI推奨の根拠を理解した上で最終判断</a:t>
            </a:r>
          </a:p>
          <a:p>
            <a:pPr lvl="1">
              <a:spcBef>
                <a:spcPts val="200"/>
              </a:spcBef>
            </a:pPr>
            <a:r>
              <a:rPr sz="1600">
                <a:solidFill>
                  <a:srgbClr val="37474F"/>
                </a:solidFill>
                <a:latin typeface="Meiryo"/>
              </a:rPr>
              <a:t>    ◦ 採用選考：候補者への説明責任・差別禁止法への対応</a:t>
            </a:r>
          </a:p>
          <a:p>
            <a:pPr lvl="1">
              <a:spcBef>
                <a:spcPts val="200"/>
              </a:spcBef>
            </a:pPr>
            <a:r>
              <a:rPr sz="1600">
                <a:solidFill>
                  <a:srgbClr val="37474F"/>
                </a:solidFill>
                <a:latin typeface="Meiryo"/>
              </a:rPr>
              <a:t>    ◦ 法的手続き・コンプライアンス：AIの判断が法的に問われるケース</a:t>
            </a:r>
          </a:p>
          <a:p>
            <a:pPr>
              <a:spcBef>
                <a:spcPts val="600"/>
              </a:spcBef>
            </a:pPr>
            <a:r>
              <a:rPr sz="1900" b="1">
                <a:solidFill>
                  <a:srgbClr val="1A237E"/>
                </a:solidFill>
                <a:latin typeface="Meiryo"/>
              </a:rPr>
              <a:t>▶ 主要なXAI手法</a:t>
            </a:r>
          </a:p>
          <a:p>
            <a:pPr lvl="1">
              <a:spcBef>
                <a:spcPts val="200"/>
              </a:spcBef>
            </a:pPr>
            <a:r>
              <a:rPr sz="1600">
                <a:solidFill>
                  <a:srgbClr val="37474F"/>
                </a:solidFill>
                <a:latin typeface="Meiryo"/>
              </a:rPr>
              <a:t>    ◦ LIME（Local Interpretable Model-agnostic Explanations）：個別予測の局所的説明</a:t>
            </a:r>
          </a:p>
          <a:p>
            <a:pPr lvl="1">
              <a:spcBef>
                <a:spcPts val="200"/>
              </a:spcBef>
            </a:pPr>
            <a:r>
              <a:rPr sz="1600">
                <a:solidFill>
                  <a:srgbClr val="37474F"/>
                </a:solidFill>
                <a:latin typeface="Meiryo"/>
              </a:rPr>
              <a:t>    ◦ SHAP（SHapley Additive exPlanations）：各特徴量の寄与度を定量化</a:t>
            </a:r>
          </a:p>
          <a:p>
            <a:pPr lvl="1">
              <a:spcBef>
                <a:spcPts val="200"/>
              </a:spcBef>
            </a:pPr>
            <a:r>
              <a:rPr sz="1600">
                <a:solidFill>
                  <a:srgbClr val="37474F"/>
                </a:solidFill>
                <a:latin typeface="Meiryo"/>
              </a:rPr>
              <a:t>    ◦ Attention可視化：LLMがどの部分に注目したかを可視化</a:t>
            </a:r>
          </a:p>
          <a:p>
            <a:pPr lvl="1">
              <a:spcBef>
                <a:spcPts val="200"/>
              </a:spcBef>
            </a:pPr>
            <a:r>
              <a:rPr sz="1600">
                <a:solidFill>
                  <a:srgbClr val="37474F"/>
                </a:solidFill>
                <a:latin typeface="Meiryo"/>
              </a:rPr>
              <a:t>    ◦ RAG引用：回答の根拠文書・箇所を明示（自然な説明可能性）</a:t>
            </a:r>
          </a:p>
          <a:p>
            <a:pPr>
              <a:spcBef>
                <a:spcPts val="600"/>
              </a:spcBef>
            </a:pPr>
            <a:r>
              <a:rPr sz="1900" b="1">
                <a:solidFill>
                  <a:srgbClr val="1A237E"/>
                </a:solidFill>
                <a:latin typeface="Meiryo"/>
              </a:rPr>
              <a:t>▶ LLM時代のXAI実践</a:t>
            </a:r>
          </a:p>
          <a:p>
            <a:pPr lvl="1">
              <a:spcBef>
                <a:spcPts val="200"/>
              </a:spcBef>
            </a:pPr>
            <a:r>
              <a:rPr sz="1600">
                <a:solidFill>
                  <a:srgbClr val="37474F"/>
                </a:solidFill>
                <a:latin typeface="Meiryo"/>
              </a:rPr>
              <a:t>    ◦ RAGシステムでの引用提示が最も実用的なXAI手法</a:t>
            </a:r>
          </a:p>
          <a:p>
            <a:pPr lvl="1">
              <a:spcBef>
                <a:spcPts val="200"/>
              </a:spcBef>
            </a:pPr>
            <a:r>
              <a:rPr sz="1600">
                <a:solidFill>
                  <a:srgbClr val="37474F"/>
                </a:solidFill>
                <a:latin typeface="Meiryo"/>
              </a:rPr>
              <a:t>    ◦ Chain-of-Thought出力で推論ステップを可視化</a:t>
            </a:r>
          </a:p>
          <a:p>
            <a:pPr lvl="1">
              <a:spcBef>
                <a:spcPts val="200"/>
              </a:spcBef>
            </a:pPr>
            <a:r>
              <a:rPr sz="1600">
                <a:solidFill>
                  <a:srgbClr val="37474F"/>
                </a:solidFill>
                <a:latin typeface="Meiryo"/>
              </a:rPr>
              <a:t>    ◦ Confidence Score（確信度スコア）の提示</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G</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G-6：EU AI Act・国内AI規制動向</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EU AI Act（EU人工知能規制法）</a:t>
            </a:r>
          </a:p>
          <a:p>
            <a:pPr lvl="1">
              <a:spcBef>
                <a:spcPts val="200"/>
              </a:spcBef>
            </a:pPr>
            <a:r>
              <a:rPr sz="1600">
                <a:solidFill>
                  <a:srgbClr val="37474F"/>
                </a:solidFill>
                <a:latin typeface="Meiryo"/>
              </a:rPr>
              <a:t>    ◦ 2024年施行。世界初の包括的AI規制法</a:t>
            </a:r>
          </a:p>
          <a:p>
            <a:pPr lvl="1">
              <a:spcBef>
                <a:spcPts val="200"/>
              </a:spcBef>
            </a:pPr>
            <a:r>
              <a:rPr sz="1600">
                <a:solidFill>
                  <a:srgbClr val="37474F"/>
                </a:solidFill>
                <a:latin typeface="Meiryo"/>
              </a:rPr>
              <a:t>    ◦ リスクベースアプローチ：AIシステムをリスクレベルで分類・規制</a:t>
            </a:r>
          </a:p>
          <a:p>
            <a:pPr>
              <a:spcBef>
                <a:spcPts val="600"/>
              </a:spcBef>
            </a:pPr>
            <a:r>
              <a:rPr sz="1900" b="1">
                <a:solidFill>
                  <a:srgbClr val="1A237E"/>
                </a:solidFill>
                <a:latin typeface="Meiryo"/>
              </a:rPr>
              <a:t>▶ EU AI Actのリスク分類</a:t>
            </a:r>
          </a:p>
          <a:p>
            <a:pPr lvl="1">
              <a:spcBef>
                <a:spcPts val="200"/>
              </a:spcBef>
            </a:pPr>
            <a:r>
              <a:rPr sz="1600">
                <a:solidFill>
                  <a:srgbClr val="37474F"/>
                </a:solidFill>
                <a:latin typeface="Meiryo"/>
              </a:rPr>
              <a:t>    ◦ 禁止（Unacceptable Risk）：社会信用スコア、サブリミナル操作、人物の大規模生体認証</a:t>
            </a:r>
          </a:p>
          <a:p>
            <a:pPr lvl="1">
              <a:spcBef>
                <a:spcPts val="200"/>
              </a:spcBef>
            </a:pPr>
            <a:r>
              <a:rPr sz="1600">
                <a:solidFill>
                  <a:srgbClr val="37474F"/>
                </a:solidFill>
                <a:latin typeface="Meiryo"/>
              </a:rPr>
              <a:t>    ◦ 高リスク（High Risk）：採用・信用・医療・重要インフラ → 厳格な規制・認証義務</a:t>
            </a:r>
          </a:p>
          <a:p>
            <a:pPr lvl="1">
              <a:spcBef>
                <a:spcPts val="200"/>
              </a:spcBef>
            </a:pPr>
            <a:r>
              <a:rPr sz="1600">
                <a:solidFill>
                  <a:srgbClr val="37474F"/>
                </a:solidFill>
                <a:latin typeface="Meiryo"/>
              </a:rPr>
              <a:t>    ◦ 限定リスク（Limited Risk）：チャットボット等 → 透明性義務（AI明示）</a:t>
            </a:r>
          </a:p>
          <a:p>
            <a:pPr lvl="1">
              <a:spcBef>
                <a:spcPts val="200"/>
              </a:spcBef>
            </a:pPr>
            <a:r>
              <a:rPr sz="1600">
                <a:solidFill>
                  <a:srgbClr val="37474F"/>
                </a:solidFill>
                <a:latin typeface="Meiryo"/>
              </a:rPr>
              <a:t>    ◦ 最小リスク（Minimal Risk）：スパムフィルタ等 → 自主規制</a:t>
            </a:r>
          </a:p>
          <a:p>
            <a:pPr>
              <a:spcBef>
                <a:spcPts val="600"/>
              </a:spcBef>
            </a:pPr>
            <a:r>
              <a:rPr sz="1900" b="1">
                <a:solidFill>
                  <a:srgbClr val="1A237E"/>
                </a:solidFill>
                <a:latin typeface="Meiryo"/>
              </a:rPr>
              <a:t>▶ 日本のAI規制動向</a:t>
            </a:r>
          </a:p>
          <a:p>
            <a:pPr lvl="1">
              <a:spcBef>
                <a:spcPts val="200"/>
              </a:spcBef>
            </a:pPr>
            <a:r>
              <a:rPr sz="1600">
                <a:solidFill>
                  <a:srgbClr val="37474F"/>
                </a:solidFill>
                <a:latin typeface="Meiryo"/>
              </a:rPr>
              <a:t>    ◦ AI事業者ガイドライン（経済産業省・総務省）：安全・透明・公正なAI利活用指針</a:t>
            </a:r>
          </a:p>
          <a:p>
            <a:pPr lvl="1">
              <a:spcBef>
                <a:spcPts val="200"/>
              </a:spcBef>
            </a:pPr>
            <a:r>
              <a:rPr sz="1600">
                <a:solidFill>
                  <a:srgbClr val="37474F"/>
                </a:solidFill>
                <a:latin typeface="Meiryo"/>
              </a:rPr>
              <a:t>    ◦ AI戦略（政府）：生成AI活用推進と安全性確保の両立</a:t>
            </a:r>
          </a:p>
          <a:p>
            <a:pPr lvl="1">
              <a:spcBef>
                <a:spcPts val="200"/>
              </a:spcBef>
            </a:pPr>
            <a:r>
              <a:rPr sz="1600">
                <a:solidFill>
                  <a:srgbClr val="37474F"/>
                </a:solidFill>
                <a:latin typeface="Meiryo"/>
              </a:rPr>
              <a:t>    ◦ 業界別ガイドライン：金融庁・厚生労働省等の分野別指針</a:t>
            </a:r>
          </a:p>
          <a:p>
            <a:pPr lvl="1">
              <a:spcBef>
                <a:spcPts val="200"/>
              </a:spcBef>
            </a:pPr>
            <a:r>
              <a:rPr sz="1600">
                <a:solidFill>
                  <a:srgbClr val="37474F"/>
                </a:solidFill>
                <a:latin typeface="Meiryo"/>
              </a:rPr>
              <a:t>    ◦ 個人情報保護法との整合：生成AI利用時の個人データ取扱い</a:t>
            </a:r>
          </a:p>
          <a:p>
            <a:pPr>
              <a:spcBef>
                <a:spcPts val="600"/>
              </a:spcBef>
            </a:pPr>
            <a:r>
              <a:rPr sz="1900" b="1">
                <a:solidFill>
                  <a:srgbClr val="1A237E"/>
                </a:solidFill>
                <a:latin typeface="Meiryo"/>
              </a:rPr>
              <a:t>▶ 企業の対応ポイント</a:t>
            </a:r>
          </a:p>
          <a:p>
            <a:pPr lvl="1">
              <a:spcBef>
                <a:spcPts val="200"/>
              </a:spcBef>
            </a:pPr>
            <a:r>
              <a:rPr sz="1600">
                <a:solidFill>
                  <a:srgbClr val="37474F"/>
                </a:solidFill>
                <a:latin typeface="Meiryo"/>
              </a:rPr>
              <a:t>    ◦ 使用しているAIシステムのリスク分類を確認</a:t>
            </a:r>
          </a:p>
          <a:p>
            <a:pPr lvl="1">
              <a:spcBef>
                <a:spcPts val="200"/>
              </a:spcBef>
            </a:pPr>
            <a:r>
              <a:rPr sz="1600">
                <a:solidFill>
                  <a:srgbClr val="37474F"/>
                </a:solidFill>
                <a:latin typeface="Meiryo"/>
              </a:rPr>
              <a:t>    ◦ 高リスク用途では文書化・監査・人間監督の体制整備</a:t>
            </a:r>
          </a:p>
          <a:p>
            <a:pPr lvl="1">
              <a:spcBef>
                <a:spcPts val="200"/>
              </a:spcBef>
            </a:pPr>
            <a:r>
              <a:rPr sz="1600">
                <a:solidFill>
                  <a:srgbClr val="37474F"/>
                </a:solidFill>
                <a:latin typeface="Meiryo"/>
              </a:rPr>
              <a:t>    ◦ EU市場向けサービスはEU AI Act対応が必須</a:t>
            </a:r>
          </a:p>
          <a:p>
            <a:pPr lvl="1">
              <a:spcBef>
                <a:spcPts val="200"/>
              </a:spcBef>
            </a:pPr>
            <a:r>
              <a:rPr sz="1600">
                <a:solidFill>
                  <a:srgbClr val="37474F"/>
                </a:solidFill>
                <a:latin typeface="Meiryo"/>
              </a:rPr>
              <a:t>    ◦ 国内ガイドラインに沿ったAIポリシーの策定・公表</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828800" cy="2743200"/>
          </a:xfrm>
          <a:prstGeom prst="rect">
            <a:avLst/>
          </a:prstGeom>
          <a:noFill/>
        </p:spPr>
        <p:txBody>
          <a:bodyPr wrap="square">
            <a:spAutoFit/>
          </a:bodyPr>
          <a:lstStyle/>
          <a:p>
            <a:pPr algn="ctr"/>
            <a:r>
              <a:rPr sz="12000" b="1">
                <a:solidFill>
                  <a:srgbClr val="2A35A0"/>
                </a:solidFill>
                <a:latin typeface="Meiryo"/>
              </a:rPr>
              <a:t>H</a:t>
            </a:r>
          </a:p>
        </p:txBody>
      </p:sp>
      <p:sp>
        <p:nvSpPr>
          <p:cNvPr id="5" name="Rectangle 4"/>
          <p:cNvSpPr/>
          <p:nvPr/>
        </p:nvSpPr>
        <p:spPr>
          <a:xfrm>
            <a:off x="2926080" y="1645920"/>
            <a:ext cx="73152" cy="320040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1828800"/>
            <a:ext cx="8229600" cy="548640"/>
          </a:xfrm>
          <a:prstGeom prst="rect">
            <a:avLst/>
          </a:prstGeom>
          <a:noFill/>
        </p:spPr>
        <p:txBody>
          <a:bodyPr wrap="square">
            <a:spAutoFit/>
          </a:bodyPr>
          <a:lstStyle/>
          <a:p>
            <a:pPr algn="l"/>
            <a:r>
              <a:rPr sz="1800" b="0">
                <a:solidFill>
                  <a:srgbClr val="F57F17"/>
                </a:solidFill>
                <a:latin typeface="Meiryo"/>
              </a:rPr>
              <a:t>セクション H</a:t>
            </a:r>
          </a:p>
        </p:txBody>
      </p:sp>
      <p:sp>
        <p:nvSpPr>
          <p:cNvPr id="7" name="TextBox 6"/>
          <p:cNvSpPr txBox="1"/>
          <p:nvPr/>
        </p:nvSpPr>
        <p:spPr>
          <a:xfrm>
            <a:off x="3200400" y="2377440"/>
            <a:ext cx="8229600" cy="1371600"/>
          </a:xfrm>
          <a:prstGeom prst="rect">
            <a:avLst/>
          </a:prstGeom>
          <a:noFill/>
        </p:spPr>
        <p:txBody>
          <a:bodyPr wrap="square">
            <a:spAutoFit/>
          </a:bodyPr>
          <a:lstStyle/>
          <a:p>
            <a:pPr algn="l"/>
            <a:r>
              <a:rPr sz="3200" b="1">
                <a:solidFill>
                  <a:srgbClr val="FFFFFF"/>
                </a:solidFill>
                <a:latin typeface="Meiryo"/>
              </a:rPr>
              <a:t>導入・運用・継続改善</a:t>
            </a:r>
          </a:p>
        </p:txBody>
      </p:sp>
      <p:sp>
        <p:nvSpPr>
          <p:cNvPr id="8" name="TextBox 7"/>
          <p:cNvSpPr txBox="1"/>
          <p:nvPr/>
        </p:nvSpPr>
        <p:spPr>
          <a:xfrm>
            <a:off x="3200400" y="3840480"/>
            <a:ext cx="8229600" cy="914400"/>
          </a:xfrm>
          <a:prstGeom prst="rect">
            <a:avLst/>
          </a:prstGeom>
          <a:noFill/>
        </p:spPr>
        <p:txBody>
          <a:bodyPr wrap="square">
            <a:spAutoFit/>
          </a:bodyPr>
          <a:lstStyle/>
          <a:p>
            <a:pPr algn="l"/>
            <a:r>
              <a:rPr sz="1800" b="0">
                <a:solidFill>
                  <a:srgbClr val="B0BEC5"/>
                </a:solidFill>
                <a:latin typeface="Meiryo"/>
              </a:rPr>
              <a:t>パイロット・ステークホルダー・KPIモニタリング・メンテナンス</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H</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H-1：パイロット導入の設計</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パイロット導入とは</a:t>
            </a:r>
          </a:p>
          <a:p>
            <a:pPr lvl="1">
              <a:spcBef>
                <a:spcPts val="200"/>
              </a:spcBef>
            </a:pPr>
            <a:r>
              <a:rPr sz="1600">
                <a:solidFill>
                  <a:srgbClr val="37474F"/>
                </a:solidFill>
                <a:latin typeface="Meiryo"/>
              </a:rPr>
              <a:t>    ◦ 本格展開の前に限定範囲でAIシステムを実際の業務環境でテスト導入する手法</a:t>
            </a:r>
          </a:p>
          <a:p>
            <a:pPr lvl="1">
              <a:spcBef>
                <a:spcPts val="200"/>
              </a:spcBef>
            </a:pPr>
            <a:r>
              <a:rPr sz="1600">
                <a:solidFill>
                  <a:srgbClr val="37474F"/>
                </a:solidFill>
                <a:latin typeface="Meiryo"/>
              </a:rPr>
              <a:t>    ◦ リスクを限定しながら実用性・ROIを検証し、改善してから拡大展開</a:t>
            </a:r>
          </a:p>
          <a:p>
            <a:pPr>
              <a:spcBef>
                <a:spcPts val="600"/>
              </a:spcBef>
            </a:pPr>
            <a:r>
              <a:rPr sz="1900" b="1">
                <a:solidFill>
                  <a:srgbClr val="1A237E"/>
                </a:solidFill>
                <a:latin typeface="Meiryo"/>
              </a:rPr>
              <a:t>▶ パイロット設計の原則</a:t>
            </a:r>
          </a:p>
          <a:p>
            <a:pPr lvl="1">
              <a:spcBef>
                <a:spcPts val="200"/>
              </a:spcBef>
            </a:pPr>
            <a:r>
              <a:rPr sz="1600">
                <a:solidFill>
                  <a:srgbClr val="37474F"/>
                </a:solidFill>
                <a:latin typeface="Meiryo"/>
              </a:rPr>
              <a:t>    ◦ スコープ限定：特定部門・チーム・地域・ユースケースに絞る</a:t>
            </a:r>
          </a:p>
          <a:p>
            <a:pPr lvl="1">
              <a:spcBef>
                <a:spcPts val="200"/>
              </a:spcBef>
            </a:pPr>
            <a:r>
              <a:rPr sz="1600">
                <a:solidFill>
                  <a:srgbClr val="37474F"/>
                </a:solidFill>
                <a:latin typeface="Meiryo"/>
              </a:rPr>
              <a:t>    ◦ 代表性確保：本番環境の典型的なケース・ユーザーを含める</a:t>
            </a:r>
          </a:p>
          <a:p>
            <a:pPr lvl="1">
              <a:spcBef>
                <a:spcPts val="200"/>
              </a:spcBef>
            </a:pPr>
            <a:r>
              <a:rPr sz="1600">
                <a:solidFill>
                  <a:srgbClr val="37474F"/>
                </a:solidFill>
                <a:latin typeface="Meiryo"/>
              </a:rPr>
              <a:t>    ◦ 期間設定：4〜12週間（長すぎず短すぎず）</a:t>
            </a:r>
          </a:p>
          <a:p>
            <a:pPr lvl="1">
              <a:spcBef>
                <a:spcPts val="200"/>
              </a:spcBef>
            </a:pPr>
            <a:r>
              <a:rPr sz="1600">
                <a:solidFill>
                  <a:srgbClr val="37474F"/>
                </a:solidFill>
                <a:latin typeface="Meiryo"/>
              </a:rPr>
              <a:t>    ◦ 測定計画：KPIベースラインと測定方法を事前設定</a:t>
            </a:r>
          </a:p>
          <a:p>
            <a:pPr lvl="1">
              <a:spcBef>
                <a:spcPts val="200"/>
              </a:spcBef>
            </a:pPr>
            <a:r>
              <a:rPr sz="1600">
                <a:solidFill>
                  <a:srgbClr val="37474F"/>
                </a:solidFill>
                <a:latin typeface="Meiryo"/>
              </a:rPr>
              <a:t>    ◦ フィードバック機構：ユーザーからの改善意見収集の仕組み</a:t>
            </a:r>
          </a:p>
          <a:p>
            <a:pPr>
              <a:spcBef>
                <a:spcPts val="600"/>
              </a:spcBef>
            </a:pPr>
            <a:r>
              <a:rPr sz="1900" b="1">
                <a:solidFill>
                  <a:srgbClr val="1A237E"/>
                </a:solidFill>
                <a:latin typeface="Meiryo"/>
              </a:rPr>
              <a:t>▶ パイロット成功の判断基準（Go/No-Go）</a:t>
            </a:r>
          </a:p>
          <a:p>
            <a:pPr lvl="1">
              <a:spcBef>
                <a:spcPts val="200"/>
              </a:spcBef>
            </a:pPr>
            <a:r>
              <a:rPr sz="1600">
                <a:solidFill>
                  <a:srgbClr val="37474F"/>
                </a:solidFill>
                <a:latin typeface="Meiryo"/>
              </a:rPr>
              <a:t>    ◦ 精度・品質指標が閾値を超えているか</a:t>
            </a:r>
          </a:p>
          <a:p>
            <a:pPr lvl="1">
              <a:spcBef>
                <a:spcPts val="200"/>
              </a:spcBef>
            </a:pPr>
            <a:r>
              <a:rPr sz="1600">
                <a:solidFill>
                  <a:srgbClr val="37474F"/>
                </a:solidFill>
                <a:latin typeface="Meiryo"/>
              </a:rPr>
              <a:t>    ◦ ユーザー受容性（利用率・満足度）が許容範囲か</a:t>
            </a:r>
          </a:p>
          <a:p>
            <a:pPr lvl="1">
              <a:spcBef>
                <a:spcPts val="200"/>
              </a:spcBef>
            </a:pPr>
            <a:r>
              <a:rPr sz="1600">
                <a:solidFill>
                  <a:srgbClr val="37474F"/>
                </a:solidFill>
                <a:latin typeface="Meiryo"/>
              </a:rPr>
              <a:t>    ◦ ROI見込みが投資を正当化できるか</a:t>
            </a:r>
          </a:p>
          <a:p>
            <a:pPr lvl="1">
              <a:spcBef>
                <a:spcPts val="200"/>
              </a:spcBef>
            </a:pPr>
            <a:r>
              <a:rPr sz="1600">
                <a:solidFill>
                  <a:srgbClr val="37474F"/>
                </a:solidFill>
                <a:latin typeface="Meiryo"/>
              </a:rPr>
              <a:t>    ◦ セキュリティ・コンプライアンス問題が発生していないか</a:t>
            </a:r>
          </a:p>
          <a:p>
            <a:pPr lvl="1">
              <a:spcBef>
                <a:spcPts val="200"/>
              </a:spcBef>
            </a:pPr>
            <a:r>
              <a:rPr sz="1600">
                <a:solidFill>
                  <a:srgbClr val="37474F"/>
                </a:solidFill>
                <a:latin typeface="Meiryo"/>
              </a:rPr>
              <a:t>    ◦ 運用・保守体制が確立できているか</a:t>
            </a:r>
          </a:p>
          <a:p>
            <a:pPr>
              <a:spcBef>
                <a:spcPts val="600"/>
              </a:spcBef>
            </a:pPr>
            <a:r>
              <a:rPr sz="1900" b="1">
                <a:solidFill>
                  <a:srgbClr val="1A237E"/>
                </a:solidFill>
                <a:latin typeface="Meiryo"/>
              </a:rPr>
              <a:t>▶ パイロットから本番展開への移行</a:t>
            </a:r>
          </a:p>
          <a:p>
            <a:pPr lvl="1">
              <a:spcBef>
                <a:spcPts val="200"/>
              </a:spcBef>
            </a:pPr>
            <a:r>
              <a:rPr sz="1600">
                <a:solidFill>
                  <a:srgbClr val="37474F"/>
                </a:solidFill>
                <a:latin typeface="Meiryo"/>
              </a:rPr>
              <a:t>    ◦ パイロット結果の文書化・共有（成功・失敗両方のナレッジ）</a:t>
            </a:r>
          </a:p>
          <a:p>
            <a:pPr lvl="1">
              <a:spcBef>
                <a:spcPts val="200"/>
              </a:spcBef>
            </a:pPr>
            <a:r>
              <a:rPr sz="1600">
                <a:solidFill>
                  <a:srgbClr val="37474F"/>
                </a:solidFill>
                <a:latin typeface="Meiryo"/>
              </a:rPr>
              <a:t>    ◦ スケールアップ計画の策定（展開範囲・タイムライン・予算）</a:t>
            </a:r>
          </a:p>
          <a:p>
            <a:pPr lvl="1">
              <a:spcBef>
                <a:spcPts val="200"/>
              </a:spcBef>
            </a:pPr>
            <a:r>
              <a:rPr sz="1600">
                <a:solidFill>
                  <a:srgbClr val="37474F"/>
                </a:solidFill>
                <a:latin typeface="Meiryo"/>
              </a:rPr>
              <a:t>    ◦ 本番インフラへの移行・負荷テスト</a:t>
            </a:r>
          </a:p>
          <a:p>
            <a:pPr lvl="1">
              <a:spcBef>
                <a:spcPts val="200"/>
              </a:spcBef>
            </a:pPr>
            <a:r>
              <a:rPr sz="1600">
                <a:solidFill>
                  <a:srgbClr val="37474F"/>
                </a:solidFill>
                <a:latin typeface="Meiryo"/>
              </a:rPr>
              <a:t>    ◦ ロールアウトコミュニケーション計画の実行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H</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H-2：ステークホルダーマネジメント</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ステークホルダーマネジメントとは</a:t>
            </a:r>
          </a:p>
          <a:p>
            <a:pPr lvl="1">
              <a:spcBef>
                <a:spcPts val="200"/>
              </a:spcBef>
            </a:pPr>
            <a:r>
              <a:rPr sz="1600">
                <a:solidFill>
                  <a:srgbClr val="37474F"/>
                </a:solidFill>
                <a:latin typeface="Meiryo"/>
              </a:rPr>
              <a:t>    ◦ AI導入プロジェクトに関わる・影響を受ける全ての関係者を特定し、効果的に関与・管理する活動</a:t>
            </a:r>
          </a:p>
          <a:p>
            <a:pPr>
              <a:spcBef>
                <a:spcPts val="600"/>
              </a:spcBef>
            </a:pPr>
            <a:r>
              <a:rPr sz="1900" b="1">
                <a:solidFill>
                  <a:srgbClr val="1A237E"/>
                </a:solidFill>
                <a:latin typeface="Meiryo"/>
              </a:rPr>
              <a:t>▶ 主要ステークホルダーの特定と分類</a:t>
            </a:r>
          </a:p>
          <a:p>
            <a:pPr lvl="1">
              <a:spcBef>
                <a:spcPts val="200"/>
              </a:spcBef>
            </a:pPr>
            <a:r>
              <a:rPr sz="1600">
                <a:solidFill>
                  <a:srgbClr val="37474F"/>
                </a:solidFill>
                <a:latin typeface="Meiryo"/>
              </a:rPr>
              <a:t>    ◦ 経営層（スポンサー）：戦略的支援・予算承認・変革のメッセージ発信</a:t>
            </a:r>
          </a:p>
          <a:p>
            <a:pPr lvl="1">
              <a:spcBef>
                <a:spcPts val="200"/>
              </a:spcBef>
            </a:pPr>
            <a:r>
              <a:rPr sz="1600">
                <a:solidFill>
                  <a:srgbClr val="37474F"/>
                </a:solidFill>
                <a:latin typeface="Meiryo"/>
              </a:rPr>
              <a:t>    ◦ 業務部門長（推進者）：業務要件定義・現場推進・変化管理</a:t>
            </a:r>
          </a:p>
          <a:p>
            <a:pPr lvl="1">
              <a:spcBef>
                <a:spcPts val="200"/>
              </a:spcBef>
            </a:pPr>
            <a:r>
              <a:rPr sz="1600">
                <a:solidFill>
                  <a:srgbClr val="37474F"/>
                </a:solidFill>
                <a:latin typeface="Meiryo"/>
              </a:rPr>
              <a:t>    ◦ IT・システム部門：技術実装・セキュリティ・インフラ管理</a:t>
            </a:r>
          </a:p>
          <a:p>
            <a:pPr lvl="1">
              <a:spcBef>
                <a:spcPts val="200"/>
              </a:spcBef>
            </a:pPr>
            <a:r>
              <a:rPr sz="1600">
                <a:solidFill>
                  <a:srgbClr val="37474F"/>
                </a:solidFill>
                <a:latin typeface="Meiryo"/>
              </a:rPr>
              <a:t>    ◦ 現場ユーザー：実際の利用者・フィードバック提供者</a:t>
            </a:r>
          </a:p>
          <a:p>
            <a:pPr lvl="1">
              <a:spcBef>
                <a:spcPts val="200"/>
              </a:spcBef>
            </a:pPr>
            <a:r>
              <a:rPr sz="1600">
                <a:solidFill>
                  <a:srgbClr val="37474F"/>
                </a:solidFill>
                <a:latin typeface="Meiryo"/>
              </a:rPr>
              <a:t>    ◦ 法務・コンプライアンス：規制対応・リスク審査</a:t>
            </a:r>
          </a:p>
          <a:p>
            <a:pPr lvl="1">
              <a:spcBef>
                <a:spcPts val="200"/>
              </a:spcBef>
            </a:pPr>
            <a:r>
              <a:rPr sz="1600">
                <a:solidFill>
                  <a:srgbClr val="37474F"/>
                </a:solidFill>
                <a:latin typeface="Meiryo"/>
              </a:rPr>
              <a:t>    ◦ 外部ベンダー・パートナー：技術サポート・ライセンス管理</a:t>
            </a:r>
          </a:p>
          <a:p>
            <a:pPr>
              <a:spcBef>
                <a:spcPts val="600"/>
              </a:spcBef>
            </a:pPr>
            <a:r>
              <a:rPr sz="1900" b="1">
                <a:solidFill>
                  <a:srgbClr val="1A237E"/>
                </a:solidFill>
                <a:latin typeface="Meiryo"/>
              </a:rPr>
              <a:t>▶ ステークホルダー関与戦略（影響力×関心度マトリクス）</a:t>
            </a:r>
          </a:p>
          <a:p>
            <a:pPr lvl="1">
              <a:spcBef>
                <a:spcPts val="200"/>
              </a:spcBef>
            </a:pPr>
            <a:r>
              <a:rPr sz="1600">
                <a:solidFill>
                  <a:srgbClr val="37474F"/>
                </a:solidFill>
                <a:latin typeface="Meiryo"/>
              </a:rPr>
              <a:t>    ◦ 高影響力×高関心度 → 密接な協力・定期的な関与（Key Stakeholders）</a:t>
            </a:r>
          </a:p>
          <a:p>
            <a:pPr lvl="1">
              <a:spcBef>
                <a:spcPts val="200"/>
              </a:spcBef>
            </a:pPr>
            <a:r>
              <a:rPr sz="1600">
                <a:solidFill>
                  <a:srgbClr val="37474F"/>
                </a:solidFill>
                <a:latin typeface="Meiryo"/>
              </a:rPr>
              <a:t>    ◦ 高影響力×低関心度 → 満足状態の維持・重要情報の提供（Keep Satisfied）</a:t>
            </a:r>
          </a:p>
          <a:p>
            <a:pPr lvl="1">
              <a:spcBef>
                <a:spcPts val="200"/>
              </a:spcBef>
            </a:pPr>
            <a:r>
              <a:rPr sz="1600">
                <a:solidFill>
                  <a:srgbClr val="37474F"/>
                </a:solidFill>
                <a:latin typeface="Meiryo"/>
              </a:rPr>
              <a:t>    ◦ 低影響力×高関心度 → 十分な情報提供・意見収集（Keep Informed）</a:t>
            </a:r>
          </a:p>
          <a:p>
            <a:pPr lvl="1">
              <a:spcBef>
                <a:spcPts val="200"/>
              </a:spcBef>
            </a:pPr>
            <a:r>
              <a:rPr sz="1600">
                <a:solidFill>
                  <a:srgbClr val="37474F"/>
                </a:solidFill>
                <a:latin typeface="Meiryo"/>
              </a:rPr>
              <a:t>    ◦ 低影響力×低関心度 → 最低限の情報共有（Monitor）</a:t>
            </a:r>
          </a:p>
          <a:p>
            <a:pPr>
              <a:spcBef>
                <a:spcPts val="600"/>
              </a:spcBef>
            </a:pPr>
            <a:r>
              <a:rPr sz="1900" b="1">
                <a:solidFill>
                  <a:srgbClr val="1A237E"/>
                </a:solidFill>
                <a:latin typeface="Meiryo"/>
              </a:rPr>
              <a:t>▶ コミュニケーション計画</a:t>
            </a:r>
          </a:p>
          <a:p>
            <a:pPr lvl="1">
              <a:spcBef>
                <a:spcPts val="200"/>
              </a:spcBef>
            </a:pPr>
            <a:r>
              <a:rPr sz="1600">
                <a:solidFill>
                  <a:srgbClr val="37474F"/>
                </a:solidFill>
                <a:latin typeface="Meiryo"/>
              </a:rPr>
              <a:t>    ◦ 誰に・何を・いつ・どの媒体で伝えるかを計画化</a:t>
            </a:r>
          </a:p>
          <a:p>
            <a:pPr lvl="1">
              <a:spcBef>
                <a:spcPts val="200"/>
              </a:spcBef>
            </a:pPr>
            <a:r>
              <a:rPr sz="1600">
                <a:solidFill>
                  <a:srgbClr val="37474F"/>
                </a:solidFill>
                <a:latin typeface="Meiryo"/>
              </a:rPr>
              <a:t>    ◦ 定期報告（週次進捗・月次KPIレポート）の仕組み化</a:t>
            </a:r>
          </a:p>
          <a:p>
            <a:pPr lvl="1">
              <a:spcBef>
                <a:spcPts val="200"/>
              </a:spcBef>
            </a:pPr>
            <a:r>
              <a:rPr sz="1600">
                <a:solidFill>
                  <a:srgbClr val="37474F"/>
                </a:solidFill>
                <a:latin typeface="Meiryo"/>
              </a:rPr>
              <a:t>    ◦ 課題・リスクのエスカレーションルートの明確化</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H</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H-3：変化管理（チェンジマネジメント）</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AI導入における変化管理の3要素</a:t>
            </a:r>
          </a:p>
          <a:p>
            <a:pPr lvl="1">
              <a:spcBef>
                <a:spcPts val="200"/>
              </a:spcBef>
            </a:pPr>
            <a:r>
              <a:rPr sz="1600">
                <a:solidFill>
                  <a:srgbClr val="37474F"/>
                </a:solidFill>
                <a:latin typeface="Meiryo"/>
              </a:rPr>
              <a:t>    ◦ ①意識変革：「AIとの協働」という新しい働き方への理解促進</a:t>
            </a:r>
          </a:p>
          <a:p>
            <a:pPr lvl="1">
              <a:spcBef>
                <a:spcPts val="200"/>
              </a:spcBef>
            </a:pPr>
            <a:r>
              <a:rPr sz="1600">
                <a:solidFill>
                  <a:srgbClr val="37474F"/>
                </a:solidFill>
                <a:latin typeface="Meiryo"/>
              </a:rPr>
              <a:t>    ◦ ②スキル変革：AIツールを活用するための能力開発・トレーニング</a:t>
            </a:r>
          </a:p>
          <a:p>
            <a:pPr lvl="1">
              <a:spcBef>
                <a:spcPts val="200"/>
              </a:spcBef>
            </a:pPr>
            <a:r>
              <a:rPr sz="1600">
                <a:solidFill>
                  <a:srgbClr val="37474F"/>
                </a:solidFill>
                <a:latin typeface="Meiryo"/>
              </a:rPr>
              <a:t>    ◦ ③行動変革：新しいプロセス・ツールを日常業務で実際に使うようになる</a:t>
            </a:r>
          </a:p>
          <a:p>
            <a:pPr>
              <a:spcBef>
                <a:spcPts val="600"/>
              </a:spcBef>
            </a:pPr>
            <a:r>
              <a:rPr sz="1900" b="1">
                <a:solidFill>
                  <a:srgbClr val="1A237E"/>
                </a:solidFill>
                <a:latin typeface="Meiryo"/>
              </a:rPr>
              <a:t>▶ 抵抗管理：なぜ人はAI導入に抵抗するか</a:t>
            </a:r>
          </a:p>
          <a:p>
            <a:pPr lvl="1">
              <a:spcBef>
                <a:spcPts val="200"/>
              </a:spcBef>
            </a:pPr>
            <a:r>
              <a:rPr sz="1600">
                <a:solidFill>
                  <a:srgbClr val="37474F"/>
                </a:solidFill>
                <a:latin typeface="Meiryo"/>
              </a:rPr>
              <a:t>    ◦ 雇用への不安：「自分の仕事がなくなる」という恐怖</a:t>
            </a:r>
          </a:p>
          <a:p>
            <a:pPr lvl="1">
              <a:spcBef>
                <a:spcPts val="200"/>
              </a:spcBef>
            </a:pPr>
            <a:r>
              <a:rPr sz="1600">
                <a:solidFill>
                  <a:srgbClr val="37474F"/>
                </a:solidFill>
                <a:latin typeface="Meiryo"/>
              </a:rPr>
              <a:t>    ◦ 能力不安：「使いこなせるか」というスキルへの不安</a:t>
            </a:r>
          </a:p>
          <a:p>
            <a:pPr lvl="1">
              <a:spcBef>
                <a:spcPts val="200"/>
              </a:spcBef>
            </a:pPr>
            <a:r>
              <a:rPr sz="1600">
                <a:solidFill>
                  <a:srgbClr val="37474F"/>
                </a:solidFill>
                <a:latin typeface="Meiryo"/>
              </a:rPr>
              <a:t>    ◦ プライバシー懸念：「自分の業務データが監視される」という警戒</a:t>
            </a:r>
          </a:p>
          <a:p>
            <a:pPr lvl="1">
              <a:spcBef>
                <a:spcPts val="200"/>
              </a:spcBef>
            </a:pPr>
            <a:r>
              <a:rPr sz="1600">
                <a:solidFill>
                  <a:srgbClr val="37474F"/>
                </a:solidFill>
                <a:latin typeface="Meiryo"/>
              </a:rPr>
              <a:t>    ◦ 慣性：「今の方法で十分うまくいっている」という惰性</a:t>
            </a:r>
          </a:p>
          <a:p>
            <a:pPr>
              <a:spcBef>
                <a:spcPts val="600"/>
              </a:spcBef>
            </a:pPr>
            <a:r>
              <a:rPr sz="1900" b="1">
                <a:solidFill>
                  <a:srgbClr val="1A237E"/>
                </a:solidFill>
                <a:latin typeface="Meiryo"/>
              </a:rPr>
              <a:t>▶ 変化管理の実践策</a:t>
            </a:r>
          </a:p>
          <a:p>
            <a:pPr lvl="1">
              <a:spcBef>
                <a:spcPts val="200"/>
              </a:spcBef>
            </a:pPr>
            <a:r>
              <a:rPr sz="1600">
                <a:solidFill>
                  <a:srgbClr val="37474F"/>
                </a:solidFill>
                <a:latin typeface="Meiryo"/>
              </a:rPr>
              <a:t>    ◦ 早期巻き込み：設計段階から現場ユーザーを参加させる</a:t>
            </a:r>
          </a:p>
          <a:p>
            <a:pPr lvl="1">
              <a:spcBef>
                <a:spcPts val="200"/>
              </a:spcBef>
            </a:pPr>
            <a:r>
              <a:rPr sz="1600">
                <a:solidFill>
                  <a:srgbClr val="37474F"/>
                </a:solidFill>
                <a:latin typeface="Meiryo"/>
              </a:rPr>
              <a:t>    ◦ クイックウィン：小さな成功体験を作り、メリットを体感させる</a:t>
            </a:r>
          </a:p>
          <a:p>
            <a:pPr lvl="1">
              <a:spcBef>
                <a:spcPts val="200"/>
              </a:spcBef>
            </a:pPr>
            <a:r>
              <a:rPr sz="1600">
                <a:solidFill>
                  <a:srgbClr val="37474F"/>
                </a:solidFill>
                <a:latin typeface="Meiryo"/>
              </a:rPr>
              <a:t>    ◦ ピアチャンピオン：同じ現場の「AI推進者」が同僚を支援</a:t>
            </a:r>
          </a:p>
          <a:p>
            <a:pPr lvl="1">
              <a:spcBef>
                <a:spcPts val="200"/>
              </a:spcBef>
            </a:pPr>
            <a:r>
              <a:rPr sz="1600">
                <a:solidFill>
                  <a:srgbClr val="37474F"/>
                </a:solidFill>
                <a:latin typeface="Meiryo"/>
              </a:rPr>
              <a:t>    ◦ 継続トレーニング：実践的・繰り返しの学習機会提供</a:t>
            </a:r>
          </a:p>
          <a:p>
            <a:pPr lvl="1">
              <a:spcBef>
                <a:spcPts val="200"/>
              </a:spcBef>
            </a:pPr>
            <a:r>
              <a:rPr sz="1600">
                <a:solidFill>
                  <a:srgbClr val="37474F"/>
                </a:solidFill>
                <a:latin typeface="Meiryo"/>
              </a:rPr>
              <a:t>    ◦ 心理的安全性：失敗を許容し試行錯誤を奨励する文化</a:t>
            </a:r>
          </a:p>
          <a:p>
            <a:pPr>
              <a:spcBef>
                <a:spcPts val="600"/>
              </a:spcBef>
            </a:pPr>
            <a:r>
              <a:rPr sz="1900" b="1">
                <a:solidFill>
                  <a:srgbClr val="1A237E"/>
                </a:solidFill>
                <a:latin typeface="Meiryo"/>
              </a:rPr>
              <a:t>▶ 評価制度との連携</a:t>
            </a:r>
          </a:p>
          <a:p>
            <a:pPr lvl="1">
              <a:spcBef>
                <a:spcPts val="200"/>
              </a:spcBef>
            </a:pPr>
            <a:r>
              <a:rPr sz="1600">
                <a:solidFill>
                  <a:srgbClr val="37474F"/>
                </a:solidFill>
                <a:latin typeface="Meiryo"/>
              </a:rPr>
              <a:t>    ◦ AI活用を業績評価・昇格要件に組み込む</a:t>
            </a:r>
          </a:p>
          <a:p>
            <a:pPr lvl="1">
              <a:spcBef>
                <a:spcPts val="200"/>
              </a:spcBef>
            </a:pPr>
            <a:r>
              <a:rPr sz="1600">
                <a:solidFill>
                  <a:srgbClr val="37474F"/>
                </a:solidFill>
                <a:latin typeface="Meiryo"/>
              </a:rPr>
              <a:t>    ◦ AI推進への貢献を表彰・インセンティブとして認める</a:t>
            </a:r>
          </a:p>
          <a:p>
            <a:pPr lvl="1">
              <a:spcBef>
                <a:spcPts val="200"/>
              </a:spcBef>
            </a:pPr>
            <a:r>
              <a:rPr sz="1600">
                <a:solidFill>
                  <a:srgbClr val="37474F"/>
                </a:solidFill>
                <a:latin typeface="Meiryo"/>
              </a:rPr>
              <a:t>    ◦ デジタルスキルを採用・育成基準に追加</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H</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H-4：KPIモニタリングと改善サイクル</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継続的モニタリングの必要性</a:t>
            </a:r>
          </a:p>
          <a:p>
            <a:pPr lvl="1">
              <a:spcBef>
                <a:spcPts val="200"/>
              </a:spcBef>
            </a:pPr>
            <a:r>
              <a:rPr sz="1600">
                <a:solidFill>
                  <a:srgbClr val="37474F"/>
                </a:solidFill>
                <a:latin typeface="Meiryo"/>
              </a:rPr>
              <a:t>    ◦ AIシステムはデプロイ後も環境変化（データドリフト・業務変化）で性能が変化する</a:t>
            </a:r>
          </a:p>
          <a:p>
            <a:pPr lvl="1">
              <a:spcBef>
                <a:spcPts val="200"/>
              </a:spcBef>
            </a:pPr>
            <a:r>
              <a:rPr sz="1600">
                <a:solidFill>
                  <a:srgbClr val="37474F"/>
                </a:solidFill>
                <a:latin typeface="Meiryo"/>
              </a:rPr>
              <a:t>    ◦ 定期的な測定・評価・改善サイクルが持続的な価値創出に不可欠</a:t>
            </a:r>
          </a:p>
          <a:p>
            <a:pPr>
              <a:spcBef>
                <a:spcPts val="600"/>
              </a:spcBef>
            </a:pPr>
            <a:r>
              <a:rPr sz="1900" b="1">
                <a:solidFill>
                  <a:srgbClr val="1A237E"/>
                </a:solidFill>
                <a:latin typeface="Meiryo"/>
              </a:rPr>
              <a:t>▶ モニタリングすべき指標</a:t>
            </a:r>
          </a:p>
          <a:p>
            <a:pPr lvl="1">
              <a:spcBef>
                <a:spcPts val="200"/>
              </a:spcBef>
            </a:pPr>
            <a:r>
              <a:rPr sz="1600">
                <a:solidFill>
                  <a:srgbClr val="37474F"/>
                </a:solidFill>
                <a:latin typeface="Meiryo"/>
              </a:rPr>
              <a:t>    ◦ 技術指標：精度・F1スコア・応答時間・エラー率・API コスト</a:t>
            </a:r>
          </a:p>
          <a:p>
            <a:pPr lvl="1">
              <a:spcBef>
                <a:spcPts val="200"/>
              </a:spcBef>
            </a:pPr>
            <a:r>
              <a:rPr sz="1600">
                <a:solidFill>
                  <a:srgbClr val="37474F"/>
                </a:solidFill>
                <a:latin typeface="Meiryo"/>
              </a:rPr>
              <a:t>    ◦ 業務指標：業務処理時間・エラー件数・対応件数・コスト削減額</a:t>
            </a:r>
          </a:p>
          <a:p>
            <a:pPr lvl="1">
              <a:spcBef>
                <a:spcPts val="200"/>
              </a:spcBef>
            </a:pPr>
            <a:r>
              <a:rPr sz="1600">
                <a:solidFill>
                  <a:srgbClr val="37474F"/>
                </a:solidFill>
                <a:latin typeface="Meiryo"/>
              </a:rPr>
              <a:t>    ◦ ユーザー指標：利用率・ユーザー満足度（NPS）・フィードバック数</a:t>
            </a:r>
          </a:p>
          <a:p>
            <a:pPr lvl="1">
              <a:spcBef>
                <a:spcPts val="200"/>
              </a:spcBef>
            </a:pPr>
            <a:r>
              <a:rPr sz="1600">
                <a:solidFill>
                  <a:srgbClr val="37474F"/>
                </a:solidFill>
                <a:latin typeface="Meiryo"/>
              </a:rPr>
              <a:t>    ◦ リスク指標：ハルシネーション発生率・セキュリティインシデント・コンプライアンス違反</a:t>
            </a:r>
          </a:p>
          <a:p>
            <a:pPr>
              <a:spcBef>
                <a:spcPts val="600"/>
              </a:spcBef>
            </a:pPr>
            <a:r>
              <a:rPr sz="1900" b="1">
                <a:solidFill>
                  <a:srgbClr val="1A237E"/>
                </a:solidFill>
                <a:latin typeface="Meiryo"/>
              </a:rPr>
              <a:t>▶ データドリフトとモデル劣化</a:t>
            </a:r>
          </a:p>
          <a:p>
            <a:pPr lvl="1">
              <a:spcBef>
                <a:spcPts val="200"/>
              </a:spcBef>
            </a:pPr>
            <a:r>
              <a:rPr sz="1600">
                <a:solidFill>
                  <a:srgbClr val="37474F"/>
                </a:solidFill>
                <a:latin typeface="Meiryo"/>
              </a:rPr>
              <a:t>    ◦ データドリフト：入力データの分布が学習時と変化する現象</a:t>
            </a:r>
          </a:p>
          <a:p>
            <a:pPr lvl="1">
              <a:spcBef>
                <a:spcPts val="200"/>
              </a:spcBef>
            </a:pPr>
            <a:r>
              <a:rPr sz="1600">
                <a:solidFill>
                  <a:srgbClr val="37474F"/>
                </a:solidFill>
                <a:latin typeface="Meiryo"/>
              </a:rPr>
              <a:t>    ◦ コンセプトドリフト：業務ルール・市場環境の変化でモデルの前提が崩れる</a:t>
            </a:r>
          </a:p>
          <a:p>
            <a:pPr lvl="1">
              <a:spcBef>
                <a:spcPts val="200"/>
              </a:spcBef>
            </a:pPr>
            <a:r>
              <a:rPr sz="1600">
                <a:solidFill>
                  <a:srgbClr val="37474F"/>
                </a:solidFill>
                <a:latin typeface="Meiryo"/>
              </a:rPr>
              <a:t>    ◦ 検出方法：入力分布の統計的モニタリング・精度の定期評価</a:t>
            </a:r>
          </a:p>
          <a:p>
            <a:pPr lvl="1">
              <a:spcBef>
                <a:spcPts val="200"/>
              </a:spcBef>
            </a:pPr>
            <a:r>
              <a:rPr sz="1600">
                <a:solidFill>
                  <a:srgbClr val="37474F"/>
                </a:solidFill>
                <a:latin typeface="Meiryo"/>
              </a:rPr>
              <a:t>    ◦ 対応：RAGナレッジベースの定期更新・プロンプト改善・再学習</a:t>
            </a:r>
          </a:p>
          <a:p>
            <a:pPr>
              <a:spcBef>
                <a:spcPts val="600"/>
              </a:spcBef>
            </a:pPr>
            <a:r>
              <a:rPr sz="1900" b="1">
                <a:solidFill>
                  <a:srgbClr val="1A237E"/>
                </a:solidFill>
                <a:latin typeface="Meiryo"/>
              </a:rPr>
              <a:t>▶ 改善サイクル（PDCAサイクル）</a:t>
            </a:r>
          </a:p>
          <a:p>
            <a:pPr lvl="1">
              <a:spcBef>
                <a:spcPts val="200"/>
              </a:spcBef>
            </a:pPr>
            <a:r>
              <a:rPr sz="1600">
                <a:solidFill>
                  <a:srgbClr val="37474F"/>
                </a:solidFill>
                <a:latin typeface="Meiryo"/>
              </a:rPr>
              <a:t>    ◦ Plan：KPI目標設定・改善計画策定</a:t>
            </a:r>
          </a:p>
          <a:p>
            <a:pPr lvl="1">
              <a:spcBef>
                <a:spcPts val="200"/>
              </a:spcBef>
            </a:pPr>
            <a:r>
              <a:rPr sz="1600">
                <a:solidFill>
                  <a:srgbClr val="37474F"/>
                </a:solidFill>
                <a:latin typeface="Meiryo"/>
              </a:rPr>
              <a:t>    ◦ Do：改善施策の実施（プロンプト改善・データ更新・設定変更）</a:t>
            </a:r>
          </a:p>
          <a:p>
            <a:pPr lvl="1">
              <a:spcBef>
                <a:spcPts val="200"/>
              </a:spcBef>
            </a:pPr>
            <a:r>
              <a:rPr sz="1600">
                <a:solidFill>
                  <a:srgbClr val="37474F"/>
                </a:solidFill>
                <a:latin typeface="Meiryo"/>
              </a:rPr>
              <a:t>    ◦ Check：KPI計測・ユーザーフィードバック収集</a:t>
            </a:r>
          </a:p>
          <a:p>
            <a:pPr lvl="1">
              <a:spcBef>
                <a:spcPts val="200"/>
              </a:spcBef>
            </a:pPr>
            <a:r>
              <a:rPr sz="1600">
                <a:solidFill>
                  <a:srgbClr val="37474F"/>
                </a:solidFill>
                <a:latin typeface="Meiryo"/>
              </a:rPr>
              <a:t>    ◦ Act：評価に基づく次の改善計画へ</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
            <a:ext cx="411480" cy="82296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82880"/>
            <a:ext cx="411480" cy="731520"/>
          </a:xfrm>
          <a:prstGeom prst="rect">
            <a:avLst/>
          </a:prstGeom>
          <a:noFill/>
        </p:spPr>
        <p:txBody>
          <a:bodyPr wrap="square">
            <a:spAutoFit/>
          </a:bodyPr>
          <a:lstStyle/>
          <a:p>
            <a:pPr algn="ctr"/>
            <a:r>
              <a:rPr sz="1800" b="1">
                <a:solidFill>
                  <a:srgbClr val="1A237E"/>
                </a:solidFill>
                <a:latin typeface="Meiryo"/>
              </a:rPr>
              <a:t>H</a:t>
            </a:r>
          </a:p>
        </p:txBody>
      </p:sp>
      <p:sp>
        <p:nvSpPr>
          <p:cNvPr id="6" name="TextBox 5"/>
          <p:cNvSpPr txBox="1"/>
          <p:nvPr/>
        </p:nvSpPr>
        <p:spPr>
          <a:xfrm>
            <a:off x="548640" y="182880"/>
            <a:ext cx="11247120" cy="822960"/>
          </a:xfrm>
          <a:prstGeom prst="rect">
            <a:avLst/>
          </a:prstGeom>
          <a:noFill/>
        </p:spPr>
        <p:txBody>
          <a:bodyPr wrap="square">
            <a:spAutoFit/>
          </a:bodyPr>
          <a:lstStyle/>
          <a:p>
            <a:pPr algn="l"/>
            <a:r>
              <a:rPr sz="2600" b="1">
                <a:solidFill>
                  <a:srgbClr val="FFFFFF"/>
                </a:solidFill>
                <a:latin typeface="Meiryo"/>
              </a:rPr>
              <a:t>H-5：AIエージェントのメンテナンス</a:t>
            </a:r>
          </a:p>
        </p:txBody>
      </p:sp>
      <p:sp>
        <p:nvSpPr>
          <p:cNvPr id="7" name="TextBox 6"/>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AIエージェントのメンテナンスの特徴</a:t>
            </a:r>
          </a:p>
          <a:p>
            <a:pPr lvl="1">
              <a:spcBef>
                <a:spcPts val="200"/>
              </a:spcBef>
            </a:pPr>
            <a:r>
              <a:rPr sz="1600">
                <a:solidFill>
                  <a:srgbClr val="37474F"/>
                </a:solidFill>
                <a:latin typeface="Meiryo"/>
              </a:rPr>
              <a:t>    ◦ 従来のソフトウェアと異なり、AI特有のメンテナンス要素が存在する</a:t>
            </a:r>
          </a:p>
          <a:p>
            <a:pPr lvl="1">
              <a:spcBef>
                <a:spcPts val="200"/>
              </a:spcBef>
            </a:pPr>
            <a:r>
              <a:rPr sz="1600">
                <a:solidFill>
                  <a:srgbClr val="37474F"/>
                </a:solidFill>
                <a:latin typeface="Meiryo"/>
              </a:rPr>
              <a:t>    ◦ 継続的な改善が競争優位性の源泉</a:t>
            </a:r>
          </a:p>
          <a:p>
            <a:pPr>
              <a:spcBef>
                <a:spcPts val="600"/>
              </a:spcBef>
            </a:pPr>
            <a:r>
              <a:rPr sz="1900" b="1">
                <a:solidFill>
                  <a:srgbClr val="1A237E"/>
                </a:solidFill>
                <a:latin typeface="Meiryo"/>
              </a:rPr>
              <a:t>▶ プロンプトのメンテナンス</a:t>
            </a:r>
          </a:p>
          <a:p>
            <a:pPr lvl="1">
              <a:spcBef>
                <a:spcPts val="200"/>
              </a:spcBef>
            </a:pPr>
            <a:r>
              <a:rPr sz="1600">
                <a:solidFill>
                  <a:srgbClr val="37474F"/>
                </a:solidFill>
                <a:latin typeface="Meiryo"/>
              </a:rPr>
              <a:t>    ◦ 業務変化・新要件に合わせたプロンプトの更新</a:t>
            </a:r>
          </a:p>
          <a:p>
            <a:pPr lvl="1">
              <a:spcBef>
                <a:spcPts val="200"/>
              </a:spcBef>
            </a:pPr>
            <a:r>
              <a:rPr sz="1600">
                <a:solidFill>
                  <a:srgbClr val="37474F"/>
                </a:solidFill>
                <a:latin typeface="Meiryo"/>
              </a:rPr>
              <a:t>    ◦ ユーザーフィードバックに基づく改善・最適化</a:t>
            </a:r>
          </a:p>
          <a:p>
            <a:pPr lvl="1">
              <a:spcBef>
                <a:spcPts val="200"/>
              </a:spcBef>
            </a:pPr>
            <a:r>
              <a:rPr sz="1600">
                <a:solidFill>
                  <a:srgbClr val="37474F"/>
                </a:solidFill>
                <a:latin typeface="Meiryo"/>
              </a:rPr>
              <a:t>    ◦ プロンプトのバージョン管理（変更履歴・ロールバック可能に）</a:t>
            </a:r>
          </a:p>
          <a:p>
            <a:pPr lvl="1">
              <a:spcBef>
                <a:spcPts val="200"/>
              </a:spcBef>
            </a:pPr>
            <a:r>
              <a:rPr sz="1600">
                <a:solidFill>
                  <a:srgbClr val="37474F"/>
                </a:solidFill>
                <a:latin typeface="Meiryo"/>
              </a:rPr>
              <a:t>    ◦ A/Bテスト：複数バージョンの比較・最良版の選定</a:t>
            </a:r>
          </a:p>
          <a:p>
            <a:pPr>
              <a:spcBef>
                <a:spcPts val="600"/>
              </a:spcBef>
            </a:pPr>
            <a:r>
              <a:rPr sz="1900" b="1">
                <a:solidFill>
                  <a:srgbClr val="1A237E"/>
                </a:solidFill>
                <a:latin typeface="Meiryo"/>
              </a:rPr>
              <a:t>▶ RAGナレッジベースのメンテナンス</a:t>
            </a:r>
          </a:p>
          <a:p>
            <a:pPr lvl="1">
              <a:spcBef>
                <a:spcPts val="200"/>
              </a:spcBef>
            </a:pPr>
            <a:r>
              <a:rPr sz="1600">
                <a:solidFill>
                  <a:srgbClr val="37474F"/>
                </a:solidFill>
                <a:latin typeface="Meiryo"/>
              </a:rPr>
              <a:t>    ◦ 定期的な文書の追加・更新・削除（鮮度管理）</a:t>
            </a:r>
          </a:p>
          <a:p>
            <a:pPr lvl="1">
              <a:spcBef>
                <a:spcPts val="200"/>
              </a:spcBef>
            </a:pPr>
            <a:r>
              <a:rPr sz="1600">
                <a:solidFill>
                  <a:srgbClr val="37474F"/>
                </a:solidFill>
                <a:latin typeface="Meiryo"/>
              </a:rPr>
              <a:t>    ◦ 不正確・古い情報の除去（データクリーニング）</a:t>
            </a:r>
          </a:p>
          <a:p>
            <a:pPr lvl="1">
              <a:spcBef>
                <a:spcPts val="200"/>
              </a:spcBef>
            </a:pPr>
            <a:r>
              <a:rPr sz="1600">
                <a:solidFill>
                  <a:srgbClr val="37474F"/>
                </a:solidFill>
                <a:latin typeface="Meiryo"/>
              </a:rPr>
              <a:t>    ◦ 新規業務ルール・製品情報の即時追加</a:t>
            </a:r>
          </a:p>
          <a:p>
            <a:pPr lvl="1">
              <a:spcBef>
                <a:spcPts val="200"/>
              </a:spcBef>
            </a:pPr>
            <a:r>
              <a:rPr sz="1600">
                <a:solidFill>
                  <a:srgbClr val="37474F"/>
                </a:solidFill>
                <a:latin typeface="Meiryo"/>
              </a:rPr>
              <a:t>    ◦ チャンクの再最適化・インデックスの再構築</a:t>
            </a:r>
          </a:p>
          <a:p>
            <a:pPr>
              <a:spcBef>
                <a:spcPts val="600"/>
              </a:spcBef>
            </a:pPr>
            <a:r>
              <a:rPr sz="1900" b="1">
                <a:solidFill>
                  <a:srgbClr val="1A237E"/>
                </a:solidFill>
                <a:latin typeface="Meiryo"/>
              </a:rPr>
              <a:t>▶ LLMモデルのアップデート対応</a:t>
            </a:r>
          </a:p>
          <a:p>
            <a:pPr lvl="1">
              <a:spcBef>
                <a:spcPts val="200"/>
              </a:spcBef>
            </a:pPr>
            <a:r>
              <a:rPr sz="1600">
                <a:solidFill>
                  <a:srgbClr val="37474F"/>
                </a:solidFill>
                <a:latin typeface="Meiryo"/>
              </a:rPr>
              <a:t>    ◦ ベースモデルのバージョンアップ時の動作検証</a:t>
            </a:r>
          </a:p>
          <a:p>
            <a:pPr lvl="1">
              <a:spcBef>
                <a:spcPts val="200"/>
              </a:spcBef>
            </a:pPr>
            <a:r>
              <a:rPr sz="1600">
                <a:solidFill>
                  <a:srgbClr val="37474F"/>
                </a:solidFill>
                <a:latin typeface="Meiryo"/>
              </a:rPr>
              <a:t>    ◦ APIの仕様変更への追従</a:t>
            </a:r>
          </a:p>
          <a:p>
            <a:pPr lvl="1">
              <a:spcBef>
                <a:spcPts val="200"/>
              </a:spcBef>
            </a:pPr>
            <a:r>
              <a:rPr sz="1600">
                <a:solidFill>
                  <a:srgbClr val="37474F"/>
                </a:solidFill>
                <a:latin typeface="Meiryo"/>
              </a:rPr>
              <a:t>    ◦ 新機能（マルチモーダル等）の活用検討</a:t>
            </a:r>
          </a:p>
          <a:p>
            <a:pPr>
              <a:spcBef>
                <a:spcPts val="600"/>
              </a:spcBef>
            </a:pPr>
            <a:r>
              <a:rPr sz="1900" b="1">
                <a:solidFill>
                  <a:srgbClr val="1A237E"/>
                </a:solidFill>
                <a:latin typeface="Meiryo"/>
              </a:rPr>
              <a:t>▶ インシデント対応とエスカレーション</a:t>
            </a:r>
          </a:p>
          <a:p>
            <a:pPr lvl="1">
              <a:spcBef>
                <a:spcPts val="200"/>
              </a:spcBef>
            </a:pPr>
            <a:r>
              <a:rPr sz="1600">
                <a:solidFill>
                  <a:srgbClr val="37474F"/>
                </a:solidFill>
                <a:latin typeface="Meiryo"/>
              </a:rPr>
              <a:t>    ◦ 障害・誤動作発生時の検知→報告→対応フローの整備</a:t>
            </a:r>
          </a:p>
          <a:p>
            <a:pPr lvl="1">
              <a:spcBef>
                <a:spcPts val="200"/>
              </a:spcBef>
            </a:pPr>
            <a:r>
              <a:rPr sz="1600">
                <a:solidFill>
                  <a:srgbClr val="37474F"/>
                </a:solidFill>
                <a:latin typeface="Meiryo"/>
              </a:rPr>
              <a:t>    ◦ ロールバック計画：旧バージョンへの切り戻し手順</a:t>
            </a:r>
          </a:p>
          <a:p>
            <a:pPr lvl="1">
              <a:spcBef>
                <a:spcPts val="200"/>
              </a:spcBef>
            </a:pPr>
            <a:r>
              <a:rPr sz="1600">
                <a:solidFill>
                  <a:srgbClr val="37474F"/>
                </a:solidFill>
                <a:latin typeface="Meiryo"/>
              </a:rPr>
              <a:t>    ◦ 事後レビュー（ポストモーテム）：原因分析と再発防止</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45720"/>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247120" cy="822960"/>
          </a:xfrm>
          <a:prstGeom prst="rect">
            <a:avLst/>
          </a:prstGeom>
          <a:noFill/>
        </p:spPr>
        <p:txBody>
          <a:bodyPr wrap="square">
            <a:spAutoFit/>
          </a:bodyPr>
          <a:lstStyle/>
          <a:p>
            <a:pPr algn="l"/>
            <a:r>
              <a:rPr sz="2600" b="1">
                <a:solidFill>
                  <a:srgbClr val="FFFFFF"/>
                </a:solidFill>
                <a:latin typeface="Meiryo"/>
              </a:rPr>
              <a:t>試験対策：重要ポイントまとめ</a:t>
            </a:r>
          </a:p>
        </p:txBody>
      </p:sp>
      <p:sp>
        <p:nvSpPr>
          <p:cNvPr id="5" name="TextBox 4"/>
          <p:cNvSpPr txBox="1"/>
          <p:nvPr/>
        </p:nvSpPr>
        <p:spPr>
          <a:xfrm>
            <a:off x="365760" y="1371600"/>
            <a:ext cx="11430000" cy="5212080"/>
          </a:xfrm>
          <a:prstGeom prst="rect">
            <a:avLst/>
          </a:prstGeom>
          <a:noFill/>
        </p:spPr>
        <p:txBody>
          <a:bodyPr wrap="square">
            <a:spAutoFit/>
          </a:bodyPr>
          <a:lstStyle/>
          <a:p>
            <a:pPr>
              <a:spcBef>
                <a:spcPts val="600"/>
              </a:spcBef>
            </a:pPr>
            <a:r>
              <a:rPr sz="1900" b="1">
                <a:solidFill>
                  <a:srgbClr val="1A237E"/>
                </a:solidFill>
                <a:latin typeface="Meiryo"/>
              </a:rPr>
              <a:t>▶ 試験の特徴と対策方針</a:t>
            </a:r>
          </a:p>
          <a:p>
            <a:pPr lvl="1">
              <a:spcBef>
                <a:spcPts val="200"/>
              </a:spcBef>
            </a:pPr>
            <a:r>
              <a:rPr sz="1600">
                <a:solidFill>
                  <a:srgbClr val="37474F"/>
                </a:solidFill>
                <a:latin typeface="Meiryo"/>
              </a:rPr>
              <a:t>    ◦ 4択ケーススタディ形式：実際のビジネス場面でどう判断・行動するかを問う</a:t>
            </a:r>
          </a:p>
          <a:p>
            <a:pPr lvl="1">
              <a:spcBef>
                <a:spcPts val="200"/>
              </a:spcBef>
            </a:pPr>
            <a:r>
              <a:rPr sz="1600">
                <a:solidFill>
                  <a:srgbClr val="37474F"/>
                </a:solidFill>
                <a:latin typeface="Meiryo"/>
              </a:rPr>
              <a:t>    ◦ 知識の暗記ではなく「なぜそうするか」という理解が問われる</a:t>
            </a:r>
          </a:p>
          <a:p>
            <a:pPr lvl="1">
              <a:spcBef>
                <a:spcPts val="200"/>
              </a:spcBef>
            </a:pPr>
            <a:r>
              <a:rPr sz="1600">
                <a:solidFill>
                  <a:srgbClr val="37474F"/>
                </a:solidFill>
                <a:latin typeface="Meiryo"/>
              </a:rPr>
              <a:t>    ◦ 全8領域（A〜H）を横断した統合的理解が重要</a:t>
            </a:r>
          </a:p>
          <a:p>
            <a:pPr>
              <a:spcBef>
                <a:spcPts val="600"/>
              </a:spcBef>
            </a:pPr>
            <a:r>
              <a:rPr sz="1900" b="1">
                <a:solidFill>
                  <a:srgbClr val="1A237E"/>
                </a:solidFill>
                <a:latin typeface="Meiryo"/>
              </a:rPr>
              <a:t>▶ 頻出テーマと要注意ポイント</a:t>
            </a:r>
          </a:p>
          <a:p>
            <a:pPr lvl="1">
              <a:spcBef>
                <a:spcPts val="200"/>
              </a:spcBef>
            </a:pPr>
            <a:r>
              <a:rPr sz="1600">
                <a:solidFill>
                  <a:srgbClr val="37474F"/>
                </a:solidFill>
                <a:latin typeface="Meiryo"/>
              </a:rPr>
              <a:t>    ◦ ECRSの順序：Eliminate→Combine→Rearrange→Simplify（この順で検討）</a:t>
            </a:r>
          </a:p>
          <a:p>
            <a:pPr lvl="1">
              <a:spcBef>
                <a:spcPts val="200"/>
              </a:spcBef>
            </a:pPr>
            <a:r>
              <a:rPr sz="1600">
                <a:solidFill>
                  <a:srgbClr val="37474F"/>
                </a:solidFill>
                <a:latin typeface="Meiryo"/>
              </a:rPr>
              <a:t>    ◦ RAGの目的3点：幻覚抑制・最新性確保・根拠提示（セットで記憶）</a:t>
            </a:r>
          </a:p>
          <a:p>
            <a:pPr lvl="1">
              <a:spcBef>
                <a:spcPts val="200"/>
              </a:spcBef>
            </a:pPr>
            <a:r>
              <a:rPr sz="1600">
                <a:solidFill>
                  <a:srgbClr val="37474F"/>
                </a:solidFill>
                <a:latin typeface="Meiryo"/>
              </a:rPr>
              <a:t>    ◦ 5Dモデルの順序：Discovery→Definition→Design→Development→Deployment</a:t>
            </a:r>
          </a:p>
          <a:p>
            <a:pPr lvl="1">
              <a:spcBef>
                <a:spcPts val="200"/>
              </a:spcBef>
            </a:pPr>
            <a:r>
              <a:rPr sz="1600">
                <a:solidFill>
                  <a:srgbClr val="37474F"/>
                </a:solidFill>
                <a:latin typeface="Meiryo"/>
              </a:rPr>
              <a:t>    ◦ AIデリゲーション判断：频度・ルール化・可逆性・説明責任の4基準</a:t>
            </a:r>
          </a:p>
          <a:p>
            <a:pPr lvl="1">
              <a:spcBef>
                <a:spcPts val="200"/>
              </a:spcBef>
            </a:pPr>
            <a:r>
              <a:rPr sz="1600">
                <a:solidFill>
                  <a:srgbClr val="37474F"/>
                </a:solidFill>
                <a:latin typeface="Meiryo"/>
              </a:rPr>
              <a:t>    ◦ 組織モデル：ハイブリッド型が多くのケースで最適解として問われる</a:t>
            </a:r>
          </a:p>
          <a:p>
            <a:pPr lvl="1">
              <a:spcBef>
                <a:spcPts val="200"/>
              </a:spcBef>
            </a:pPr>
            <a:r>
              <a:rPr sz="1600">
                <a:solidFill>
                  <a:srgbClr val="37474F"/>
                </a:solidFill>
                <a:latin typeface="Meiryo"/>
              </a:rPr>
              <a:t>    ◦ EU AI Act：リスク分類（禁止・高リスク・限定リスク・最小リスク）</a:t>
            </a:r>
          </a:p>
          <a:p>
            <a:pPr>
              <a:spcBef>
                <a:spcPts val="600"/>
              </a:spcBef>
            </a:pPr>
            <a:r>
              <a:rPr sz="1900" b="1">
                <a:solidFill>
                  <a:srgbClr val="1A237E"/>
                </a:solidFill>
                <a:latin typeface="Meiryo"/>
              </a:rPr>
              <a:t>▶ 実践的思考の鍛え方</a:t>
            </a:r>
          </a:p>
          <a:p>
            <a:pPr lvl="1">
              <a:spcBef>
                <a:spcPts val="200"/>
              </a:spcBef>
            </a:pPr>
            <a:r>
              <a:rPr sz="1600">
                <a:solidFill>
                  <a:srgbClr val="37474F"/>
                </a:solidFill>
                <a:latin typeface="Meiryo"/>
              </a:rPr>
              <a:t>    ◦ 各ユースケースに対してIPOフレームワークで分解する習慣</a:t>
            </a:r>
          </a:p>
          <a:p>
            <a:pPr lvl="1">
              <a:spcBef>
                <a:spcPts val="200"/>
              </a:spcBef>
            </a:pPr>
            <a:r>
              <a:rPr sz="1600">
                <a:solidFill>
                  <a:srgbClr val="37474F"/>
                </a:solidFill>
                <a:latin typeface="Meiryo"/>
              </a:rPr>
              <a:t>    ◦ 「まずECRSで最適化してからAI化」の思考順序を守る</a:t>
            </a:r>
          </a:p>
          <a:p>
            <a:pPr lvl="1">
              <a:spcBef>
                <a:spcPts val="200"/>
              </a:spcBef>
            </a:pPr>
            <a:r>
              <a:rPr sz="1600">
                <a:solidFill>
                  <a:srgbClr val="37474F"/>
                </a:solidFill>
                <a:latin typeface="Meiryo"/>
              </a:rPr>
              <a:t>    ◦ スポンサーシップの重要性：技術より人・組織の問題が失敗原因になる</a:t>
            </a:r>
          </a:p>
          <a:p>
            <a:pPr lvl="1">
              <a:spcBef>
                <a:spcPts val="200"/>
              </a:spcBef>
            </a:pPr>
            <a:r>
              <a:rPr sz="1600">
                <a:solidFill>
                  <a:srgbClr val="37474F"/>
                </a:solidFill>
                <a:latin typeface="Meiryo"/>
              </a:rPr>
              <a:t>    ◦ ハルシネーションリスクへの対策としてRAGが最も実用的な解決策</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914400"/>
          </a:xfrm>
          <a:prstGeom prst="rect">
            <a:avLst/>
          </a:prstGeom>
          <a:noFill/>
        </p:spPr>
        <p:txBody>
          <a:bodyPr wrap="square">
            <a:spAutoFit/>
          </a:bodyPr>
          <a:lstStyle/>
          <a:p>
            <a:pPr algn="ctr"/>
            <a:r>
              <a:rPr sz="3400" b="1">
                <a:solidFill>
                  <a:srgbClr val="F57F17"/>
                </a:solidFill>
                <a:latin typeface="Meiryo"/>
              </a:rPr>
              <a:t>AIエージェント・ストラテジスト</a:t>
            </a:r>
          </a:p>
        </p:txBody>
      </p:sp>
      <p:sp>
        <p:nvSpPr>
          <p:cNvPr id="5" name="TextBox 4"/>
          <p:cNvSpPr txBox="1"/>
          <p:nvPr/>
        </p:nvSpPr>
        <p:spPr>
          <a:xfrm>
            <a:off x="914400" y="2834640"/>
            <a:ext cx="10058400" cy="640080"/>
          </a:xfrm>
          <a:prstGeom prst="rect">
            <a:avLst/>
          </a:prstGeom>
          <a:noFill/>
        </p:spPr>
        <p:txBody>
          <a:bodyPr wrap="square">
            <a:spAutoFit/>
          </a:bodyPr>
          <a:lstStyle/>
          <a:p>
            <a:pPr algn="ctr"/>
            <a:r>
              <a:rPr sz="2400" b="0">
                <a:solidFill>
                  <a:srgbClr val="FFFFFF"/>
                </a:solidFill>
                <a:latin typeface="Meiryo"/>
              </a:rPr>
              <a:t>認定試験 合格を目指して</a:t>
            </a:r>
          </a:p>
        </p:txBody>
      </p:sp>
      <p:sp>
        <p:nvSpPr>
          <p:cNvPr id="6" name="TextBox 5"/>
          <p:cNvSpPr txBox="1"/>
          <p:nvPr/>
        </p:nvSpPr>
        <p:spPr>
          <a:xfrm>
            <a:off x="914400" y="3657600"/>
            <a:ext cx="10058400" cy="457200"/>
          </a:xfrm>
          <a:prstGeom prst="rect">
            <a:avLst/>
          </a:prstGeom>
          <a:noFill/>
        </p:spPr>
        <p:txBody>
          <a:bodyPr wrap="square">
            <a:spAutoFit/>
          </a:bodyPr>
          <a:lstStyle/>
          <a:p>
            <a:pPr algn="ctr"/>
            <a:r>
              <a:rPr sz="1800" b="0">
                <a:solidFill>
                  <a:srgbClr val="FFB300"/>
                </a:solidFill>
                <a:latin typeface="Meiryo"/>
              </a:rPr>
              <a:t>一般社団法人 AICX協会</a:t>
            </a:r>
          </a:p>
        </p:txBody>
      </p:sp>
      <p:sp>
        <p:nvSpPr>
          <p:cNvPr id="7" name="TextBox 6"/>
          <p:cNvSpPr txBox="1"/>
          <p:nvPr/>
        </p:nvSpPr>
        <p:spPr>
          <a:xfrm>
            <a:off x="914400" y="4206240"/>
            <a:ext cx="10058400" cy="365760"/>
          </a:xfrm>
          <a:prstGeom prst="rect">
            <a:avLst/>
          </a:prstGeom>
          <a:noFill/>
        </p:spPr>
        <p:txBody>
          <a:bodyPr wrap="square">
            <a:spAutoFit/>
          </a:bodyPr>
          <a:lstStyle/>
          <a:p>
            <a:pPr algn="ctr"/>
            <a:r>
              <a:rPr sz="1600" b="0">
                <a:solidFill>
                  <a:srgbClr val="B0BEC5"/>
                </a:solidFill>
                <a:latin typeface="Meiryo"/>
              </a:rPr>
              <a:t>初回試験：2026年7月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